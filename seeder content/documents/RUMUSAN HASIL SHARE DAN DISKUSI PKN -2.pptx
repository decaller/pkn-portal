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33"/>
  </p:notesMasterIdLst>
  <p:sldIdLst>
    <p:sldId id="1504" r:id="rId4"/>
    <p:sldId id="1652" r:id="rId5"/>
    <p:sldId id="1501" r:id="rId6"/>
    <p:sldId id="1490" r:id="rId7"/>
    <p:sldId id="1491" r:id="rId8"/>
    <p:sldId id="1493" r:id="rId9"/>
    <p:sldId id="1494" r:id="rId10"/>
    <p:sldId id="1495" r:id="rId11"/>
    <p:sldId id="1496" r:id="rId12"/>
    <p:sldId id="1497" r:id="rId13"/>
    <p:sldId id="1498" r:id="rId14"/>
    <p:sldId id="1499" r:id="rId15"/>
    <p:sldId id="1474" r:id="rId16"/>
    <p:sldId id="1475" r:id="rId17"/>
    <p:sldId id="1476" r:id="rId18"/>
    <p:sldId id="1477" r:id="rId19"/>
    <p:sldId id="1478" r:id="rId20"/>
    <p:sldId id="1480" r:id="rId21"/>
    <p:sldId id="1484" r:id="rId22"/>
    <p:sldId id="1481" r:id="rId23"/>
    <p:sldId id="1482" r:id="rId24"/>
    <p:sldId id="1483" r:id="rId25"/>
    <p:sldId id="1485" r:id="rId26"/>
    <p:sldId id="1486" r:id="rId27"/>
    <p:sldId id="1500" r:id="rId28"/>
    <p:sldId id="647" r:id="rId29"/>
    <p:sldId id="1503" r:id="rId30"/>
    <p:sldId id="1502" r:id="rId31"/>
    <p:sldId id="1651" r:id="rId32"/>
  </p:sldIdLst>
  <p:sldSz cx="9144000" cy="6858000" type="screen4x3"/>
  <p:notesSz cx="6858000" cy="99456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19F9"/>
    <a:srgbClr val="D52BE7"/>
    <a:srgbClr val="9725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70" autoAdjust="0"/>
    <p:restoredTop sz="94660"/>
  </p:normalViewPr>
  <p:slideViewPr>
    <p:cSldViewPr>
      <p:cViewPr varScale="1">
        <p:scale>
          <a:sx n="58" d="100"/>
          <a:sy n="58" d="100"/>
        </p:scale>
        <p:origin x="46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02E1D3-9B26-4A52-B670-126DC2171F43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42975" y="746125"/>
            <a:ext cx="4972050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24400"/>
            <a:ext cx="5486400" cy="4475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7213"/>
            <a:ext cx="29718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7213"/>
            <a:ext cx="29718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C0A1DA-3A96-49D3-8496-659F6156E5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235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C0A1DA-3A96-49D3-8496-659F6156E54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259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C0A1DA-3A96-49D3-8496-659F6156E54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487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15866-14FE-4A37-B026-0A4F317869CA}" type="datetimeFigureOut">
              <a:rPr lang="en-ID" smtClean="0"/>
              <a:t>20/05/2023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8972-6347-4BD8-A7D9-BA2E2319DAE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83141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15866-14FE-4A37-B026-0A4F317869CA}" type="datetimeFigureOut">
              <a:rPr lang="en-ID" smtClean="0"/>
              <a:t>20/05/2023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8972-6347-4BD8-A7D9-BA2E2319DAE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88576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15866-14FE-4A37-B026-0A4F317869CA}" type="datetimeFigureOut">
              <a:rPr lang="en-ID" smtClean="0"/>
              <a:t>20/05/2023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8972-6347-4BD8-A7D9-BA2E2319DAE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830778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15866-14FE-4A37-B026-0A4F317869CA}" type="datetimeFigureOut">
              <a:rPr lang="en-ID" smtClean="0"/>
              <a:t>20/05/2023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8972-6347-4BD8-A7D9-BA2E2319DAE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157389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15866-14FE-4A37-B026-0A4F317869CA}" type="datetimeFigureOut">
              <a:rPr lang="en-ID" smtClean="0"/>
              <a:t>20/05/2023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8972-6347-4BD8-A7D9-BA2E2319DAE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845894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15866-14FE-4A37-B026-0A4F317869CA}" type="datetimeFigureOut">
              <a:rPr lang="en-ID" smtClean="0"/>
              <a:t>20/05/2023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8972-6347-4BD8-A7D9-BA2E2319DAE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5978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15866-14FE-4A37-B026-0A4F317869CA}" type="datetimeFigureOut">
              <a:rPr lang="en-ID" smtClean="0"/>
              <a:t>20/05/2023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8972-6347-4BD8-A7D9-BA2E2319DAE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497264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15866-14FE-4A37-B026-0A4F317869CA}" type="datetimeFigureOut">
              <a:rPr lang="en-ID" smtClean="0"/>
              <a:t>20/05/2023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8972-6347-4BD8-A7D9-BA2E2319DAE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08224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15866-14FE-4A37-B026-0A4F317869CA}" type="datetimeFigureOut">
              <a:rPr lang="en-ID" smtClean="0"/>
              <a:t>20/05/2023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8972-6347-4BD8-A7D9-BA2E2319DAE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307704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15866-14FE-4A37-B026-0A4F317869CA}" type="datetimeFigureOut">
              <a:rPr lang="en-ID" smtClean="0"/>
              <a:t>20/05/2023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8972-6347-4BD8-A7D9-BA2E2319DAE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442422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15866-14FE-4A37-B026-0A4F317869CA}" type="datetimeFigureOut">
              <a:rPr lang="en-ID" smtClean="0"/>
              <a:t>20/05/2023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8972-6347-4BD8-A7D9-BA2E2319DAE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490161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4230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5205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7663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6022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471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2968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0945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88365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9827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4777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626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D64870-3E2E-493E-A3A8-A8C6D68CA443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15948-2C90-492A-AD9D-F4496B31733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15866-14FE-4A37-B026-0A4F317869CA}" type="datetimeFigureOut">
              <a:rPr lang="en-ID" smtClean="0"/>
              <a:t>20/05/2023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AD8972-6347-4BD8-A7D9-BA2E2319DAE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58770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D64870-3E2E-493E-A3A8-A8C6D68CA443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15948-2C90-492A-AD9D-F4496B31733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37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89213-BD28-40C0-AF1E-41A51359A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6490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Pendidikan </a:t>
            </a:r>
            <a:r>
              <a:rPr lang="en-US" dirty="0" err="1"/>
              <a:t>Karakter</a:t>
            </a:r>
            <a:r>
              <a:rPr lang="en-US" dirty="0"/>
              <a:t> </a:t>
            </a:r>
            <a:r>
              <a:rPr lang="en-US" dirty="0" err="1"/>
              <a:t>Nabawiyah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= </a:t>
            </a:r>
            <a:br>
              <a:rPr lang="en-US" dirty="0"/>
            </a:br>
            <a:r>
              <a:rPr lang="en-US" dirty="0"/>
              <a:t>Pendidikan </a:t>
            </a:r>
            <a:r>
              <a:rPr lang="en-US" dirty="0" err="1"/>
              <a:t>rumah</a:t>
            </a:r>
            <a:r>
              <a:rPr lang="en-US" dirty="0"/>
              <a:t>?</a:t>
            </a:r>
            <a:endParaRPr lang="en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BD8288-F64F-437F-B0C3-AD9514F28B0C}"/>
              </a:ext>
            </a:extLst>
          </p:cNvPr>
          <p:cNvSpPr/>
          <p:nvPr/>
        </p:nvSpPr>
        <p:spPr>
          <a:xfrm>
            <a:off x="2322004" y="4509120"/>
            <a:ext cx="4499992" cy="151216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 err="1"/>
              <a:t>Benar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734315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5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89213-BD28-40C0-AF1E-41A51359A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64904"/>
            <a:ext cx="8229600" cy="1143000"/>
          </a:xfrm>
        </p:spPr>
        <p:txBody>
          <a:bodyPr>
            <a:normAutofit/>
          </a:bodyPr>
          <a:lstStyle/>
          <a:p>
            <a:r>
              <a:rPr lang="ar-SA" sz="5400" dirty="0">
                <a:latin typeface="Calibri" panose="020F0502020204030204" pitchFamily="34" charset="0"/>
                <a:cs typeface="Calibri" panose="020F0502020204030204" pitchFamily="34" charset="0"/>
              </a:rPr>
              <a:t>مَالَا يُدْرَكُ كُلُّهُ لَا يُتْرَكُ كُلُّهُ</a:t>
            </a:r>
            <a:endParaRPr lang="en-ID" sz="5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406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DB025-B908-4F10-A8F8-435E34FD1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dirty="0"/>
              <a:t>Note …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54DBA-E736-488D-9A59-6C3DD8030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50714"/>
            <a:ext cx="8229600" cy="5832648"/>
          </a:xfrm>
        </p:spPr>
        <p:txBody>
          <a:bodyPr>
            <a:normAutofit fontScale="70000" lnSpcReduction="20000"/>
          </a:bodyPr>
          <a:lstStyle/>
          <a:p>
            <a:r>
              <a:rPr lang="en-US" i="1" dirty="0" err="1"/>
              <a:t>Euforia</a:t>
            </a:r>
            <a:endParaRPr lang="ar-SA" i="1" dirty="0"/>
          </a:p>
          <a:p>
            <a:r>
              <a:rPr lang="en-US" i="1" dirty="0" err="1"/>
              <a:t>Condisioning</a:t>
            </a:r>
            <a:r>
              <a:rPr lang="en-US" i="1" dirty="0"/>
              <a:t> vs purifying</a:t>
            </a:r>
          </a:p>
          <a:p>
            <a:r>
              <a:rPr lang="en-US" dirty="0"/>
              <a:t>Self healing (Akan </a:t>
            </a:r>
            <a:r>
              <a:rPr lang="en-US" dirty="0" err="1"/>
              <a:t>mekar</a:t>
            </a:r>
            <a:r>
              <a:rPr lang="en-US" dirty="0"/>
              <a:t> pada </a:t>
            </a:r>
            <a:r>
              <a:rPr lang="en-US" dirty="0" err="1"/>
              <a:t>waktunya</a:t>
            </a:r>
            <a:r>
              <a:rPr lang="en-US" dirty="0"/>
              <a:t>)</a:t>
            </a:r>
          </a:p>
          <a:p>
            <a:r>
              <a:rPr lang="en-US" dirty="0" err="1"/>
              <a:t>Belajar</a:t>
            </a:r>
            <a:r>
              <a:rPr lang="en-US" dirty="0"/>
              <a:t> di dunia lain</a:t>
            </a:r>
          </a:p>
          <a:p>
            <a:r>
              <a:rPr lang="en-US" dirty="0"/>
              <a:t>TK, SD </a:t>
            </a:r>
            <a:r>
              <a:rPr lang="en-US" dirty="0" err="1"/>
              <a:t>membangun</a:t>
            </a:r>
            <a:r>
              <a:rPr lang="en-US" dirty="0"/>
              <a:t> </a:t>
            </a:r>
            <a:r>
              <a:rPr lang="en-US" dirty="0" err="1"/>
              <a:t>pondasi</a:t>
            </a:r>
            <a:endParaRPr lang="en-US" dirty="0"/>
          </a:p>
          <a:p>
            <a:r>
              <a:rPr lang="en-US" dirty="0" err="1"/>
              <a:t>Sambung</a:t>
            </a:r>
            <a:r>
              <a:rPr lang="en-US" dirty="0"/>
              <a:t> </a:t>
            </a:r>
            <a:r>
              <a:rPr lang="en-US" dirty="0" err="1"/>
              <a:t>menyambung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satu</a:t>
            </a:r>
            <a:endParaRPr lang="en-US" dirty="0"/>
          </a:p>
          <a:p>
            <a:r>
              <a:rPr lang="en-US" dirty="0" err="1"/>
              <a:t>Perlukah</a:t>
            </a:r>
            <a:r>
              <a:rPr lang="en-US" dirty="0"/>
              <a:t> </a:t>
            </a:r>
            <a:r>
              <a:rPr lang="en-US" dirty="0" err="1"/>
              <a:t>tingkat</a:t>
            </a:r>
            <a:r>
              <a:rPr lang="en-US" dirty="0"/>
              <a:t> SMA?</a:t>
            </a:r>
          </a:p>
          <a:p>
            <a:r>
              <a:rPr lang="en-US" dirty="0" err="1"/>
              <a:t>Sterilisasi</a:t>
            </a:r>
            <a:r>
              <a:rPr lang="en-US" dirty="0"/>
              <a:t> vs </a:t>
            </a:r>
            <a:r>
              <a:rPr lang="en-US" dirty="0" err="1"/>
              <a:t>imunisasi</a:t>
            </a:r>
            <a:endParaRPr lang="en-US" dirty="0"/>
          </a:p>
          <a:p>
            <a:r>
              <a:rPr lang="en-US" dirty="0"/>
              <a:t>Jalan </a:t>
            </a:r>
            <a:r>
              <a:rPr lang="en-US" dirty="0" err="1"/>
              <a:t>tengah</a:t>
            </a:r>
            <a:r>
              <a:rPr lang="en-US" dirty="0"/>
              <a:t> Pendidikan</a:t>
            </a:r>
          </a:p>
          <a:p>
            <a:r>
              <a:rPr lang="en-US" dirty="0" err="1"/>
              <a:t>Pondok</a:t>
            </a:r>
            <a:r>
              <a:rPr lang="en-US" dirty="0"/>
              <a:t> </a:t>
            </a:r>
            <a:r>
              <a:rPr lang="en-US" dirty="0" err="1"/>
              <a:t>pesantren</a:t>
            </a:r>
            <a:r>
              <a:rPr lang="en-US" dirty="0"/>
              <a:t> = SMK </a:t>
            </a:r>
            <a:r>
              <a:rPr lang="en-US" dirty="0" err="1"/>
              <a:t>jurusan</a:t>
            </a:r>
            <a:r>
              <a:rPr lang="en-US" dirty="0"/>
              <a:t> Agama?</a:t>
            </a:r>
          </a:p>
          <a:p>
            <a:r>
              <a:rPr lang="en-ID" dirty="0" err="1"/>
              <a:t>Mendidik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mudah</a:t>
            </a:r>
            <a:r>
              <a:rPr lang="en-ID" dirty="0"/>
              <a:t> (</a:t>
            </a:r>
            <a:r>
              <a:rPr lang="en-ID" dirty="0" err="1"/>
              <a:t>indikator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benar</a:t>
            </a:r>
            <a:r>
              <a:rPr lang="en-ID" dirty="0"/>
              <a:t>)</a:t>
            </a:r>
          </a:p>
          <a:p>
            <a:r>
              <a:rPr lang="en-ID" dirty="0"/>
              <a:t>Akan </a:t>
            </a:r>
            <a:r>
              <a:rPr lang="en-ID" dirty="0" err="1"/>
              <a:t>mekar</a:t>
            </a:r>
            <a:r>
              <a:rPr lang="en-ID" dirty="0"/>
              <a:t> pada </a:t>
            </a:r>
            <a:r>
              <a:rPr lang="en-ID" dirty="0" err="1"/>
              <a:t>waktunya</a:t>
            </a:r>
            <a:endParaRPr lang="en-ID" dirty="0"/>
          </a:p>
          <a:p>
            <a:r>
              <a:rPr lang="en-ID" dirty="0" err="1"/>
              <a:t>Prosesi</a:t>
            </a:r>
            <a:r>
              <a:rPr lang="en-ID" dirty="0"/>
              <a:t> </a:t>
            </a:r>
            <a:r>
              <a:rPr lang="en-ID" dirty="0" err="1"/>
              <a:t>peneladanan</a:t>
            </a:r>
            <a:endParaRPr lang="en-ID" dirty="0"/>
          </a:p>
          <a:p>
            <a:r>
              <a:rPr lang="en-ID" dirty="0"/>
              <a:t>Target yang </a:t>
            </a:r>
            <a:r>
              <a:rPr lang="en-ID" dirty="0" err="1"/>
              <a:t>melukai</a:t>
            </a:r>
            <a:endParaRPr lang="en-ID" dirty="0"/>
          </a:p>
          <a:p>
            <a:r>
              <a:rPr lang="en-ID" dirty="0"/>
              <a:t>“</a:t>
            </a:r>
            <a:r>
              <a:rPr lang="en-ID" dirty="0" err="1"/>
              <a:t>Mengharamkan</a:t>
            </a:r>
            <a:r>
              <a:rPr lang="en-ID" dirty="0"/>
              <a:t>” kata “</a:t>
            </a:r>
            <a:r>
              <a:rPr lang="en-ID" dirty="0" err="1"/>
              <a:t>jangan</a:t>
            </a:r>
            <a:r>
              <a:rPr lang="en-ID" dirty="0"/>
              <a:t>”</a:t>
            </a:r>
          </a:p>
          <a:p>
            <a:r>
              <a:rPr lang="en-ID" dirty="0"/>
              <a:t>HP </a:t>
            </a:r>
            <a:r>
              <a:rPr lang="en-ID" dirty="0" err="1"/>
              <a:t>lagi</a:t>
            </a:r>
            <a:r>
              <a:rPr lang="en-ID" dirty="0"/>
              <a:t>, HP </a:t>
            </a:r>
            <a:r>
              <a:rPr lang="en-ID" dirty="0" err="1"/>
              <a:t>lagi</a:t>
            </a:r>
            <a:r>
              <a:rPr lang="en-ID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655318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BE0FF-F9B5-46F4-9A1B-DF0BEDE3B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Autofit/>
          </a:bodyPr>
          <a:lstStyle/>
          <a:p>
            <a:r>
              <a:rPr lang="en-US" sz="3200" dirty="0"/>
              <a:t>8 STANDAR IMPLEMENTASI</a:t>
            </a:r>
            <a:br>
              <a:rPr lang="en-US" sz="3200" dirty="0"/>
            </a:br>
            <a:r>
              <a:rPr lang="en-US" sz="3200" dirty="0"/>
              <a:t>PENDIDIKAN KARAKTER NABAWIYAH</a:t>
            </a:r>
            <a:endParaRPr lang="en-ID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97DF6-087F-4C24-84A4-E2FA9AE9C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85740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Standar</a:t>
            </a:r>
            <a:r>
              <a:rPr lang="en-US" dirty="0"/>
              <a:t> </a:t>
            </a:r>
            <a:r>
              <a:rPr lang="en-US" dirty="0" err="1"/>
              <a:t>Tujuan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Standar</a:t>
            </a:r>
            <a:r>
              <a:rPr lang="en-US" dirty="0"/>
              <a:t> </a:t>
            </a:r>
            <a:r>
              <a:rPr lang="en-US" dirty="0" err="1"/>
              <a:t>Perencanaan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Standar</a:t>
            </a:r>
            <a:r>
              <a:rPr lang="en-US" dirty="0"/>
              <a:t> </a:t>
            </a:r>
            <a:r>
              <a:rPr lang="en-US" dirty="0" err="1"/>
              <a:t>Pelaksanaan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Standar</a:t>
            </a:r>
            <a:r>
              <a:rPr lang="en-US" dirty="0"/>
              <a:t> </a:t>
            </a:r>
            <a:r>
              <a:rPr lang="en-US" dirty="0" err="1"/>
              <a:t>Percepatan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Standar</a:t>
            </a:r>
            <a:r>
              <a:rPr lang="en-US" dirty="0"/>
              <a:t> </a:t>
            </a:r>
            <a:r>
              <a:rPr lang="en-US" dirty="0" err="1"/>
              <a:t>Evaluasi</a:t>
            </a:r>
            <a:r>
              <a:rPr lang="en-US" dirty="0"/>
              <a:t> dan </a:t>
            </a:r>
            <a:r>
              <a:rPr lang="en-US" dirty="0" err="1"/>
              <a:t>Perbaikan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Standar</a:t>
            </a:r>
            <a:r>
              <a:rPr lang="en-US" dirty="0"/>
              <a:t> </a:t>
            </a:r>
            <a:r>
              <a:rPr lang="en-US" dirty="0" err="1"/>
              <a:t>Pendidik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Standar</a:t>
            </a:r>
            <a:r>
              <a:rPr lang="en-US" dirty="0"/>
              <a:t> </a:t>
            </a:r>
            <a:r>
              <a:rPr lang="en-US" dirty="0" err="1"/>
              <a:t>Wali</a:t>
            </a:r>
            <a:r>
              <a:rPr lang="en-US" dirty="0"/>
              <a:t> </a:t>
            </a:r>
            <a:r>
              <a:rPr lang="en-US" dirty="0" err="1"/>
              <a:t>Santri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Standar</a:t>
            </a:r>
            <a:r>
              <a:rPr lang="en-US" dirty="0"/>
              <a:t> </a:t>
            </a:r>
            <a:r>
              <a:rPr lang="en-US" dirty="0" err="1"/>
              <a:t>Khusus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44E2FC-1765-427D-9E65-DEDDE89335DE}"/>
              </a:ext>
            </a:extLst>
          </p:cNvPr>
          <p:cNvSpPr/>
          <p:nvPr/>
        </p:nvSpPr>
        <p:spPr>
          <a:xfrm>
            <a:off x="4427984" y="4797152"/>
            <a:ext cx="4499992" cy="151216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/>
              <a:t>Tidak</a:t>
            </a:r>
            <a:r>
              <a:rPr lang="en-US" sz="4000" dirty="0"/>
              <a:t> </a:t>
            </a:r>
            <a:r>
              <a:rPr lang="en-US" sz="4000" dirty="0" err="1"/>
              <a:t>ada</a:t>
            </a:r>
            <a:endParaRPr lang="en-US" sz="4000" dirty="0"/>
          </a:p>
          <a:p>
            <a:pPr algn="ctr"/>
            <a:r>
              <a:rPr lang="en-US" sz="4000" dirty="0" err="1"/>
              <a:t>tingkatan</a:t>
            </a:r>
            <a:r>
              <a:rPr lang="en-US" sz="4000" dirty="0"/>
              <a:t> </a:t>
            </a:r>
            <a:r>
              <a:rPr lang="en-US" sz="4000" dirty="0" err="1"/>
              <a:t>akreditasi</a:t>
            </a:r>
            <a:endParaRPr lang="en-ID" sz="4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A812FE-794B-4221-8A43-62950D5D7595}"/>
              </a:ext>
            </a:extLst>
          </p:cNvPr>
          <p:cNvSpPr/>
          <p:nvPr/>
        </p:nvSpPr>
        <p:spPr>
          <a:xfrm>
            <a:off x="4427984" y="4797152"/>
            <a:ext cx="4499992" cy="151216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/>
              <a:t>Semua</a:t>
            </a:r>
            <a:r>
              <a:rPr lang="en-US" sz="4000" dirty="0"/>
              <a:t> </a:t>
            </a:r>
            <a:r>
              <a:rPr lang="en-US" sz="4000" dirty="0" err="1"/>
              <a:t>terakreditasi</a:t>
            </a:r>
            <a:endParaRPr lang="en-US" sz="4000" dirty="0"/>
          </a:p>
          <a:p>
            <a:pPr algn="ctr"/>
            <a:r>
              <a:rPr lang="en-US" sz="4000" dirty="0"/>
              <a:t>“A”</a:t>
            </a:r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2392556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5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5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4" grpId="1" animBg="1"/>
      <p:bldP spid="5" grpId="0" animBg="1"/>
      <p:bldP spid="5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BE0FF-F9B5-46F4-9A1B-DF0BEDE3B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US" sz="3600" dirty="0"/>
              <a:t>1. </a:t>
            </a:r>
            <a:r>
              <a:rPr lang="en-US" sz="3600" dirty="0" err="1"/>
              <a:t>Standar</a:t>
            </a:r>
            <a:r>
              <a:rPr lang="en-US" sz="3600" dirty="0"/>
              <a:t> </a:t>
            </a:r>
            <a:r>
              <a:rPr lang="en-US" sz="3600" dirty="0" err="1"/>
              <a:t>Tujuan</a:t>
            </a:r>
            <a:endParaRPr lang="en-ID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97DF6-087F-4C24-84A4-E2FA9AE9C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/>
          <a:p>
            <a:pPr marL="514350" indent="-514350" algn="ctr">
              <a:buFont typeface="+mj-lt"/>
              <a:buAutoNum type="arabicPeriod"/>
            </a:pPr>
            <a:endParaRPr lang="en-US" dirty="0"/>
          </a:p>
          <a:p>
            <a:pPr lvl="0" algn="just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Merumuskan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visi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misi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pendidikan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sesuai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tujuan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hidup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manusia</a:t>
            </a:r>
            <a:endParaRPr lang="en-ID" sz="28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Merumuskan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tujuan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pendidikan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sesuai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tujuan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hidup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manusia</a:t>
            </a:r>
            <a:endParaRPr lang="en-ID" sz="28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Merumuskan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sekolah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ma’had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pondok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mempesona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pondok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fitrah)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sesuai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fitrah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kemanusiaan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74316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BE0FF-F9B5-46F4-9A1B-DF0BEDE3B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6712"/>
          </a:xfrm>
        </p:spPr>
        <p:txBody>
          <a:bodyPr>
            <a:normAutofit/>
          </a:bodyPr>
          <a:lstStyle/>
          <a:p>
            <a:r>
              <a:rPr lang="en-US" sz="3600" dirty="0"/>
              <a:t>2. </a:t>
            </a:r>
            <a:r>
              <a:rPr lang="en-US" sz="3600" dirty="0" err="1"/>
              <a:t>Standar</a:t>
            </a:r>
            <a:r>
              <a:rPr lang="en-US" sz="3600" dirty="0"/>
              <a:t> </a:t>
            </a:r>
            <a:r>
              <a:rPr lang="en-US" sz="3600" dirty="0" err="1"/>
              <a:t>Perencanaan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97DF6-087F-4C24-84A4-E2FA9AE9C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251" y="446904"/>
            <a:ext cx="8229600" cy="4857403"/>
          </a:xfrm>
        </p:spPr>
        <p:txBody>
          <a:bodyPr>
            <a:noAutofit/>
          </a:bodyPr>
          <a:lstStyle/>
          <a:p>
            <a:pPr marL="514350" indent="-514350" algn="ctr">
              <a:buFont typeface="+mj-lt"/>
              <a:buAutoNum type="arabicPeriod"/>
            </a:pPr>
            <a:endParaRPr lang="en-US" sz="2000" dirty="0"/>
          </a:p>
          <a:p>
            <a:pPr lvl="0" algn="just">
              <a:lnSpc>
                <a:spcPct val="107000"/>
              </a:lnSpc>
              <a:spcBef>
                <a:spcPts val="0"/>
              </a:spcBef>
              <a:buFont typeface="+mj-lt"/>
              <a:buAutoNum type="alphaLcPeriod"/>
            </a:pPr>
            <a:r>
              <a:rPr lang="en-US" sz="2000" b="1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Rumusan</a:t>
            </a:r>
            <a:r>
              <a:rPr lang="en-US" sz="20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materi</a:t>
            </a:r>
            <a:r>
              <a:rPr lang="en-US" sz="20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D" sz="20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Merumuskan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materi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pembelajaran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sesuai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tujuan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pendidikan</a:t>
            </a:r>
            <a:endParaRPr lang="en-ID" sz="20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Merumuskan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pembebanan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materi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pembelajaran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sesuai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karakter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perkembangan</a:t>
            </a:r>
            <a:endParaRPr lang="en-ID" sz="20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lvl="0" indent="0" algn="just">
              <a:lnSpc>
                <a:spcPct val="107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   </a:t>
            </a:r>
            <a:r>
              <a:rPr lang="en-US" sz="20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 </a:t>
            </a:r>
            <a:r>
              <a:rPr lang="en-US" sz="2000" b="1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pembelajaran</a:t>
            </a:r>
            <a:endParaRPr lang="en-ID" sz="20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Menyusun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program semester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pembelajaran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sesuai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alur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karakter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perkembangan</a:t>
            </a:r>
            <a:endParaRPr lang="en-ID" sz="20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Menyusun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program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tahunan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pembelajaran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sesuai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alur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karakter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perkembangan</a:t>
            </a:r>
            <a:endParaRPr lang="en-ID" sz="20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Menyusun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program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pembelajaran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luar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kelas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(di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lingkungan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sekitar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dan </a:t>
            </a:r>
            <a:r>
              <a:rPr lang="en-US" sz="20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tour de talents</a:t>
            </a:r>
            <a:endParaRPr lang="en-ID" sz="20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lvl="0" indent="0" algn="just">
              <a:lnSpc>
                <a:spcPct val="107000"/>
              </a:lnSpc>
              <a:spcBef>
                <a:spcPts val="0"/>
              </a:spcBef>
              <a:buNone/>
            </a:pPr>
            <a:r>
              <a:rPr lang="en-ID" sz="20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c.   </a:t>
            </a:r>
            <a:r>
              <a:rPr lang="en-US" sz="20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 </a:t>
            </a:r>
            <a:r>
              <a:rPr lang="en-US" sz="2000" b="1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observasi</a:t>
            </a:r>
            <a:endParaRPr lang="en-ID" sz="20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Menyusun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lembar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observasi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gaya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bahasa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cinta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santri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penumbuhan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karakter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ID" sz="20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Menyusun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lembar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observasi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gaya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belajar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santri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penumbuhan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karakter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belajar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ID" sz="20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Menyusun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lembar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observasi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gaya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kinerja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bakat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santri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penumbuhan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karakter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bakat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19367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BE0FF-F9B5-46F4-9A1B-DF0BEDE3B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US" sz="3600" dirty="0"/>
              <a:t>3. </a:t>
            </a:r>
            <a:r>
              <a:rPr lang="en-US" sz="3600" dirty="0" err="1"/>
              <a:t>Standar</a:t>
            </a:r>
            <a:r>
              <a:rPr lang="en-US" sz="3600" dirty="0"/>
              <a:t> </a:t>
            </a:r>
            <a:r>
              <a:rPr lang="en-US" sz="3600" dirty="0" err="1"/>
              <a:t>Pelaksanaan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97DF6-087F-4C24-84A4-E2FA9AE9C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/>
          </a:bodyPr>
          <a:lstStyle/>
          <a:p>
            <a:pPr lvl="0" algn="just">
              <a:lnSpc>
                <a:spcPct val="107000"/>
              </a:lnSpc>
              <a:spcBef>
                <a:spcPts val="0"/>
              </a:spcBef>
              <a:buFont typeface="+mj-lt"/>
              <a:buAutoNum type="alphaLcPeriod"/>
            </a:pPr>
            <a:r>
              <a:rPr lang="en-US" sz="2000" b="1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Pelaksanaan</a:t>
            </a:r>
            <a:r>
              <a:rPr lang="en-US" sz="20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observasi</a:t>
            </a:r>
            <a:r>
              <a:rPr lang="en-US" sz="20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2000" b="1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asesmen</a:t>
            </a:r>
            <a:endParaRPr lang="en-ID" sz="20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Melaksanakan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observasi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gaya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bahasa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cinta</a:t>
            </a:r>
            <a:endParaRPr lang="en-ID" sz="20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Melaksanakan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observasi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gaya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belajar</a:t>
            </a:r>
            <a:endParaRPr lang="en-ID" sz="20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Melaksanakan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observasi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gaya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kinerja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bakat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ID" sz="20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lvl="0" indent="0" algn="just">
              <a:lnSpc>
                <a:spcPct val="107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   </a:t>
            </a:r>
            <a:r>
              <a:rPr lang="en-US" sz="2000" b="1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Pembelajaran</a:t>
            </a:r>
            <a:r>
              <a:rPr lang="en-US" sz="20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20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kelas</a:t>
            </a:r>
            <a:endParaRPr lang="en-ID" sz="20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Melaksanakan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penumbuhan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karakter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sesuai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gaya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bahasa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cinta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santri</a:t>
            </a:r>
            <a:endParaRPr lang="en-ID" sz="20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Melaksanakan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penumbuhan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karakter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belajar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sesuai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gaya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belajar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santri</a:t>
            </a:r>
            <a:endParaRPr lang="en-ID" sz="20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Memberikan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target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belajar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sesuai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bakat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santri</a:t>
            </a:r>
            <a:endParaRPr lang="en-ID" sz="20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lvl="0" indent="0" algn="just">
              <a:lnSpc>
                <a:spcPct val="107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c.    </a:t>
            </a:r>
            <a:r>
              <a:rPr lang="en-US" sz="2000" b="1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Pembelajaran</a:t>
            </a:r>
            <a:r>
              <a:rPr lang="en-US" sz="20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luar</a:t>
            </a:r>
            <a:r>
              <a:rPr lang="en-US" sz="20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kelas</a:t>
            </a:r>
            <a:endParaRPr lang="en-ID" sz="20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Melaksnakan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program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sekolah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ma’had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pondok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mempesona</a:t>
            </a:r>
            <a:endParaRPr lang="en-ID" sz="20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Melaksanakan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pembelajaran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lingkungan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sekitar</a:t>
            </a:r>
            <a:endParaRPr lang="en-ID" sz="20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Melaksanakan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pembelajaran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bakti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masyarakat</a:t>
            </a:r>
            <a:endParaRPr lang="en-ID" sz="20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Pemberian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tugas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santri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(PR)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terkait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aktifitas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harian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rumah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santri</a:t>
            </a:r>
            <a:endParaRPr lang="en-ID" sz="20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sz="20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Melaksanakan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market day</a:t>
            </a:r>
            <a:endParaRPr lang="en-ID" sz="20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040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BE0FF-F9B5-46F4-9A1B-DF0BEDE3B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US" sz="3600" dirty="0"/>
              <a:t>4. </a:t>
            </a:r>
            <a:r>
              <a:rPr lang="en-US" sz="3600" dirty="0" err="1"/>
              <a:t>Standar</a:t>
            </a:r>
            <a:r>
              <a:rPr lang="en-US" sz="3600" dirty="0"/>
              <a:t> </a:t>
            </a:r>
            <a:r>
              <a:rPr lang="en-US" sz="3600" dirty="0" err="1"/>
              <a:t>Percepatan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97DF6-087F-4C24-84A4-E2FA9AE9C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/>
          </a:bodyPr>
          <a:lstStyle/>
          <a:p>
            <a:pPr lvl="0" algn="just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Melaksanakan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kegiatan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pembinaan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kepemudaan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kerumahtanggaan</a:t>
            </a:r>
            <a:endParaRPr lang="en-ID" sz="24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Melaksanakan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pembelajaran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berbasis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proyek</a:t>
            </a:r>
            <a:endParaRPr lang="en-ID" sz="24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Memberikan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tugas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pengelolaan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sarana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prasarana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sekolah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ma’had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pondok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kepada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santri</a:t>
            </a:r>
            <a:endParaRPr lang="en-ID" sz="24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Melaksanakan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program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pemandirian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finansial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bagi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santri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putra</a:t>
            </a:r>
            <a:endParaRPr lang="en-ID" sz="24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Melaksanakan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program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pemandirian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pengurusan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rumah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tangga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bagi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santriwati</a:t>
            </a:r>
            <a:endParaRPr lang="en-ID" sz="24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Melaksanakan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pemagangan</a:t>
            </a:r>
            <a:endParaRPr lang="en-ID" sz="24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49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BE0FF-F9B5-46F4-9A1B-DF0BEDE3B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US" sz="3600" dirty="0"/>
              <a:t>5. </a:t>
            </a:r>
            <a:r>
              <a:rPr lang="en-US" sz="3600" dirty="0" err="1"/>
              <a:t>Standar</a:t>
            </a:r>
            <a:r>
              <a:rPr lang="en-US" sz="3600" dirty="0"/>
              <a:t> </a:t>
            </a:r>
            <a:r>
              <a:rPr lang="en-US" sz="3600" dirty="0" err="1"/>
              <a:t>Evaluasi</a:t>
            </a:r>
            <a:r>
              <a:rPr lang="en-US" sz="3600" dirty="0"/>
              <a:t> dan </a:t>
            </a:r>
            <a:r>
              <a:rPr lang="en-US" sz="3600" dirty="0" err="1"/>
              <a:t>Perbaikan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97DF6-087F-4C24-84A4-E2FA9AE9C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00597"/>
            <a:ext cx="8229600" cy="2364507"/>
          </a:xfrm>
        </p:spPr>
        <p:txBody>
          <a:bodyPr>
            <a:normAutofit/>
          </a:bodyPr>
          <a:lstStyle/>
          <a:p>
            <a:pPr lvl="0" algn="just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Melaksanakan</a:t>
            </a:r>
            <a:r>
              <a:rPr 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recovery </a:t>
            </a:r>
            <a:r>
              <a:rPr lang="en-US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karakter</a:t>
            </a:r>
            <a:r>
              <a:rPr 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bagi</a:t>
            </a:r>
            <a:r>
              <a:rPr 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santri</a:t>
            </a:r>
            <a:r>
              <a:rPr 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tumbuh</a:t>
            </a:r>
            <a:r>
              <a:rPr 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karakternya</a:t>
            </a:r>
            <a:endParaRPr lang="en-US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Melakukan</a:t>
            </a:r>
            <a:r>
              <a:rPr 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percepatan</a:t>
            </a:r>
            <a:r>
              <a:rPr 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pembelajaran</a:t>
            </a:r>
            <a:r>
              <a:rPr 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bagi</a:t>
            </a:r>
            <a:r>
              <a:rPr 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santri</a:t>
            </a:r>
            <a:r>
              <a:rPr 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dominan</a:t>
            </a:r>
            <a:endParaRPr lang="en-US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749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BE0FF-F9B5-46F4-9A1B-DF0BEDE3B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US" sz="3600" dirty="0"/>
              <a:t>6. </a:t>
            </a:r>
            <a:r>
              <a:rPr lang="en-US" sz="3600" dirty="0" err="1"/>
              <a:t>Standar</a:t>
            </a:r>
            <a:r>
              <a:rPr lang="en-US" sz="3600" dirty="0"/>
              <a:t> </a:t>
            </a:r>
            <a:r>
              <a:rPr lang="en-US" sz="3600" dirty="0" err="1"/>
              <a:t>Pendidik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97DF6-087F-4C24-84A4-E2FA9AE9C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2670"/>
            <a:ext cx="8229600" cy="3732659"/>
          </a:xfrm>
        </p:spPr>
        <p:txBody>
          <a:bodyPr>
            <a:noAutofit/>
          </a:bodyPr>
          <a:lstStyle/>
          <a:p>
            <a:pPr lvl="0" algn="just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Melakukan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pemetaan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potensi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bagi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setiap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pendidik</a:t>
            </a:r>
            <a:endParaRPr lang="en-ID" sz="28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Memberikan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tugas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kepada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pendidik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sesuai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potensi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uniknya</a:t>
            </a:r>
            <a:endParaRPr lang="en-ID" sz="28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Melakukan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pembinaan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terhadap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pendidik</a:t>
            </a:r>
            <a:endParaRPr lang="en-ID" sz="28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Melakukan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self recovery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bagi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setiap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pendidik</a:t>
            </a:r>
            <a:endParaRPr lang="en-ID" sz="28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Melakukan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pengembangan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potensi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bagi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setiap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pendidik</a:t>
            </a:r>
            <a:endParaRPr lang="en-ID" sz="28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760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BE0FF-F9B5-46F4-9A1B-DF0BEDE3B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US" sz="3600" dirty="0"/>
              <a:t>7. </a:t>
            </a:r>
            <a:r>
              <a:rPr lang="en-US" sz="3600" dirty="0" err="1"/>
              <a:t>Standar</a:t>
            </a:r>
            <a:r>
              <a:rPr lang="en-US" sz="3600" dirty="0"/>
              <a:t> </a:t>
            </a:r>
            <a:r>
              <a:rPr lang="en-US" sz="3600" dirty="0" err="1"/>
              <a:t>Wali</a:t>
            </a:r>
            <a:r>
              <a:rPr lang="en-US" sz="3600" dirty="0"/>
              <a:t> </a:t>
            </a:r>
            <a:r>
              <a:rPr lang="en-US" sz="3600" dirty="0" err="1"/>
              <a:t>Santri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97DF6-087F-4C24-84A4-E2FA9AE9C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2671"/>
            <a:ext cx="8229600" cy="2658418"/>
          </a:xfrm>
        </p:spPr>
        <p:txBody>
          <a:bodyPr>
            <a:noAutofit/>
          </a:bodyPr>
          <a:lstStyle/>
          <a:p>
            <a:pPr lvl="0" algn="just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Melakukan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pembinaan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terhadap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orangtua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wali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santri</a:t>
            </a:r>
            <a:endParaRPr lang="en-ID" sz="28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Melibatkan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peran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aktif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orangtua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wali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santri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proses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pembelajaran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8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Parent class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kunjungan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orangtua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sekolah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ma’had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pondok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kunjungan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warga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sekolah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ma’had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pondok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rumah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santri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dll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D" sz="28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026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BE0FF-F9B5-46F4-9A1B-DF0BEDE3B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US" sz="3600" dirty="0"/>
              <a:t>8. </a:t>
            </a:r>
            <a:r>
              <a:rPr lang="en-US" sz="3600" dirty="0" err="1"/>
              <a:t>Standar</a:t>
            </a:r>
            <a:r>
              <a:rPr lang="en-US" sz="3600" dirty="0"/>
              <a:t> </a:t>
            </a:r>
            <a:r>
              <a:rPr lang="en-US" sz="3600" dirty="0" err="1"/>
              <a:t>Khusus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97DF6-087F-4C24-84A4-E2FA9AE9C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2671"/>
            <a:ext cx="8229600" cy="2658418"/>
          </a:xfrm>
        </p:spPr>
        <p:txBody>
          <a:bodyPr>
            <a:noAutofit/>
          </a:bodyPr>
          <a:lstStyle/>
          <a:p>
            <a:pPr lvl="0" algn="just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Melaksanakan</a:t>
            </a:r>
            <a:r>
              <a:rPr 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pembelajaran</a:t>
            </a:r>
            <a:r>
              <a:rPr 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sekolah</a:t>
            </a:r>
            <a:r>
              <a:rPr 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</a:t>
            </a:r>
            <a:r>
              <a:rPr lang="en-US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ma’had</a:t>
            </a:r>
            <a:r>
              <a:rPr 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</a:t>
            </a:r>
            <a:r>
              <a:rPr lang="en-US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pondok</a:t>
            </a:r>
            <a:r>
              <a:rPr 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inklusi</a:t>
            </a:r>
            <a:endParaRPr lang="en-ID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en-US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Melaksanakan</a:t>
            </a:r>
            <a:r>
              <a:rPr 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pembinaan</a:t>
            </a:r>
            <a:r>
              <a:rPr 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anak</a:t>
            </a:r>
            <a:r>
              <a:rPr 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non </a:t>
            </a:r>
            <a:r>
              <a:rPr lang="en-US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santri</a:t>
            </a:r>
            <a:r>
              <a:rPr 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santri</a:t>
            </a:r>
            <a:r>
              <a:rPr 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luar</a:t>
            </a:r>
            <a:r>
              <a:rPr 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ID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2375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13DF89E-403A-46CF-BC9F-386D65C775E7}"/>
              </a:ext>
            </a:extLst>
          </p:cNvPr>
          <p:cNvSpPr txBox="1"/>
          <p:nvPr/>
        </p:nvSpPr>
        <p:spPr>
          <a:xfrm>
            <a:off x="611561" y="89337"/>
            <a:ext cx="7992887" cy="1323439"/>
          </a:xfrm>
          <a:prstGeom prst="rect">
            <a:avLst/>
          </a:prstGeom>
          <a:noFill/>
          <a:effectLst>
            <a:glow rad="101600">
              <a:srgbClr val="00B050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 err="1">
                <a:solidFill>
                  <a:srgbClr val="92D050"/>
                </a:solidFill>
                <a:effectLst>
                  <a:glow rad="228600">
                    <a:prstClr val="black"/>
                  </a:glow>
                </a:effectLst>
                <a:latin typeface="Calibri"/>
              </a:rPr>
              <a:t>Bentuk-bentuk</a:t>
            </a:r>
            <a:r>
              <a:rPr lang="en-US" sz="4000" b="1" dirty="0">
                <a:solidFill>
                  <a:srgbClr val="92D050"/>
                </a:solidFill>
                <a:effectLst>
                  <a:glow rad="228600">
                    <a:prstClr val="black"/>
                  </a:glow>
                </a:effectLst>
                <a:latin typeface="Calibri"/>
              </a:rPr>
              <a:t> Lembaga Pendidikan </a:t>
            </a:r>
            <a:r>
              <a:rPr lang="en-US" sz="4000" b="1" dirty="0" err="1">
                <a:solidFill>
                  <a:srgbClr val="92D050"/>
                </a:solidFill>
                <a:effectLst>
                  <a:glow rad="228600">
                    <a:prstClr val="black"/>
                  </a:glow>
                </a:effectLst>
                <a:latin typeface="Calibri"/>
              </a:rPr>
              <a:t>Karakter</a:t>
            </a:r>
            <a:r>
              <a:rPr lang="en-US" sz="4000" b="1" dirty="0">
                <a:solidFill>
                  <a:srgbClr val="92D050"/>
                </a:solidFill>
                <a:effectLst>
                  <a:glow rad="228600">
                    <a:prstClr val="black"/>
                  </a:glow>
                </a:effectLst>
                <a:latin typeface="Calibri"/>
              </a:rPr>
              <a:t> </a:t>
            </a:r>
            <a:r>
              <a:rPr lang="en-US" sz="4000" b="1" dirty="0" err="1">
                <a:solidFill>
                  <a:srgbClr val="92D050"/>
                </a:solidFill>
                <a:effectLst>
                  <a:glow rad="228600">
                    <a:prstClr val="black"/>
                  </a:glow>
                </a:effectLst>
                <a:latin typeface="Calibri"/>
              </a:rPr>
              <a:t>Nabawiyah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>
                <a:glow rad="228600">
                  <a:prstClr val="black"/>
                </a:glo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7B0996-F0C7-4A85-86E2-4F9AA2E15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556792"/>
            <a:ext cx="8640960" cy="504056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>
                <a:solidFill>
                  <a:srgbClr val="002060"/>
                </a:solidFill>
              </a:rPr>
              <a:t>Komunitas</a:t>
            </a:r>
            <a:r>
              <a:rPr lang="en-US" dirty="0">
                <a:solidFill>
                  <a:srgbClr val="002060"/>
                </a:solidFill>
              </a:rPr>
              <a:t> Informal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solidFill>
                  <a:srgbClr val="002060"/>
                </a:solidFill>
              </a:rPr>
              <a:t>Komunitas</a:t>
            </a:r>
            <a:r>
              <a:rPr lang="en-US" dirty="0">
                <a:solidFill>
                  <a:srgbClr val="002060"/>
                </a:solidFill>
              </a:rPr>
              <a:t> Non Formal Home Education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solidFill>
                  <a:srgbClr val="002060"/>
                </a:solidFill>
              </a:rPr>
              <a:t>Sekolah</a:t>
            </a:r>
            <a:r>
              <a:rPr lang="en-US" dirty="0">
                <a:solidFill>
                  <a:srgbClr val="002060"/>
                </a:solidFill>
              </a:rPr>
              <a:t> Non Formal </a:t>
            </a:r>
            <a:r>
              <a:rPr lang="en-US" dirty="0" err="1">
                <a:solidFill>
                  <a:srgbClr val="002060"/>
                </a:solidFill>
              </a:rPr>
              <a:t>Gugus</a:t>
            </a:r>
            <a:r>
              <a:rPr lang="en-US" dirty="0">
                <a:solidFill>
                  <a:srgbClr val="002060"/>
                </a:solidFill>
              </a:rPr>
              <a:t> PKBM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solidFill>
                  <a:srgbClr val="002060"/>
                </a:solidFill>
              </a:rPr>
              <a:t>Sekolah</a:t>
            </a:r>
            <a:r>
              <a:rPr lang="en-US" dirty="0">
                <a:solidFill>
                  <a:srgbClr val="002060"/>
                </a:solidFill>
              </a:rPr>
              <a:t> Non Formal </a:t>
            </a:r>
            <a:r>
              <a:rPr lang="en-US" dirty="0" err="1">
                <a:solidFill>
                  <a:srgbClr val="002060"/>
                </a:solidFill>
              </a:rPr>
              <a:t>Menginduk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Sekolah</a:t>
            </a:r>
            <a:r>
              <a:rPr lang="en-US" dirty="0">
                <a:solidFill>
                  <a:srgbClr val="002060"/>
                </a:solidFill>
              </a:rPr>
              <a:t> Formal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solidFill>
                  <a:srgbClr val="002060"/>
                </a:solidFill>
              </a:rPr>
              <a:t>Sekolah</a:t>
            </a:r>
            <a:r>
              <a:rPr lang="en-US" dirty="0">
                <a:solidFill>
                  <a:srgbClr val="002060"/>
                </a:solidFill>
              </a:rPr>
              <a:t> Non Formal PKBM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solidFill>
                  <a:srgbClr val="002060"/>
                </a:solidFill>
              </a:rPr>
              <a:t>Sekolah</a:t>
            </a:r>
            <a:r>
              <a:rPr lang="en-US" dirty="0">
                <a:solidFill>
                  <a:srgbClr val="002060"/>
                </a:solidFill>
              </a:rPr>
              <a:t> Non Formal </a:t>
            </a:r>
            <a:r>
              <a:rPr lang="en-US" dirty="0" err="1">
                <a:solidFill>
                  <a:srgbClr val="002060"/>
                </a:solidFill>
              </a:rPr>
              <a:t>Kesetaraan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Kemenag</a:t>
            </a:r>
            <a:endParaRPr lang="en-US" dirty="0">
              <a:solidFill>
                <a:srgbClr val="00206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solidFill>
                  <a:srgbClr val="002060"/>
                </a:solidFill>
              </a:rPr>
              <a:t>Sekolah</a:t>
            </a:r>
            <a:r>
              <a:rPr lang="en-US" dirty="0">
                <a:solidFill>
                  <a:srgbClr val="002060"/>
                </a:solidFill>
              </a:rPr>
              <a:t> Non Formal SKB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solidFill>
                  <a:srgbClr val="002060"/>
                </a:solidFill>
              </a:rPr>
              <a:t>Sekolah</a:t>
            </a:r>
            <a:r>
              <a:rPr lang="en-US" dirty="0">
                <a:solidFill>
                  <a:srgbClr val="002060"/>
                </a:solidFill>
              </a:rPr>
              <a:t> Formal </a:t>
            </a:r>
            <a:r>
              <a:rPr lang="en-US" dirty="0" err="1">
                <a:solidFill>
                  <a:srgbClr val="002060"/>
                </a:solidFill>
              </a:rPr>
              <a:t>Diknas</a:t>
            </a:r>
            <a:endParaRPr lang="en-US" dirty="0">
              <a:solidFill>
                <a:srgbClr val="00206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solidFill>
                  <a:srgbClr val="002060"/>
                </a:solidFill>
              </a:rPr>
              <a:t>Sekolah</a:t>
            </a:r>
            <a:r>
              <a:rPr lang="en-US" dirty="0">
                <a:solidFill>
                  <a:srgbClr val="002060"/>
                </a:solidFill>
              </a:rPr>
              <a:t> Formal </a:t>
            </a:r>
            <a:r>
              <a:rPr lang="en-US" dirty="0" err="1">
                <a:solidFill>
                  <a:srgbClr val="002060"/>
                </a:solidFill>
              </a:rPr>
              <a:t>Kemenag</a:t>
            </a:r>
            <a:endParaRPr lang="en-US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r>
              <a:rPr lang="en-ID" dirty="0">
                <a:solidFill>
                  <a:srgbClr val="C00000"/>
                </a:solidFill>
              </a:rPr>
              <a:t>*PKBM = Pusat </a:t>
            </a:r>
            <a:r>
              <a:rPr lang="en-ID" dirty="0" err="1">
                <a:solidFill>
                  <a:srgbClr val="C00000"/>
                </a:solidFill>
              </a:rPr>
              <a:t>Kegiatan</a:t>
            </a:r>
            <a:r>
              <a:rPr lang="en-ID" dirty="0">
                <a:solidFill>
                  <a:srgbClr val="C00000"/>
                </a:solidFill>
              </a:rPr>
              <a:t> </a:t>
            </a:r>
            <a:r>
              <a:rPr lang="en-ID" dirty="0" err="1">
                <a:solidFill>
                  <a:srgbClr val="C00000"/>
                </a:solidFill>
              </a:rPr>
              <a:t>Belajar</a:t>
            </a:r>
            <a:r>
              <a:rPr lang="en-ID" dirty="0">
                <a:solidFill>
                  <a:srgbClr val="C00000"/>
                </a:solidFill>
              </a:rPr>
              <a:t> Masyarakat</a:t>
            </a:r>
          </a:p>
          <a:p>
            <a:pPr marL="0" indent="0">
              <a:buNone/>
            </a:pPr>
            <a:r>
              <a:rPr lang="en-ID" dirty="0">
                <a:solidFill>
                  <a:srgbClr val="C00000"/>
                </a:solidFill>
              </a:rPr>
              <a:t>*SKB = </a:t>
            </a:r>
            <a:r>
              <a:rPr lang="en-ID" dirty="0" err="1">
                <a:solidFill>
                  <a:srgbClr val="C00000"/>
                </a:solidFill>
              </a:rPr>
              <a:t>Sanggar</a:t>
            </a:r>
            <a:r>
              <a:rPr lang="en-ID" dirty="0">
                <a:solidFill>
                  <a:srgbClr val="C00000"/>
                </a:solidFill>
              </a:rPr>
              <a:t> </a:t>
            </a:r>
            <a:r>
              <a:rPr lang="en-ID" dirty="0" err="1">
                <a:solidFill>
                  <a:srgbClr val="C00000"/>
                </a:solidFill>
              </a:rPr>
              <a:t>Kegiatan</a:t>
            </a:r>
            <a:r>
              <a:rPr lang="en-ID" dirty="0">
                <a:solidFill>
                  <a:srgbClr val="C00000"/>
                </a:solidFill>
              </a:rPr>
              <a:t> </a:t>
            </a:r>
            <a:r>
              <a:rPr lang="en-ID" dirty="0" err="1">
                <a:solidFill>
                  <a:srgbClr val="C00000"/>
                </a:solidFill>
              </a:rPr>
              <a:t>Belajar</a:t>
            </a:r>
            <a:endParaRPr lang="en-ID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943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8D659-3EAE-488F-9091-41173628E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2564904"/>
            <a:ext cx="8784976" cy="2448272"/>
          </a:xfrm>
        </p:spPr>
        <p:txBody>
          <a:bodyPr>
            <a:normAutofit/>
          </a:bodyPr>
          <a:lstStyle/>
          <a:p>
            <a:r>
              <a:rPr lang="en-US" dirty="0" err="1"/>
              <a:t>Tanpa</a:t>
            </a:r>
            <a:r>
              <a:rPr lang="en-US" dirty="0"/>
              <a:t> ijazah formal</a:t>
            </a:r>
          </a:p>
          <a:p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administrasi</a:t>
            </a:r>
            <a:r>
              <a:rPr lang="en-US" dirty="0"/>
              <a:t> formal</a:t>
            </a:r>
          </a:p>
          <a:p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ligelitas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Kemendikbud</a:t>
            </a:r>
            <a:r>
              <a:rPr lang="en-US" dirty="0"/>
              <a:t>/</a:t>
            </a:r>
            <a:r>
              <a:rPr lang="en-US" dirty="0" err="1"/>
              <a:t>Kemenag</a:t>
            </a:r>
            <a:endParaRPr lang="en-US" dirty="0"/>
          </a:p>
          <a:p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bermarkas</a:t>
            </a:r>
            <a:endParaRPr lang="en-US" dirty="0"/>
          </a:p>
          <a:p>
            <a:endParaRPr lang="en-US" dirty="0"/>
          </a:p>
          <a:p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ED965B-DBBE-4A91-B8DD-83A796EBCEFB}"/>
              </a:ext>
            </a:extLst>
          </p:cNvPr>
          <p:cNvSpPr txBox="1"/>
          <p:nvPr/>
        </p:nvSpPr>
        <p:spPr>
          <a:xfrm>
            <a:off x="693913" y="548680"/>
            <a:ext cx="7992887" cy="830997"/>
          </a:xfrm>
          <a:prstGeom prst="rect">
            <a:avLst/>
          </a:prstGeom>
          <a:noFill/>
          <a:effectLst>
            <a:glow rad="101600">
              <a:srgbClr val="00B050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glow rad="2286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1. </a:t>
            </a:r>
            <a:r>
              <a:rPr kumimoji="0" lang="en-US" sz="4800" b="1" i="0" u="none" strike="noStrike" kern="1200" cap="none" spc="30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glow rad="2286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Komunitas</a:t>
            </a:r>
            <a:r>
              <a:rPr kumimoji="0" lang="en-US" sz="48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glow rad="2286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 Informal</a:t>
            </a:r>
          </a:p>
        </p:txBody>
      </p:sp>
    </p:spTree>
    <p:extLst>
      <p:ext uri="{BB962C8B-B14F-4D97-AF65-F5344CB8AC3E}">
        <p14:creationId xmlns:p14="http://schemas.microsoft.com/office/powerpoint/2010/main" val="2663868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8D659-3EAE-488F-9091-41173628E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636912"/>
            <a:ext cx="8229600" cy="2448272"/>
          </a:xfrm>
        </p:spPr>
        <p:txBody>
          <a:bodyPr/>
          <a:lstStyle/>
          <a:p>
            <a:r>
              <a:rPr lang="en-US" dirty="0"/>
              <a:t>Ijazah </a:t>
            </a:r>
            <a:r>
              <a:rPr lang="en-US" dirty="0" err="1"/>
              <a:t>Kejar</a:t>
            </a:r>
            <a:r>
              <a:rPr lang="en-US" dirty="0"/>
              <a:t> </a:t>
            </a:r>
            <a:r>
              <a:rPr lang="en-US" dirty="0" err="1"/>
              <a:t>Paket</a:t>
            </a:r>
            <a:r>
              <a:rPr lang="en-US" dirty="0"/>
              <a:t> </a:t>
            </a:r>
            <a:r>
              <a:rPr lang="en-US" dirty="0" err="1"/>
              <a:t>bergabung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PKBM</a:t>
            </a:r>
          </a:p>
          <a:p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administrasi</a:t>
            </a:r>
            <a:r>
              <a:rPr lang="en-US" dirty="0"/>
              <a:t> formal</a:t>
            </a:r>
          </a:p>
          <a:p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ligelitas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Kemendikbud</a:t>
            </a:r>
            <a:endParaRPr lang="en-US" dirty="0"/>
          </a:p>
          <a:p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bermarkas</a:t>
            </a:r>
            <a:endParaRPr lang="en-US" dirty="0"/>
          </a:p>
          <a:p>
            <a:endParaRPr lang="en-US" dirty="0"/>
          </a:p>
          <a:p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ED965B-DBBE-4A91-B8DD-83A796EBCEFB}"/>
              </a:ext>
            </a:extLst>
          </p:cNvPr>
          <p:cNvSpPr txBox="1"/>
          <p:nvPr/>
        </p:nvSpPr>
        <p:spPr>
          <a:xfrm>
            <a:off x="575556" y="116632"/>
            <a:ext cx="7992887" cy="1569660"/>
          </a:xfrm>
          <a:prstGeom prst="rect">
            <a:avLst/>
          </a:prstGeom>
          <a:noFill/>
          <a:effectLst>
            <a:glow rad="101600">
              <a:srgbClr val="00B050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4800" b="1" spc="300" dirty="0">
                <a:solidFill>
                  <a:srgbClr val="FFFF00"/>
                </a:solidFill>
                <a:effectLst>
                  <a:glow rad="228600">
                    <a:prstClr val="black"/>
                  </a:glow>
                </a:effectLst>
              </a:rPr>
              <a:t>2. </a:t>
            </a:r>
            <a:r>
              <a:rPr lang="en-US" sz="4800" b="1" spc="300" dirty="0" err="1">
                <a:solidFill>
                  <a:srgbClr val="FFFF00"/>
                </a:solidFill>
                <a:effectLst>
                  <a:glow rad="228600">
                    <a:prstClr val="black"/>
                  </a:glow>
                </a:effectLst>
              </a:rPr>
              <a:t>Komunitas</a:t>
            </a:r>
            <a:r>
              <a:rPr lang="en-US" sz="4800" b="1" spc="300" dirty="0">
                <a:solidFill>
                  <a:srgbClr val="FFFF00"/>
                </a:solidFill>
                <a:effectLst>
                  <a:glow rad="228600">
                    <a:prstClr val="black"/>
                  </a:glow>
                </a:effectLst>
              </a:rPr>
              <a:t> Non Formal Home Education</a:t>
            </a:r>
          </a:p>
        </p:txBody>
      </p:sp>
    </p:spTree>
    <p:extLst>
      <p:ext uri="{BB962C8B-B14F-4D97-AF65-F5344CB8AC3E}">
        <p14:creationId xmlns:p14="http://schemas.microsoft.com/office/powerpoint/2010/main" val="580341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8D659-3EAE-488F-9091-41173628E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371528"/>
            <a:ext cx="8229600" cy="2592288"/>
          </a:xfrm>
        </p:spPr>
        <p:txBody>
          <a:bodyPr/>
          <a:lstStyle/>
          <a:p>
            <a:r>
              <a:rPr lang="en-US" dirty="0" err="1"/>
              <a:t>Legalitas</a:t>
            </a:r>
            <a:r>
              <a:rPr lang="en-US" dirty="0"/>
              <a:t> </a:t>
            </a:r>
            <a:r>
              <a:rPr lang="en-US" dirty="0" err="1"/>
              <a:t>menginduk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 PKBM lain</a:t>
            </a:r>
          </a:p>
          <a:p>
            <a:r>
              <a:rPr lang="en-US" dirty="0"/>
              <a:t>Ijazah </a:t>
            </a:r>
            <a:r>
              <a:rPr lang="en-US" dirty="0" err="1"/>
              <a:t>Kejar</a:t>
            </a:r>
            <a:r>
              <a:rPr lang="en-US" dirty="0"/>
              <a:t> </a:t>
            </a:r>
            <a:r>
              <a:rPr lang="en-US" dirty="0" err="1"/>
              <a:t>Paket</a:t>
            </a:r>
            <a:r>
              <a:rPr lang="en-US" dirty="0"/>
              <a:t> (</a:t>
            </a:r>
            <a:r>
              <a:rPr lang="en-US" dirty="0" err="1"/>
              <a:t>Paket</a:t>
            </a:r>
            <a:r>
              <a:rPr lang="en-US" dirty="0"/>
              <a:t> A, B, C)</a:t>
            </a:r>
          </a:p>
          <a:p>
            <a:r>
              <a:rPr lang="en-US" dirty="0"/>
              <a:t>Ada </a:t>
            </a:r>
            <a:r>
              <a:rPr lang="en-US" dirty="0" err="1"/>
              <a:t>administrasi</a:t>
            </a:r>
            <a:r>
              <a:rPr lang="en-US" dirty="0"/>
              <a:t> formal</a:t>
            </a:r>
          </a:p>
          <a:p>
            <a:r>
              <a:rPr lang="en-US" dirty="0" err="1"/>
              <a:t>Bermarkas</a:t>
            </a:r>
            <a:endParaRPr lang="en-US" dirty="0"/>
          </a:p>
          <a:p>
            <a:endParaRPr lang="en-US" dirty="0"/>
          </a:p>
          <a:p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ED965B-DBBE-4A91-B8DD-83A796EBCEFB}"/>
              </a:ext>
            </a:extLst>
          </p:cNvPr>
          <p:cNvSpPr txBox="1"/>
          <p:nvPr/>
        </p:nvSpPr>
        <p:spPr>
          <a:xfrm>
            <a:off x="259178" y="515813"/>
            <a:ext cx="8625644" cy="1446550"/>
          </a:xfrm>
          <a:prstGeom prst="rect">
            <a:avLst/>
          </a:prstGeom>
          <a:noFill/>
          <a:effectLst>
            <a:glow rad="101600">
              <a:srgbClr val="00B050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4400" b="1" spc="300" dirty="0">
                <a:solidFill>
                  <a:srgbClr val="FFFF00"/>
                </a:solidFill>
                <a:effectLst>
                  <a:glow rad="228600">
                    <a:prstClr val="black"/>
                  </a:glow>
                </a:effectLst>
              </a:rPr>
              <a:t>3. </a:t>
            </a:r>
            <a:r>
              <a:rPr lang="en-US" sz="4400" b="1" spc="300" dirty="0" err="1">
                <a:solidFill>
                  <a:srgbClr val="FFFF00"/>
                </a:solidFill>
                <a:effectLst>
                  <a:glow rad="228600">
                    <a:prstClr val="black"/>
                  </a:glow>
                </a:effectLst>
              </a:rPr>
              <a:t>Sekolah</a:t>
            </a:r>
            <a:r>
              <a:rPr lang="en-US" sz="4400" b="1" spc="300" dirty="0">
                <a:solidFill>
                  <a:srgbClr val="FFFF00"/>
                </a:solidFill>
                <a:effectLst>
                  <a:glow rad="228600">
                    <a:prstClr val="black"/>
                  </a:glow>
                </a:effectLst>
              </a:rPr>
              <a:t> Non Formal </a:t>
            </a:r>
            <a:r>
              <a:rPr lang="en-US" sz="4400" b="1" spc="300" dirty="0" err="1">
                <a:solidFill>
                  <a:srgbClr val="FFFF00"/>
                </a:solidFill>
                <a:effectLst>
                  <a:glow rad="228600">
                    <a:prstClr val="black"/>
                  </a:glow>
                </a:effectLst>
              </a:rPr>
              <a:t>Gugus</a:t>
            </a:r>
            <a:r>
              <a:rPr lang="en-US" sz="4400" b="1" spc="300" dirty="0">
                <a:solidFill>
                  <a:srgbClr val="FFFF00"/>
                </a:solidFill>
                <a:effectLst>
                  <a:glow rad="228600">
                    <a:prstClr val="black"/>
                  </a:glow>
                </a:effectLst>
              </a:rPr>
              <a:t> PKBM</a:t>
            </a:r>
          </a:p>
        </p:txBody>
      </p:sp>
    </p:spTree>
    <p:extLst>
      <p:ext uri="{BB962C8B-B14F-4D97-AF65-F5344CB8AC3E}">
        <p14:creationId xmlns:p14="http://schemas.microsoft.com/office/powerpoint/2010/main" val="3992699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8D659-3EAE-488F-9091-41173628E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495" y="2852936"/>
            <a:ext cx="8625644" cy="2535001"/>
          </a:xfrm>
        </p:spPr>
        <p:txBody>
          <a:bodyPr/>
          <a:lstStyle/>
          <a:p>
            <a:r>
              <a:rPr lang="en-US" dirty="0" err="1"/>
              <a:t>Legalitas</a:t>
            </a:r>
            <a:r>
              <a:rPr lang="en-US" dirty="0"/>
              <a:t> </a:t>
            </a:r>
            <a:r>
              <a:rPr lang="en-US" dirty="0" err="1"/>
              <a:t>menginduk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 </a:t>
            </a:r>
            <a:r>
              <a:rPr lang="en-US" dirty="0" err="1"/>
              <a:t>Sekolah</a:t>
            </a:r>
            <a:r>
              <a:rPr lang="en-US" dirty="0"/>
              <a:t> Formal lain</a:t>
            </a:r>
          </a:p>
          <a:p>
            <a:r>
              <a:rPr lang="en-US" dirty="0"/>
              <a:t>Ijazah Formal (SD/MI, SMP/MTS, SMA/MA)</a:t>
            </a:r>
          </a:p>
          <a:p>
            <a:r>
              <a:rPr lang="en-US" dirty="0"/>
              <a:t>Ada </a:t>
            </a:r>
            <a:r>
              <a:rPr lang="en-US" dirty="0" err="1"/>
              <a:t>administrasi</a:t>
            </a:r>
            <a:r>
              <a:rPr lang="en-US" dirty="0"/>
              <a:t> formal</a:t>
            </a:r>
          </a:p>
          <a:p>
            <a:r>
              <a:rPr lang="en-US" dirty="0" err="1"/>
              <a:t>Bermarkas</a:t>
            </a:r>
            <a:endParaRPr lang="en-US" dirty="0"/>
          </a:p>
          <a:p>
            <a:endParaRPr lang="en-US" dirty="0"/>
          </a:p>
          <a:p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ED965B-DBBE-4A91-B8DD-83A796EBCEFB}"/>
              </a:ext>
            </a:extLst>
          </p:cNvPr>
          <p:cNvSpPr txBox="1"/>
          <p:nvPr/>
        </p:nvSpPr>
        <p:spPr>
          <a:xfrm>
            <a:off x="259178" y="515813"/>
            <a:ext cx="8625644" cy="1446550"/>
          </a:xfrm>
          <a:prstGeom prst="rect">
            <a:avLst/>
          </a:prstGeom>
          <a:noFill/>
          <a:effectLst>
            <a:glow rad="101600">
              <a:srgbClr val="00B050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sv-SE" sz="4400" b="1" spc="300" dirty="0">
                <a:solidFill>
                  <a:srgbClr val="FFFF00"/>
                </a:solidFill>
                <a:effectLst>
                  <a:glow rad="228600">
                    <a:prstClr val="black"/>
                  </a:glow>
                </a:effectLst>
              </a:rPr>
              <a:t>4. Sekolah Non Formal Menginduk Sekolah Formal</a:t>
            </a:r>
          </a:p>
        </p:txBody>
      </p:sp>
    </p:spTree>
    <p:extLst>
      <p:ext uri="{BB962C8B-B14F-4D97-AF65-F5344CB8AC3E}">
        <p14:creationId xmlns:p14="http://schemas.microsoft.com/office/powerpoint/2010/main" val="2934841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8D659-3EAE-488F-9091-41173628E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54" y="2360637"/>
            <a:ext cx="9281374" cy="2724547"/>
          </a:xfrm>
        </p:spPr>
        <p:txBody>
          <a:bodyPr/>
          <a:lstStyle/>
          <a:p>
            <a:r>
              <a:rPr lang="en-US" dirty="0" err="1"/>
              <a:t>Legalitas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PKBM </a:t>
            </a:r>
            <a:r>
              <a:rPr lang="en-US" dirty="0" err="1"/>
              <a:t>Diknas</a:t>
            </a:r>
            <a:r>
              <a:rPr lang="en-US" dirty="0"/>
              <a:t> (</a:t>
            </a:r>
            <a:r>
              <a:rPr lang="en-US" dirty="0" err="1"/>
              <a:t>Mengelola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)</a:t>
            </a:r>
          </a:p>
          <a:p>
            <a:r>
              <a:rPr lang="en-US" dirty="0"/>
              <a:t>Ijazah </a:t>
            </a:r>
            <a:r>
              <a:rPr lang="en-US" dirty="0" err="1"/>
              <a:t>Kejar</a:t>
            </a:r>
            <a:r>
              <a:rPr lang="en-US" dirty="0"/>
              <a:t> </a:t>
            </a:r>
            <a:r>
              <a:rPr lang="en-US" dirty="0" err="1"/>
              <a:t>Paket</a:t>
            </a:r>
            <a:r>
              <a:rPr lang="en-US" dirty="0"/>
              <a:t> (</a:t>
            </a:r>
            <a:r>
              <a:rPr lang="en-US" dirty="0" err="1"/>
              <a:t>Paket</a:t>
            </a:r>
            <a:r>
              <a:rPr lang="en-US" dirty="0"/>
              <a:t> A, B, C)</a:t>
            </a:r>
          </a:p>
          <a:p>
            <a:r>
              <a:rPr lang="en-US" dirty="0"/>
              <a:t>Ada </a:t>
            </a:r>
            <a:r>
              <a:rPr lang="en-US" dirty="0" err="1"/>
              <a:t>administrasi</a:t>
            </a:r>
            <a:r>
              <a:rPr lang="en-US" dirty="0"/>
              <a:t> formal</a:t>
            </a:r>
          </a:p>
          <a:p>
            <a:r>
              <a:rPr lang="en-US" dirty="0" err="1"/>
              <a:t>Bermarkas</a:t>
            </a:r>
            <a:endParaRPr lang="en-US" dirty="0"/>
          </a:p>
          <a:p>
            <a:endParaRPr lang="en-US" dirty="0"/>
          </a:p>
          <a:p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ED965B-DBBE-4A91-B8DD-83A796EBCEFB}"/>
              </a:ext>
            </a:extLst>
          </p:cNvPr>
          <p:cNvSpPr txBox="1"/>
          <p:nvPr/>
        </p:nvSpPr>
        <p:spPr>
          <a:xfrm>
            <a:off x="259178" y="515813"/>
            <a:ext cx="8625644" cy="769441"/>
          </a:xfrm>
          <a:prstGeom prst="rect">
            <a:avLst/>
          </a:prstGeom>
          <a:noFill/>
          <a:effectLst>
            <a:glow rad="101600">
              <a:srgbClr val="00B050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sv-SE" sz="4400" b="1" spc="300" dirty="0">
                <a:solidFill>
                  <a:srgbClr val="FFFF00"/>
                </a:solidFill>
                <a:effectLst>
                  <a:glow rad="228600">
                    <a:prstClr val="black"/>
                  </a:glow>
                </a:effectLst>
              </a:rPr>
              <a:t>5. Sekolah Non Formal PKBM</a:t>
            </a:r>
          </a:p>
        </p:txBody>
      </p:sp>
    </p:spTree>
    <p:extLst>
      <p:ext uri="{BB962C8B-B14F-4D97-AF65-F5344CB8AC3E}">
        <p14:creationId xmlns:p14="http://schemas.microsoft.com/office/powerpoint/2010/main" val="2689739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8D659-3EAE-488F-9091-41173628E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54" y="2360637"/>
            <a:ext cx="9281374" cy="2724547"/>
          </a:xfrm>
        </p:spPr>
        <p:txBody>
          <a:bodyPr/>
          <a:lstStyle/>
          <a:p>
            <a:r>
              <a:rPr lang="en-US" dirty="0" err="1"/>
              <a:t>Legalitas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dirty="0" err="1"/>
              <a:t>Kesetaraan</a:t>
            </a:r>
            <a:r>
              <a:rPr lang="en-US" dirty="0"/>
              <a:t> </a:t>
            </a:r>
            <a:r>
              <a:rPr lang="en-US" dirty="0" err="1"/>
              <a:t>Kemenag</a:t>
            </a:r>
            <a:endParaRPr lang="en-US" dirty="0"/>
          </a:p>
          <a:p>
            <a:r>
              <a:rPr lang="en-US" dirty="0"/>
              <a:t>Ijazah </a:t>
            </a:r>
            <a:r>
              <a:rPr lang="en-US" dirty="0" err="1"/>
              <a:t>Kejar</a:t>
            </a:r>
            <a:r>
              <a:rPr lang="en-US" dirty="0"/>
              <a:t> </a:t>
            </a:r>
            <a:r>
              <a:rPr lang="en-US" dirty="0" err="1"/>
              <a:t>Paket</a:t>
            </a:r>
            <a:r>
              <a:rPr lang="en-US" dirty="0"/>
              <a:t> (</a:t>
            </a:r>
            <a:r>
              <a:rPr lang="en-US" dirty="0" err="1"/>
              <a:t>Salafiyah</a:t>
            </a:r>
            <a:r>
              <a:rPr lang="en-US" dirty="0"/>
              <a:t> Ula, </a:t>
            </a:r>
            <a:r>
              <a:rPr lang="en-US" dirty="0" err="1"/>
              <a:t>Wustha</a:t>
            </a:r>
            <a:r>
              <a:rPr lang="en-US" dirty="0"/>
              <a:t>, </a:t>
            </a:r>
            <a:r>
              <a:rPr lang="en-US" dirty="0" err="1"/>
              <a:t>Ulya</a:t>
            </a:r>
            <a:r>
              <a:rPr lang="en-US" dirty="0"/>
              <a:t>)</a:t>
            </a:r>
          </a:p>
          <a:p>
            <a:r>
              <a:rPr lang="en-US" dirty="0"/>
              <a:t>Ada </a:t>
            </a:r>
            <a:r>
              <a:rPr lang="en-US" dirty="0" err="1"/>
              <a:t>administrasi</a:t>
            </a:r>
            <a:r>
              <a:rPr lang="en-US" dirty="0"/>
              <a:t> formal</a:t>
            </a:r>
          </a:p>
          <a:p>
            <a:r>
              <a:rPr lang="en-US" dirty="0" err="1"/>
              <a:t>Bermarkas</a:t>
            </a:r>
            <a:endParaRPr lang="en-US" dirty="0"/>
          </a:p>
          <a:p>
            <a:endParaRPr lang="en-US" dirty="0"/>
          </a:p>
          <a:p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ED965B-DBBE-4A91-B8DD-83A796EBCEFB}"/>
              </a:ext>
            </a:extLst>
          </p:cNvPr>
          <p:cNvSpPr txBox="1"/>
          <p:nvPr/>
        </p:nvSpPr>
        <p:spPr>
          <a:xfrm>
            <a:off x="259178" y="515813"/>
            <a:ext cx="8625644" cy="1446550"/>
          </a:xfrm>
          <a:prstGeom prst="rect">
            <a:avLst/>
          </a:prstGeom>
          <a:noFill/>
          <a:effectLst>
            <a:glow rad="101600">
              <a:srgbClr val="00B050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sv-SE" sz="4400" b="1" spc="300" dirty="0">
                <a:solidFill>
                  <a:srgbClr val="FFFF00"/>
                </a:solidFill>
                <a:effectLst>
                  <a:glow rad="228600">
                    <a:prstClr val="black"/>
                  </a:glow>
                </a:effectLst>
              </a:rPr>
              <a:t>6. Sekolah Non Formal Kesetaraan Kemenag</a:t>
            </a:r>
          </a:p>
        </p:txBody>
      </p:sp>
    </p:spTree>
    <p:extLst>
      <p:ext uri="{BB962C8B-B14F-4D97-AF65-F5344CB8AC3E}">
        <p14:creationId xmlns:p14="http://schemas.microsoft.com/office/powerpoint/2010/main" val="365099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8D659-3EAE-488F-9091-41173628E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360637"/>
            <a:ext cx="8229600" cy="2508523"/>
          </a:xfrm>
        </p:spPr>
        <p:txBody>
          <a:bodyPr/>
          <a:lstStyle/>
          <a:p>
            <a:r>
              <a:rPr lang="en-US" dirty="0" err="1"/>
              <a:t>Legalitas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SKB (</a:t>
            </a:r>
            <a:r>
              <a:rPr lang="en-US" dirty="0" err="1"/>
              <a:t>Kejar</a:t>
            </a:r>
            <a:r>
              <a:rPr lang="en-US" dirty="0"/>
              <a:t> </a:t>
            </a:r>
            <a:r>
              <a:rPr lang="en-US" dirty="0" err="1"/>
              <a:t>Paket</a:t>
            </a:r>
            <a:r>
              <a:rPr lang="en-US" dirty="0"/>
              <a:t> Negeri)</a:t>
            </a:r>
          </a:p>
          <a:p>
            <a:r>
              <a:rPr lang="en-US" dirty="0"/>
              <a:t>Ijazah </a:t>
            </a:r>
            <a:r>
              <a:rPr lang="en-US" dirty="0" err="1"/>
              <a:t>Kejar</a:t>
            </a:r>
            <a:r>
              <a:rPr lang="en-US" dirty="0"/>
              <a:t> </a:t>
            </a:r>
            <a:r>
              <a:rPr lang="en-US" dirty="0" err="1"/>
              <a:t>Paket</a:t>
            </a:r>
            <a:r>
              <a:rPr lang="en-US" dirty="0"/>
              <a:t> (</a:t>
            </a:r>
            <a:r>
              <a:rPr lang="en-US" dirty="0" err="1"/>
              <a:t>Paket</a:t>
            </a:r>
            <a:r>
              <a:rPr lang="en-US" dirty="0"/>
              <a:t> A, B, C)</a:t>
            </a:r>
          </a:p>
          <a:p>
            <a:r>
              <a:rPr lang="en-US" dirty="0"/>
              <a:t>Ada </a:t>
            </a:r>
            <a:r>
              <a:rPr lang="en-US" dirty="0" err="1"/>
              <a:t>administrasi</a:t>
            </a:r>
            <a:r>
              <a:rPr lang="en-US" dirty="0"/>
              <a:t> formal</a:t>
            </a:r>
          </a:p>
          <a:p>
            <a:r>
              <a:rPr lang="en-US" dirty="0" err="1"/>
              <a:t>Bermarkas</a:t>
            </a:r>
            <a:endParaRPr lang="en-US" dirty="0"/>
          </a:p>
          <a:p>
            <a:endParaRPr lang="en-US" dirty="0"/>
          </a:p>
          <a:p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ED965B-DBBE-4A91-B8DD-83A796EBCEFB}"/>
              </a:ext>
            </a:extLst>
          </p:cNvPr>
          <p:cNvSpPr txBox="1"/>
          <p:nvPr/>
        </p:nvSpPr>
        <p:spPr>
          <a:xfrm>
            <a:off x="259178" y="515813"/>
            <a:ext cx="8625644" cy="769441"/>
          </a:xfrm>
          <a:prstGeom prst="rect">
            <a:avLst/>
          </a:prstGeom>
          <a:noFill/>
          <a:effectLst>
            <a:glow rad="101600">
              <a:srgbClr val="00B050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sv-SE" sz="4400" b="1" spc="300" dirty="0">
                <a:solidFill>
                  <a:srgbClr val="FFFF00"/>
                </a:solidFill>
                <a:effectLst>
                  <a:glow rad="228600">
                    <a:prstClr val="black"/>
                  </a:glow>
                </a:effectLst>
              </a:rPr>
              <a:t>7. Sekolah Non Formal SKB</a:t>
            </a:r>
          </a:p>
        </p:txBody>
      </p:sp>
    </p:spTree>
    <p:extLst>
      <p:ext uri="{BB962C8B-B14F-4D97-AF65-F5344CB8AC3E}">
        <p14:creationId xmlns:p14="http://schemas.microsoft.com/office/powerpoint/2010/main" val="412169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8D659-3EAE-488F-9091-41173628E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178" y="2348880"/>
            <a:ext cx="8229600" cy="2580531"/>
          </a:xfrm>
        </p:spPr>
        <p:txBody>
          <a:bodyPr/>
          <a:lstStyle/>
          <a:p>
            <a:r>
              <a:rPr lang="en-US" dirty="0" err="1"/>
              <a:t>Legalitas</a:t>
            </a:r>
            <a:r>
              <a:rPr lang="en-US" dirty="0"/>
              <a:t> </a:t>
            </a:r>
            <a:r>
              <a:rPr lang="en-US" dirty="0" err="1"/>
              <a:t>Sekolah</a:t>
            </a:r>
            <a:r>
              <a:rPr lang="en-US" dirty="0"/>
              <a:t> Formal </a:t>
            </a:r>
            <a:r>
              <a:rPr lang="en-US" dirty="0" err="1"/>
              <a:t>Diknas</a:t>
            </a:r>
            <a:endParaRPr lang="en-US" dirty="0"/>
          </a:p>
          <a:p>
            <a:r>
              <a:rPr lang="en-US" dirty="0"/>
              <a:t>Ijazah Formal (SD, SMP, SMA)</a:t>
            </a:r>
          </a:p>
          <a:p>
            <a:r>
              <a:rPr lang="en-US" dirty="0"/>
              <a:t>Ada </a:t>
            </a:r>
            <a:r>
              <a:rPr lang="en-US" dirty="0" err="1"/>
              <a:t>administrasi</a:t>
            </a:r>
            <a:r>
              <a:rPr lang="en-US" dirty="0"/>
              <a:t> formal</a:t>
            </a:r>
          </a:p>
          <a:p>
            <a:r>
              <a:rPr lang="en-US" dirty="0" err="1"/>
              <a:t>Bermarkas</a:t>
            </a:r>
            <a:endParaRPr lang="en-US" dirty="0"/>
          </a:p>
          <a:p>
            <a:endParaRPr lang="en-US" dirty="0"/>
          </a:p>
          <a:p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ED965B-DBBE-4A91-B8DD-83A796EBCEFB}"/>
              </a:ext>
            </a:extLst>
          </p:cNvPr>
          <p:cNvSpPr txBox="1"/>
          <p:nvPr/>
        </p:nvSpPr>
        <p:spPr>
          <a:xfrm>
            <a:off x="259178" y="515813"/>
            <a:ext cx="8625644" cy="769441"/>
          </a:xfrm>
          <a:prstGeom prst="rect">
            <a:avLst/>
          </a:prstGeom>
          <a:noFill/>
          <a:effectLst>
            <a:glow rad="101600">
              <a:srgbClr val="00B050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sv-SE" sz="4400" b="1" spc="300" dirty="0">
                <a:solidFill>
                  <a:srgbClr val="FFFF00"/>
                </a:solidFill>
                <a:effectLst>
                  <a:glow rad="228600">
                    <a:prstClr val="black"/>
                  </a:glow>
                </a:effectLst>
              </a:rPr>
              <a:t>8. Sekolah Formal Diknas</a:t>
            </a:r>
          </a:p>
        </p:txBody>
      </p:sp>
    </p:spTree>
    <p:extLst>
      <p:ext uri="{BB962C8B-B14F-4D97-AF65-F5344CB8AC3E}">
        <p14:creationId xmlns:p14="http://schemas.microsoft.com/office/powerpoint/2010/main" val="281427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8D659-3EAE-488F-9091-41173628E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360637"/>
            <a:ext cx="8229600" cy="2436515"/>
          </a:xfrm>
        </p:spPr>
        <p:txBody>
          <a:bodyPr/>
          <a:lstStyle/>
          <a:p>
            <a:r>
              <a:rPr lang="en-US" dirty="0" err="1"/>
              <a:t>Legalitas</a:t>
            </a:r>
            <a:r>
              <a:rPr lang="en-US" dirty="0"/>
              <a:t> </a:t>
            </a:r>
            <a:r>
              <a:rPr lang="en-US" dirty="0" err="1"/>
              <a:t>Sekolah</a:t>
            </a:r>
            <a:r>
              <a:rPr lang="en-US" dirty="0"/>
              <a:t> </a:t>
            </a:r>
            <a:r>
              <a:rPr lang="en-US" dirty="0" err="1"/>
              <a:t>Kemenag</a:t>
            </a:r>
            <a:endParaRPr lang="en-US" dirty="0"/>
          </a:p>
          <a:p>
            <a:r>
              <a:rPr lang="en-US" dirty="0"/>
              <a:t>Ijazah Formal (MI, MTS, MA)</a:t>
            </a:r>
          </a:p>
          <a:p>
            <a:r>
              <a:rPr lang="en-US" dirty="0"/>
              <a:t>Ada </a:t>
            </a:r>
            <a:r>
              <a:rPr lang="en-US" dirty="0" err="1"/>
              <a:t>administrasi</a:t>
            </a:r>
            <a:r>
              <a:rPr lang="en-US" dirty="0"/>
              <a:t> formal</a:t>
            </a:r>
          </a:p>
          <a:p>
            <a:r>
              <a:rPr lang="en-US" dirty="0" err="1"/>
              <a:t>Bermarkas</a:t>
            </a:r>
            <a:endParaRPr lang="en-US" dirty="0"/>
          </a:p>
          <a:p>
            <a:endParaRPr lang="en-US" dirty="0"/>
          </a:p>
          <a:p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ED965B-DBBE-4A91-B8DD-83A796EBCEFB}"/>
              </a:ext>
            </a:extLst>
          </p:cNvPr>
          <p:cNvSpPr txBox="1"/>
          <p:nvPr/>
        </p:nvSpPr>
        <p:spPr>
          <a:xfrm>
            <a:off x="259178" y="515813"/>
            <a:ext cx="8625644" cy="769441"/>
          </a:xfrm>
          <a:prstGeom prst="rect">
            <a:avLst/>
          </a:prstGeom>
          <a:noFill/>
          <a:effectLst>
            <a:glow rad="101600">
              <a:srgbClr val="00B050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sv-SE" sz="4400" b="1" spc="300" dirty="0">
                <a:solidFill>
                  <a:srgbClr val="FFFF00"/>
                </a:solidFill>
                <a:effectLst>
                  <a:glow rad="228600">
                    <a:prstClr val="black"/>
                  </a:glow>
                </a:effectLst>
              </a:rPr>
              <a:t>9. Sekolah Formal Kemenag</a:t>
            </a:r>
          </a:p>
        </p:txBody>
      </p:sp>
    </p:spTree>
    <p:extLst>
      <p:ext uri="{BB962C8B-B14F-4D97-AF65-F5344CB8AC3E}">
        <p14:creationId xmlns:p14="http://schemas.microsoft.com/office/powerpoint/2010/main" val="124790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D5486-D004-48E7-B310-C1B13B8B4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Idealisme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Pasar?</a:t>
            </a:r>
            <a:endParaRPr lang="en-ID" dirty="0"/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C84B7A96-F958-4537-81FF-686B07772331}"/>
              </a:ext>
            </a:extLst>
          </p:cNvPr>
          <p:cNvSpPr/>
          <p:nvPr/>
        </p:nvSpPr>
        <p:spPr>
          <a:xfrm>
            <a:off x="827584" y="4005064"/>
            <a:ext cx="7488832" cy="576064"/>
          </a:xfrm>
          <a:prstGeom prst="left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713F287-A6B8-4265-B466-7C6E64C17048}"/>
              </a:ext>
            </a:extLst>
          </p:cNvPr>
          <p:cNvSpPr txBox="1">
            <a:spLocks/>
          </p:cNvSpPr>
          <p:nvPr/>
        </p:nvSpPr>
        <p:spPr>
          <a:xfrm>
            <a:off x="7667364" y="4317821"/>
            <a:ext cx="129810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Ideal</a:t>
            </a:r>
            <a:endParaRPr lang="en-ID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9D179A1-5BE9-4019-BDCE-DE131F221B0C}"/>
              </a:ext>
            </a:extLst>
          </p:cNvPr>
          <p:cNvSpPr txBox="1">
            <a:spLocks/>
          </p:cNvSpPr>
          <p:nvPr/>
        </p:nvSpPr>
        <p:spPr>
          <a:xfrm>
            <a:off x="323528" y="4313985"/>
            <a:ext cx="129810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Laris</a:t>
            </a:r>
            <a:endParaRPr lang="en-ID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6DCCA8CC-DC10-4713-BB3B-C26DE036CDC7}"/>
              </a:ext>
            </a:extLst>
          </p:cNvPr>
          <p:cNvSpPr/>
          <p:nvPr/>
        </p:nvSpPr>
        <p:spPr>
          <a:xfrm>
            <a:off x="7236296" y="3284984"/>
            <a:ext cx="432048" cy="864096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616C3F0-1988-491A-A55D-8A91986B570C}"/>
              </a:ext>
            </a:extLst>
          </p:cNvPr>
          <p:cNvSpPr txBox="1">
            <a:spLocks/>
          </p:cNvSpPr>
          <p:nvPr/>
        </p:nvSpPr>
        <p:spPr>
          <a:xfrm>
            <a:off x="6516216" y="2430016"/>
            <a:ext cx="187220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Hikmah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263391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5" presetClass="path" presetSubtype="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1.85185E-6 L -0.59844 1.85185E-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931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35" presetClass="path" presetSubtype="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1.48148E-6 L -0.59844 -0.00069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931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8" grpId="1" animBg="1"/>
      <p:bldP spid="9" grpId="0"/>
      <p:bldP spid="9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D5486-D004-48E7-B310-C1B13B8B4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4340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kurikulum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terstruktur</a:t>
            </a:r>
            <a:r>
              <a:rPr lang="en-US" dirty="0"/>
              <a:t>?</a:t>
            </a:r>
            <a:endParaRPr lang="en-ID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C76773F-97D7-4E5F-8CC8-000902F74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841575"/>
            <a:ext cx="8568952" cy="561176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800" dirty="0" err="1"/>
              <a:t>Tujuan</a:t>
            </a:r>
            <a:r>
              <a:rPr lang="en-US" sz="2800" dirty="0"/>
              <a:t> </a:t>
            </a:r>
            <a:r>
              <a:rPr lang="en-US" sz="2800" dirty="0" err="1"/>
              <a:t>mendidik</a:t>
            </a:r>
            <a:r>
              <a:rPr lang="en-US" sz="2800" dirty="0"/>
              <a:t> </a:t>
            </a:r>
            <a:r>
              <a:rPr lang="en-US" sz="2800" dirty="0" err="1"/>
              <a:t>anak</a:t>
            </a:r>
            <a:r>
              <a:rPr lang="en-US" sz="2800" dirty="0"/>
              <a:t> </a:t>
            </a:r>
            <a:r>
              <a:rPr lang="en-US" sz="2800" dirty="0" err="1"/>
              <a:t>adalah</a:t>
            </a:r>
            <a:r>
              <a:rPr lang="en-US" sz="2800" dirty="0"/>
              <a:t> agar </a:t>
            </a:r>
            <a:r>
              <a:rPr lang="en-US" sz="2800" dirty="0" err="1"/>
              <a:t>anak</a:t>
            </a:r>
            <a:r>
              <a:rPr lang="en-US" sz="2800" dirty="0"/>
              <a:t> </a:t>
            </a:r>
            <a:r>
              <a:rPr lang="en-US" sz="2800" dirty="0" err="1"/>
              <a:t>kelak</a:t>
            </a:r>
            <a:r>
              <a:rPr lang="en-US" sz="2800" dirty="0"/>
              <a:t> </a:t>
            </a:r>
            <a:r>
              <a:rPr lang="en-US" sz="2800" dirty="0" err="1"/>
              <a:t>menjadi</a:t>
            </a:r>
            <a:r>
              <a:rPr lang="en-US" sz="2800" dirty="0"/>
              <a:t> </a:t>
            </a:r>
            <a:r>
              <a:rPr lang="en-US" sz="2800" dirty="0" err="1"/>
              <a:t>manusia</a:t>
            </a:r>
            <a:r>
              <a:rPr lang="en-US" sz="2800" dirty="0"/>
              <a:t> yang </a:t>
            </a:r>
            <a:r>
              <a:rPr lang="en-US" sz="2800" dirty="0" err="1"/>
              <a:t>bisa</a:t>
            </a:r>
            <a:r>
              <a:rPr lang="en-US" sz="2800" dirty="0"/>
              <a:t> </a:t>
            </a:r>
            <a:r>
              <a:rPr lang="en-US" sz="2800" dirty="0" err="1"/>
              <a:t>hidup</a:t>
            </a:r>
            <a:r>
              <a:rPr lang="en-US" sz="2800" dirty="0"/>
              <a:t> di dunia </a:t>
            </a:r>
            <a:r>
              <a:rPr lang="en-US" sz="2800" dirty="0" err="1"/>
              <a:t>sesuai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maksud</a:t>
            </a:r>
            <a:r>
              <a:rPr lang="en-US" sz="2800" dirty="0"/>
              <a:t> </a:t>
            </a:r>
            <a:r>
              <a:rPr lang="en-US" sz="2800" dirty="0" err="1"/>
              <a:t>Penciptanya</a:t>
            </a:r>
            <a:r>
              <a:rPr lang="en-US" sz="2800" dirty="0"/>
              <a:t>…</a:t>
            </a:r>
          </a:p>
          <a:p>
            <a:pPr marL="0" indent="0" algn="just">
              <a:buNone/>
            </a:pPr>
            <a:r>
              <a:rPr lang="en-US" sz="2800" dirty="0" err="1"/>
              <a:t>Maka</a:t>
            </a:r>
            <a:r>
              <a:rPr lang="en-US" sz="2800" dirty="0"/>
              <a:t> </a:t>
            </a:r>
            <a:r>
              <a:rPr lang="en-US" sz="2800" dirty="0" err="1"/>
              <a:t>tempat</a:t>
            </a:r>
            <a:r>
              <a:rPr lang="en-US" sz="2800" dirty="0"/>
              <a:t> dan </a:t>
            </a:r>
            <a:r>
              <a:rPr lang="en-US" sz="2800" dirty="0" err="1"/>
              <a:t>metode</a:t>
            </a:r>
            <a:r>
              <a:rPr lang="en-US" sz="2800" dirty="0"/>
              <a:t> Pendidikan yang </a:t>
            </a:r>
            <a:r>
              <a:rPr lang="en-US" sz="2800" dirty="0" err="1"/>
              <a:t>tepat</a:t>
            </a:r>
            <a:r>
              <a:rPr lang="en-US" sz="2800" dirty="0"/>
              <a:t> </a:t>
            </a:r>
            <a:r>
              <a:rPr lang="en-US" sz="2800" dirty="0" err="1"/>
              <a:t>adalah</a:t>
            </a:r>
            <a:r>
              <a:rPr lang="en-US" sz="2800" dirty="0"/>
              <a:t> </a:t>
            </a:r>
            <a:r>
              <a:rPr lang="en-US" sz="2800" dirty="0" err="1"/>
              <a:t>mengikuti</a:t>
            </a:r>
            <a:r>
              <a:rPr lang="en-US" sz="2800" dirty="0"/>
              <a:t> </a:t>
            </a:r>
            <a:r>
              <a:rPr lang="en-US" sz="2800" dirty="0" err="1"/>
              <a:t>apa</a:t>
            </a:r>
            <a:r>
              <a:rPr lang="en-US" sz="2800" dirty="0"/>
              <a:t> yang </a:t>
            </a:r>
            <a:r>
              <a:rPr lang="en-US" sz="2800" dirty="0" err="1"/>
              <a:t>ada</a:t>
            </a:r>
            <a:r>
              <a:rPr lang="en-US" sz="2800" dirty="0"/>
              <a:t> pada </a:t>
            </a:r>
            <a:r>
              <a:rPr lang="en-US" sz="2800" dirty="0" err="1"/>
              <a:t>kehidupan</a:t>
            </a:r>
            <a:r>
              <a:rPr lang="en-US" sz="2800" dirty="0"/>
              <a:t> </a:t>
            </a:r>
            <a:r>
              <a:rPr lang="en-US" sz="2800" dirty="0" err="1"/>
              <a:t>nyata</a:t>
            </a:r>
            <a:r>
              <a:rPr lang="en-US" sz="2800" dirty="0"/>
              <a:t> yang mana </a:t>
            </a:r>
            <a:r>
              <a:rPr lang="en-US" sz="2800" dirty="0" err="1"/>
              <a:t>kelak</a:t>
            </a:r>
            <a:r>
              <a:rPr lang="en-US" sz="2800" dirty="0"/>
              <a:t> </a:t>
            </a:r>
            <a:r>
              <a:rPr lang="en-US" sz="2800" dirty="0" err="1"/>
              <a:t>anak</a:t>
            </a:r>
            <a:r>
              <a:rPr lang="en-US" sz="2800" dirty="0"/>
              <a:t> </a:t>
            </a:r>
            <a:r>
              <a:rPr lang="en-US" sz="2800" dirty="0" err="1"/>
              <a:t>akan</a:t>
            </a:r>
            <a:r>
              <a:rPr lang="en-US" sz="2800" dirty="0"/>
              <a:t> </a:t>
            </a:r>
            <a:r>
              <a:rPr lang="en-US" sz="2800" dirty="0" err="1"/>
              <a:t>hidup</a:t>
            </a:r>
            <a:r>
              <a:rPr lang="en-US" sz="2800" dirty="0"/>
              <a:t> </a:t>
            </a:r>
            <a:r>
              <a:rPr lang="en-US" sz="2800" dirty="0" err="1"/>
              <a:t>didalamnya</a:t>
            </a:r>
            <a:r>
              <a:rPr lang="en-US" sz="2800" dirty="0"/>
              <a:t>.</a:t>
            </a:r>
          </a:p>
          <a:p>
            <a:pPr marL="0" indent="0" algn="just">
              <a:buNone/>
            </a:pPr>
            <a:r>
              <a:rPr lang="en-US" sz="2800" dirty="0" err="1"/>
              <a:t>Sedang</a:t>
            </a:r>
            <a:r>
              <a:rPr lang="en-US" sz="2800" dirty="0"/>
              <a:t> </a:t>
            </a:r>
            <a:r>
              <a:rPr lang="en-US" sz="2800" dirty="0" err="1"/>
              <a:t>kehidupan</a:t>
            </a:r>
            <a:r>
              <a:rPr lang="en-US" sz="2800" dirty="0"/>
              <a:t> dunia </a:t>
            </a:r>
            <a:r>
              <a:rPr lang="en-US" sz="2800" dirty="0" err="1"/>
              <a:t>adalah</a:t>
            </a:r>
            <a:r>
              <a:rPr lang="en-US" sz="2800" dirty="0"/>
              <a:t> </a:t>
            </a:r>
            <a:r>
              <a:rPr lang="en-US" sz="2800" dirty="0" err="1"/>
              <a:t>selalu</a:t>
            </a:r>
            <a:r>
              <a:rPr lang="en-US" sz="2800" dirty="0"/>
              <a:t> </a:t>
            </a:r>
            <a:r>
              <a:rPr lang="en-US" sz="2800" dirty="0" err="1"/>
              <a:t>tidak</a:t>
            </a:r>
            <a:r>
              <a:rPr lang="en-US" sz="2800" dirty="0"/>
              <a:t> </a:t>
            </a:r>
            <a:r>
              <a:rPr lang="en-US" sz="2800" dirty="0" err="1"/>
              <a:t>pasti</a:t>
            </a:r>
            <a:r>
              <a:rPr lang="en-US" sz="2800" dirty="0"/>
              <a:t> (</a:t>
            </a:r>
            <a:r>
              <a:rPr lang="en-US" sz="2800" i="1" dirty="0"/>
              <a:t>live is uncertainty</a:t>
            </a:r>
            <a:r>
              <a:rPr lang="en-US" sz="2800" dirty="0"/>
              <a:t>)</a:t>
            </a:r>
          </a:p>
          <a:p>
            <a:pPr marL="0" indent="0" algn="just">
              <a:buNone/>
            </a:pPr>
            <a:r>
              <a:rPr lang="en-US" sz="2800" dirty="0" err="1"/>
              <a:t>Maka</a:t>
            </a:r>
            <a:r>
              <a:rPr lang="en-US" sz="2800" dirty="0"/>
              <a:t> </a:t>
            </a:r>
            <a:r>
              <a:rPr lang="en-US" sz="2800" dirty="0" err="1"/>
              <a:t>materi</a:t>
            </a:r>
            <a:r>
              <a:rPr lang="en-US" sz="2800" dirty="0"/>
              <a:t> </a:t>
            </a:r>
            <a:r>
              <a:rPr lang="en-US" sz="2800" dirty="0" err="1"/>
              <a:t>kurikulum</a:t>
            </a:r>
            <a:r>
              <a:rPr lang="en-US" sz="2800" dirty="0"/>
              <a:t> Pendidikan </a:t>
            </a:r>
            <a:r>
              <a:rPr lang="en-US" sz="2800" dirty="0" err="1"/>
              <a:t>anak</a:t>
            </a:r>
            <a:r>
              <a:rPr lang="en-US" sz="2800" dirty="0"/>
              <a:t> </a:t>
            </a:r>
            <a:r>
              <a:rPr lang="en-US" sz="2800" dirty="0" err="1"/>
              <a:t>sejatinya</a:t>
            </a:r>
            <a:r>
              <a:rPr lang="en-US" sz="2800" dirty="0"/>
              <a:t> </a:t>
            </a:r>
            <a:r>
              <a:rPr lang="en-US" sz="2800" dirty="0" err="1"/>
              <a:t>tidak</a:t>
            </a:r>
            <a:r>
              <a:rPr lang="en-US" sz="2800" dirty="0"/>
              <a:t>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distrukturisasi</a:t>
            </a:r>
            <a:r>
              <a:rPr lang="en-US" sz="2800" dirty="0"/>
              <a:t>, </a:t>
            </a:r>
          </a:p>
          <a:p>
            <a:pPr marL="0" indent="0" algn="just">
              <a:buNone/>
            </a:pPr>
            <a:r>
              <a:rPr lang="en-US" sz="2800" dirty="0" err="1"/>
              <a:t>Kecuali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materi</a:t>
            </a:r>
            <a:r>
              <a:rPr lang="en-US" sz="2800" dirty="0"/>
              <a:t> </a:t>
            </a:r>
            <a:r>
              <a:rPr lang="en-US" sz="2800" dirty="0" err="1"/>
              <a:t>kurikulum</a:t>
            </a:r>
            <a:r>
              <a:rPr lang="en-US" sz="2800" dirty="0"/>
              <a:t> yang </a:t>
            </a:r>
            <a:r>
              <a:rPr lang="en-US" sz="2800" dirty="0" err="1"/>
              <a:t>sudah</a:t>
            </a:r>
            <a:r>
              <a:rPr lang="en-US" sz="2800" dirty="0"/>
              <a:t> </a:t>
            </a:r>
            <a:r>
              <a:rPr lang="en-US" sz="2800" dirty="0" err="1"/>
              <a:t>penjurusan</a:t>
            </a:r>
            <a:r>
              <a:rPr lang="en-US" sz="2800" dirty="0"/>
              <a:t> yang </a:t>
            </a:r>
            <a:r>
              <a:rPr lang="en-US" sz="2800" dirty="0" err="1"/>
              <a:t>metodenya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i="1" dirty="0" err="1"/>
              <a:t>mulazamah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145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D5486-D004-48E7-B310-C1B13B8B4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34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Pendidikan, </a:t>
            </a:r>
            <a:r>
              <a:rPr lang="en-US" dirty="0" err="1"/>
              <a:t>Pemaksaan</a:t>
            </a:r>
            <a:r>
              <a:rPr lang="en-US" dirty="0"/>
              <a:t>, &amp; </a:t>
            </a:r>
            <a:r>
              <a:rPr lang="en-US" dirty="0" err="1"/>
              <a:t>Pembiaran</a:t>
            </a:r>
            <a:endParaRPr lang="en-ID" dirty="0"/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C84B7A96-F958-4537-81FF-686B07772331}"/>
              </a:ext>
            </a:extLst>
          </p:cNvPr>
          <p:cNvSpPr/>
          <p:nvPr/>
        </p:nvSpPr>
        <p:spPr>
          <a:xfrm>
            <a:off x="827584" y="5419169"/>
            <a:ext cx="7488832" cy="576064"/>
          </a:xfrm>
          <a:prstGeom prst="left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713F287-A6B8-4265-B466-7C6E64C17048}"/>
              </a:ext>
            </a:extLst>
          </p:cNvPr>
          <p:cNvSpPr txBox="1">
            <a:spLocks/>
          </p:cNvSpPr>
          <p:nvPr/>
        </p:nvSpPr>
        <p:spPr>
          <a:xfrm>
            <a:off x="6660232" y="5670376"/>
            <a:ext cx="230523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 err="1">
                <a:solidFill>
                  <a:prstClr val="black"/>
                </a:solidFill>
                <a:latin typeface="Calibri"/>
              </a:rPr>
              <a:t>Pemaksaan</a:t>
            </a:r>
            <a:endParaRPr kumimoji="0" lang="en-ID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6DCCA8CC-DC10-4713-BB3B-C26DE036CDC7}"/>
              </a:ext>
            </a:extLst>
          </p:cNvPr>
          <p:cNvSpPr/>
          <p:nvPr/>
        </p:nvSpPr>
        <p:spPr>
          <a:xfrm>
            <a:off x="7236296" y="4699089"/>
            <a:ext cx="432048" cy="864096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616C3F0-1988-491A-A55D-8A91986B570C}"/>
              </a:ext>
            </a:extLst>
          </p:cNvPr>
          <p:cNvSpPr txBox="1">
            <a:spLocks/>
          </p:cNvSpPr>
          <p:nvPr/>
        </p:nvSpPr>
        <p:spPr>
          <a:xfrm>
            <a:off x="6367028" y="3861048"/>
            <a:ext cx="217058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Calibri"/>
              </a:rPr>
              <a:t>PENDIDIKAN</a:t>
            </a:r>
            <a:endParaRPr kumimoji="0" lang="en-ID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9C86679-0438-4E3B-831C-B9176822A96A}"/>
              </a:ext>
            </a:extLst>
          </p:cNvPr>
          <p:cNvSpPr txBox="1">
            <a:spLocks/>
          </p:cNvSpPr>
          <p:nvPr/>
        </p:nvSpPr>
        <p:spPr>
          <a:xfrm>
            <a:off x="179512" y="5645651"/>
            <a:ext cx="230523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 err="1">
                <a:solidFill>
                  <a:prstClr val="black"/>
                </a:solidFill>
                <a:latin typeface="Calibri"/>
              </a:rPr>
              <a:t>Pembiaran</a:t>
            </a:r>
            <a:endParaRPr kumimoji="0" lang="en-ID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50A6E7-DA0F-477F-AF80-A0C04A05BD24}"/>
              </a:ext>
            </a:extLst>
          </p:cNvPr>
          <p:cNvSpPr/>
          <p:nvPr/>
        </p:nvSpPr>
        <p:spPr>
          <a:xfrm>
            <a:off x="551629" y="1216438"/>
            <a:ext cx="131939" cy="445393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DBE3CF0-0FDD-4125-BE87-77C19D295A10}"/>
              </a:ext>
            </a:extLst>
          </p:cNvPr>
          <p:cNvSpPr txBox="1">
            <a:spLocks/>
          </p:cNvSpPr>
          <p:nvPr/>
        </p:nvSpPr>
        <p:spPr>
          <a:xfrm>
            <a:off x="1511170" y="4509120"/>
            <a:ext cx="2305236" cy="649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noProof="0" dirty="0">
                <a:solidFill>
                  <a:prstClr val="black"/>
                </a:solidFill>
                <a:latin typeface="Calibri"/>
              </a:rPr>
              <a:t>Ego </a:t>
            </a:r>
            <a:r>
              <a:rPr lang="en-US" sz="3200" noProof="0" dirty="0" err="1">
                <a:solidFill>
                  <a:prstClr val="black"/>
                </a:solidFill>
                <a:latin typeface="Calibri"/>
              </a:rPr>
              <a:t>anak</a:t>
            </a:r>
            <a:endParaRPr kumimoji="0" lang="en-ID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8BD0E922-DBA3-48BD-AB04-C98D992B4A32}"/>
              </a:ext>
            </a:extLst>
          </p:cNvPr>
          <p:cNvSpPr/>
          <p:nvPr/>
        </p:nvSpPr>
        <p:spPr>
          <a:xfrm flipH="1">
            <a:off x="683568" y="4773180"/>
            <a:ext cx="1044606" cy="216024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02618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5" presetClass="path" presetSubtype="0" repeatCount="indefinite" autoRev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1.85185E-6 L -0.59844 1.85185E-6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931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35" presetClass="path" presetSubtype="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3.7037E-6 L -0.59844 -0.0007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931" y="-46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64" presetClass="path" presetSubtype="0" repeatCount="indefinite" autoRev="1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5.55556E-7 3.7037E-7 L -0.00608 -0.49583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3" y="-24792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64" presetClass="path" presetSubtype="0" repeatCount="indefinite" autoRev="1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4.44444E-6 4.44444E-6 L -4.44444E-6 -0.50139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50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/>
      <p:bldP spid="9" grpId="1"/>
      <p:bldP spid="3" grpId="0" animBg="1"/>
      <p:bldP spid="12" grpId="1"/>
      <p:bldP spid="12" grpId="2"/>
      <p:bldP spid="5" grpId="0" animBg="1"/>
      <p:bldP spid="5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flipV="1">
            <a:off x="1295400" y="3643314"/>
            <a:ext cx="5919806" cy="14286"/>
          </a:xfrm>
          <a:prstGeom prst="line">
            <a:avLst/>
          </a:prstGeom>
          <a:ln w="762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lowchart: Connector 7"/>
          <p:cNvSpPr/>
          <p:nvPr/>
        </p:nvSpPr>
        <p:spPr>
          <a:xfrm>
            <a:off x="4071934" y="4843474"/>
            <a:ext cx="515694" cy="51435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Up Arrow 8"/>
          <p:cNvSpPr/>
          <p:nvPr/>
        </p:nvSpPr>
        <p:spPr>
          <a:xfrm>
            <a:off x="4143372" y="3786190"/>
            <a:ext cx="372046" cy="990600"/>
          </a:xfrm>
          <a:prstGeom prst="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Up Arrow 9"/>
          <p:cNvSpPr/>
          <p:nvPr/>
        </p:nvSpPr>
        <p:spPr>
          <a:xfrm>
            <a:off x="4143372" y="1828800"/>
            <a:ext cx="356620" cy="990600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2100258" y="4071942"/>
            <a:ext cx="1828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APA MASALAHNYA?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2209800" y="2514600"/>
            <a:ext cx="1828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APA POTENSINYA?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257800" y="3862992"/>
            <a:ext cx="18288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RECOVERY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BERBASIS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MASALAH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5072066" y="2209800"/>
            <a:ext cx="217172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RECOVERY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BERBASIS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FITRAH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1714480" y="5578634"/>
            <a:ext cx="539117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RECOVERY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7215206" y="3357562"/>
            <a:ext cx="11430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ETIKA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6215074" y="1395699"/>
            <a:ext cx="228601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KARAKTER</a:t>
            </a:r>
          </a:p>
        </p:txBody>
      </p:sp>
      <p:cxnSp>
        <p:nvCxnSpPr>
          <p:cNvPr id="17" name="Straight Connector 16"/>
          <p:cNvCxnSpPr/>
          <p:nvPr/>
        </p:nvCxnSpPr>
        <p:spPr>
          <a:xfrm flipV="1">
            <a:off x="1357290" y="1628764"/>
            <a:ext cx="5143536" cy="14286"/>
          </a:xfrm>
          <a:prstGeom prst="line">
            <a:avLst/>
          </a:prstGeom>
          <a:ln w="762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owchart: Connector 18"/>
          <p:cNvSpPr/>
          <p:nvPr/>
        </p:nvSpPr>
        <p:spPr>
          <a:xfrm>
            <a:off x="4071934" y="2928934"/>
            <a:ext cx="500066" cy="514352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Up Arrow 22"/>
          <p:cNvSpPr/>
          <p:nvPr/>
        </p:nvSpPr>
        <p:spPr>
          <a:xfrm>
            <a:off x="7429520" y="3867160"/>
            <a:ext cx="357190" cy="1490666"/>
          </a:xfrm>
          <a:prstGeom prst="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Up Arrow 23"/>
          <p:cNvSpPr/>
          <p:nvPr/>
        </p:nvSpPr>
        <p:spPr>
          <a:xfrm>
            <a:off x="7429520" y="1857364"/>
            <a:ext cx="357190" cy="1500198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 rot="5400000">
            <a:off x="7095958" y="4582404"/>
            <a:ext cx="190020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TIDAK MENGGANGGU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 rot="5400000">
            <a:off x="7185558" y="2560731"/>
            <a:ext cx="171451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BERMANFAAT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7C6919-8C7E-4561-A799-174EBFC45468}"/>
              </a:ext>
            </a:extLst>
          </p:cNvPr>
          <p:cNvSpPr txBox="1"/>
          <p:nvPr/>
        </p:nvSpPr>
        <p:spPr>
          <a:xfrm>
            <a:off x="698132" y="116632"/>
            <a:ext cx="79783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glow rad="228600">
                    <a:prstClr val="white"/>
                  </a:glow>
                </a:effectLst>
                <a:uLnTx/>
                <a:uFillTx/>
                <a:latin typeface="Bahnschrift Light Condensed" panose="020B0502040204020203" pitchFamily="34" charset="0"/>
                <a:ea typeface="+mn-ea"/>
                <a:cs typeface="+mn-cs"/>
              </a:rPr>
              <a:t>Metode</a:t>
            </a: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glow rad="228600">
                    <a:prstClr val="white"/>
                  </a:glow>
                </a:effectLst>
                <a:uLnTx/>
                <a:uFillTx/>
                <a:latin typeface="Bahnschrift Light Condensed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sz="4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glow rad="228600">
                    <a:prstClr val="white"/>
                  </a:glow>
                </a:effectLst>
                <a:uLnTx/>
                <a:uFillTx/>
                <a:latin typeface="Bahnschrift Light Condensed" panose="020B0502040204020203" pitchFamily="34" charset="0"/>
                <a:ea typeface="+mn-ea"/>
                <a:cs typeface="+mn-cs"/>
              </a:rPr>
              <a:t>penanganan</a:t>
            </a: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glow rad="228600">
                    <a:prstClr val="white"/>
                  </a:glow>
                </a:effectLst>
                <a:uLnTx/>
                <a:uFillTx/>
                <a:latin typeface="Bahnschrift Light Condensed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sz="4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glow rad="228600">
                    <a:prstClr val="white"/>
                  </a:glow>
                </a:effectLst>
                <a:uLnTx/>
                <a:uFillTx/>
                <a:latin typeface="Bahnschrift Light Condensed" panose="020B0502040204020203" pitchFamily="34" charset="0"/>
                <a:ea typeface="+mn-ea"/>
                <a:cs typeface="+mn-cs"/>
              </a:rPr>
              <a:t>anak</a:t>
            </a: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glow rad="228600">
                    <a:prstClr val="white"/>
                  </a:glow>
                </a:effectLst>
                <a:uLnTx/>
                <a:uFillTx/>
                <a:latin typeface="Bahnschrift Light Condensed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sz="4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glow rad="228600">
                    <a:prstClr val="white"/>
                  </a:glow>
                </a:effectLst>
                <a:uLnTx/>
                <a:uFillTx/>
                <a:latin typeface="Bahnschrift Light Condensed" panose="020B0502040204020203" pitchFamily="34" charset="0"/>
                <a:ea typeface="+mn-ea"/>
                <a:cs typeface="+mn-cs"/>
              </a:rPr>
              <a:t>bermasalah</a:t>
            </a:r>
            <a:endParaRPr kumimoji="0" lang="en-ID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glow rad="228600">
                  <a:prstClr val="white"/>
                </a:glo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3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/>
      <p:bldP spid="12" grpId="0"/>
      <p:bldP spid="13" grpId="0"/>
      <p:bldP spid="14" grpId="0"/>
      <p:bldP spid="16" grpId="0"/>
      <p:bldP spid="18" grpId="0"/>
      <p:bldP spid="19" grpId="0" animBg="1"/>
      <p:bldP spid="23" grpId="0" animBg="1"/>
      <p:bldP spid="24" grpId="0" animBg="1"/>
      <p:bldP spid="25" grpId="0"/>
      <p:bldP spid="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2627784" y="3659832"/>
            <a:ext cx="1728192" cy="0"/>
          </a:xfrm>
          <a:prstGeom prst="line">
            <a:avLst/>
          </a:prstGeom>
          <a:ln w="762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Up Arrow 8"/>
          <p:cNvSpPr/>
          <p:nvPr/>
        </p:nvSpPr>
        <p:spPr>
          <a:xfrm>
            <a:off x="2842098" y="3786189"/>
            <a:ext cx="372046" cy="2896365"/>
          </a:xfrm>
          <a:prstGeom prst="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Up Arrow 9"/>
          <p:cNvSpPr/>
          <p:nvPr/>
        </p:nvSpPr>
        <p:spPr>
          <a:xfrm>
            <a:off x="2842098" y="1251101"/>
            <a:ext cx="356620" cy="2282375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4499992" y="3405640"/>
            <a:ext cx="17699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ETIKA KERJA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4355976" y="902406"/>
            <a:ext cx="228601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BERKARAKTER</a:t>
            </a:r>
          </a:p>
        </p:txBody>
      </p:sp>
      <p:cxnSp>
        <p:nvCxnSpPr>
          <p:cNvPr id="17" name="Straight Connector 16"/>
          <p:cNvCxnSpPr>
            <a:cxnSpLocks/>
          </p:cNvCxnSpPr>
          <p:nvPr/>
        </p:nvCxnSpPr>
        <p:spPr>
          <a:xfrm>
            <a:off x="2627784" y="1124744"/>
            <a:ext cx="1728192" cy="0"/>
          </a:xfrm>
          <a:prstGeom prst="line">
            <a:avLst/>
          </a:prstGeom>
          <a:ln w="762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>
            <a:spLocks noChangeArrowheads="1"/>
          </p:cNvSpPr>
          <p:nvPr/>
        </p:nvSpPr>
        <p:spPr bwMode="auto">
          <a:xfrm rot="16200000" flipH="1">
            <a:off x="2535681" y="4890875"/>
            <a:ext cx="190020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TIDAK MENGGANGGU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 rot="16200000" flipH="1">
            <a:off x="2474640" y="2112274"/>
            <a:ext cx="171451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BERMANFAAT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7C6919-8C7E-4561-A799-174EBFC45468}"/>
              </a:ext>
            </a:extLst>
          </p:cNvPr>
          <p:cNvSpPr txBox="1"/>
          <p:nvPr/>
        </p:nvSpPr>
        <p:spPr>
          <a:xfrm>
            <a:off x="2990450" y="22953"/>
            <a:ext cx="31518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glow rad="228600">
                    <a:prstClr val="white"/>
                  </a:glow>
                </a:effectLst>
                <a:uLnTx/>
                <a:uFillTx/>
                <a:latin typeface="Bahnschrift Light Condensed" panose="020B0502040204020203" pitchFamily="34" charset="0"/>
                <a:ea typeface="+mn-ea"/>
                <a:cs typeface="+mn-cs"/>
              </a:rPr>
              <a:t>PROFIL GURU</a:t>
            </a:r>
            <a:endParaRPr kumimoji="0" lang="en-ID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glow rad="228600">
                  <a:prstClr val="white"/>
                </a:glo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A41F65C-8071-452A-B9D6-84EA623164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449" y="166328"/>
            <a:ext cx="1080120" cy="655272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A55A84E-77B0-4300-A3E5-8AA81CAA14B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41457" y="3573016"/>
            <a:ext cx="1418456" cy="2896368"/>
          </a:xfrm>
          <a:prstGeom prst="rect">
            <a:avLst/>
          </a:prstGeom>
        </p:spPr>
      </p:pic>
      <p:sp>
        <p:nvSpPr>
          <p:cNvPr id="37" name="Speech Bubble: Rectangle with Corners Rounded 36">
            <a:extLst>
              <a:ext uri="{FF2B5EF4-FFF2-40B4-BE49-F238E27FC236}">
                <a16:creationId xmlns:a16="http://schemas.microsoft.com/office/drawing/2014/main" id="{02AA1B76-A575-4525-8BBA-D6980107E43E}"/>
              </a:ext>
            </a:extLst>
          </p:cNvPr>
          <p:cNvSpPr/>
          <p:nvPr/>
        </p:nvSpPr>
        <p:spPr>
          <a:xfrm>
            <a:off x="6142259" y="3867305"/>
            <a:ext cx="2765951" cy="2041569"/>
          </a:xfrm>
          <a:prstGeom prst="wedgeRoundRectCallout">
            <a:avLst>
              <a:gd name="adj1" fmla="val -65524"/>
              <a:gd name="adj2" fmla="val -52340"/>
              <a:gd name="adj3" fmla="val 166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Melaksanakan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kewajiban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berdasar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akad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yang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disepakati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dengan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lembaga</a:t>
            </a:r>
            <a:endParaRPr kumimoji="0" lang="en-ID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Speech Bubble: Rectangle with Corners Rounded 39">
            <a:extLst>
              <a:ext uri="{FF2B5EF4-FFF2-40B4-BE49-F238E27FC236}">
                <a16:creationId xmlns:a16="http://schemas.microsoft.com/office/drawing/2014/main" id="{9DEAA1D2-BF18-4ECB-99BC-173DEB041C29}"/>
              </a:ext>
            </a:extLst>
          </p:cNvPr>
          <p:cNvSpPr/>
          <p:nvPr/>
        </p:nvSpPr>
        <p:spPr>
          <a:xfrm>
            <a:off x="6259405" y="1311155"/>
            <a:ext cx="2602869" cy="2041569"/>
          </a:xfrm>
          <a:prstGeom prst="wedgeRoundRectCallout">
            <a:avLst>
              <a:gd name="adj1" fmla="val -71698"/>
              <a:gd name="adj2" fmla="val -49075"/>
              <a:gd name="adj3" fmla="val 1666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Memberikan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kebermanfaatan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semaksimal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mungkin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kepada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anak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didiknya</a:t>
            </a:r>
            <a:endParaRPr kumimoji="0" lang="en-ID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4471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30324 L 1.11111E-6 1.48148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4.07407E-6 L -0.00104 -0.51991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259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6" grpId="0"/>
      <p:bldP spid="18" grpId="0"/>
      <p:bldP spid="25" grpId="0"/>
      <p:bldP spid="26" grpId="0"/>
      <p:bldP spid="37" grpId="0" animBg="1"/>
      <p:bldP spid="4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2627784" y="3659832"/>
            <a:ext cx="1728192" cy="0"/>
          </a:xfrm>
          <a:prstGeom prst="line">
            <a:avLst/>
          </a:prstGeom>
          <a:ln w="762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Up Arrow 8"/>
          <p:cNvSpPr/>
          <p:nvPr/>
        </p:nvSpPr>
        <p:spPr>
          <a:xfrm>
            <a:off x="2842098" y="3786189"/>
            <a:ext cx="372046" cy="2896365"/>
          </a:xfrm>
          <a:prstGeom prst="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Up Arrow 9"/>
          <p:cNvSpPr/>
          <p:nvPr/>
        </p:nvSpPr>
        <p:spPr>
          <a:xfrm>
            <a:off x="2842098" y="1251101"/>
            <a:ext cx="356620" cy="2282375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4372266" y="3405640"/>
            <a:ext cx="195728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ETIKA (ADAB)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4355976" y="902406"/>
            <a:ext cx="28879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KARAKTER (AKHLAQ)</a:t>
            </a:r>
          </a:p>
        </p:txBody>
      </p:sp>
      <p:cxnSp>
        <p:nvCxnSpPr>
          <p:cNvPr id="17" name="Straight Connector 16"/>
          <p:cNvCxnSpPr>
            <a:cxnSpLocks/>
          </p:cNvCxnSpPr>
          <p:nvPr/>
        </p:nvCxnSpPr>
        <p:spPr>
          <a:xfrm>
            <a:off x="2627784" y="1124744"/>
            <a:ext cx="1728192" cy="0"/>
          </a:xfrm>
          <a:prstGeom prst="line">
            <a:avLst/>
          </a:prstGeom>
          <a:ln w="762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>
            <a:spLocks noChangeArrowheads="1"/>
          </p:cNvSpPr>
          <p:nvPr/>
        </p:nvSpPr>
        <p:spPr bwMode="auto">
          <a:xfrm rot="16200000" flipH="1">
            <a:off x="2535681" y="4890875"/>
            <a:ext cx="190020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TIDAK MENGGANGGU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 rot="16200000" flipH="1">
            <a:off x="2474640" y="2112274"/>
            <a:ext cx="171451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BERMANFAAT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7C6919-8C7E-4561-A799-174EBFC45468}"/>
              </a:ext>
            </a:extLst>
          </p:cNvPr>
          <p:cNvSpPr txBox="1"/>
          <p:nvPr/>
        </p:nvSpPr>
        <p:spPr>
          <a:xfrm>
            <a:off x="2990450" y="22953"/>
            <a:ext cx="31518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glow rad="228600">
                    <a:prstClr val="white"/>
                  </a:glow>
                </a:effectLst>
                <a:uLnTx/>
                <a:uFillTx/>
                <a:latin typeface="Bahnschrift Light Condensed" panose="020B0502040204020203" pitchFamily="34" charset="0"/>
                <a:ea typeface="+mn-ea"/>
                <a:cs typeface="+mn-cs"/>
              </a:rPr>
              <a:t>Adab</a:t>
            </a: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glow rad="228600">
                    <a:prstClr val="white"/>
                  </a:glow>
                </a:effectLst>
                <a:uLnTx/>
                <a:uFillTx/>
                <a:latin typeface="Bahnschrift Light Condensed" panose="020B0502040204020203" pitchFamily="34" charset="0"/>
                <a:ea typeface="+mn-ea"/>
                <a:cs typeface="+mn-cs"/>
              </a:rPr>
              <a:t> &amp; </a:t>
            </a:r>
            <a:r>
              <a:rPr kumimoji="0" lang="en-US" sz="4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glow rad="228600">
                    <a:prstClr val="white"/>
                  </a:glow>
                </a:effectLst>
                <a:uLnTx/>
                <a:uFillTx/>
                <a:latin typeface="Bahnschrift Light Condensed" panose="020B0502040204020203" pitchFamily="34" charset="0"/>
                <a:ea typeface="+mn-ea"/>
                <a:cs typeface="+mn-cs"/>
              </a:rPr>
              <a:t>akhlaq</a:t>
            </a:r>
            <a:endParaRPr kumimoji="0" lang="en-ID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glow rad="228600">
                  <a:prstClr val="white"/>
                </a:glo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A41F65C-8071-452A-B9D6-84EA623164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449" y="166328"/>
            <a:ext cx="1080120" cy="655272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A55A84E-77B0-4300-A3E5-8AA81CAA14B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41457" y="3573016"/>
            <a:ext cx="1418456" cy="2896368"/>
          </a:xfrm>
          <a:prstGeom prst="rect">
            <a:avLst/>
          </a:prstGeom>
        </p:spPr>
      </p:pic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09972CE4-72DF-47D7-8CEB-1E15117B0B0C}"/>
              </a:ext>
            </a:extLst>
          </p:cNvPr>
          <p:cNvSpPr/>
          <p:nvPr/>
        </p:nvSpPr>
        <p:spPr>
          <a:xfrm>
            <a:off x="4904507" y="3942608"/>
            <a:ext cx="3546297" cy="2728071"/>
          </a:xfrm>
          <a:prstGeom prst="wedgeRoundRectCallout">
            <a:avLst>
              <a:gd name="adj1" fmla="val -70247"/>
              <a:gd name="adj2" fmla="val -22675"/>
              <a:gd name="adj3" fmla="val 166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ADAB: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Makin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tidak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mengganggu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makin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beradab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Kebermanfaatannya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untuk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diri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sendiri</a:t>
            </a:r>
            <a:endParaRPr kumimoji="0" lang="en-ID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peech Bubble: Rectangle with Corners Rounded 18">
            <a:extLst>
              <a:ext uri="{FF2B5EF4-FFF2-40B4-BE49-F238E27FC236}">
                <a16:creationId xmlns:a16="http://schemas.microsoft.com/office/drawing/2014/main" id="{6695879E-EDA5-4283-8299-4BD4ADAB92D4}"/>
              </a:ext>
            </a:extLst>
          </p:cNvPr>
          <p:cNvSpPr/>
          <p:nvPr/>
        </p:nvSpPr>
        <p:spPr>
          <a:xfrm>
            <a:off x="4904507" y="1439374"/>
            <a:ext cx="3537393" cy="2041569"/>
          </a:xfrm>
          <a:prstGeom prst="wedgeRoundRectCallout">
            <a:avLst>
              <a:gd name="adj1" fmla="val -68076"/>
              <a:gd name="adj2" fmla="val -24063"/>
              <a:gd name="adj3" fmla="val 1666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AKHLAQ: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Makin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bermanfaat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untuk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orang lain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makin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berakhlaq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447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30324 L 1.11111E-6 1.48148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4.07407E-6 L -0.00104 -0.51991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259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6" grpId="0"/>
      <p:bldP spid="18" grpId="0"/>
      <p:bldP spid="25" grpId="0"/>
      <p:bldP spid="26" grpId="0"/>
      <p:bldP spid="15" grpId="0" animBg="1"/>
      <p:bldP spid="1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6B2812-349E-4B0B-A381-FDAE47A79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767" y="0"/>
            <a:ext cx="8537473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EAE494-A793-4F27-8E32-72242E1F9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</a:rPr>
              <a:t>Penumbuhan</a:t>
            </a:r>
            <a:r>
              <a:rPr lang="en-US" dirty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</a:rPr>
              <a:t>Cinta</a:t>
            </a:r>
            <a:endParaRPr lang="en-ID" dirty="0">
              <a:solidFill>
                <a:srgbClr val="FFFF00"/>
              </a:solidFill>
              <a:effectLst>
                <a:glow rad="127000">
                  <a:schemeClr val="tx1"/>
                </a:glo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27619-5D51-4513-A6D2-6EE40F140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Cinta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tidak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dapat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diajarkan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,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karena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cinta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bisa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menular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tanpa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disengaja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Cinta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tidak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dapat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ditumbuhkan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dengan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akal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,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tetapi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hanya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dapat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ditumbuhkan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dengan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hati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Akal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tidak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dapat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mengalahkan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cinta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,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tetapi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cintalah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yang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akan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mengalahkan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akal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Cinta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tidak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tumbuh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dengan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nasehat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lisan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,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pendisiplinan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,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paksaan,atau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hukuman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,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tetapi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cinta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tumbuh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karena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kekaguman</a:t>
            </a:r>
            <a:r>
              <a:rPr lang="en-US" dirty="0">
                <a:solidFill>
                  <a:schemeClr val="bg1"/>
                </a:solidFill>
                <a:effectLst>
                  <a:glow rad="177800">
                    <a:schemeClr val="tx1"/>
                  </a:glow>
                </a:effectLst>
              </a:rPr>
              <a:t>.</a:t>
            </a:r>
            <a:endParaRPr lang="en-ID" dirty="0">
              <a:solidFill>
                <a:schemeClr val="bg1"/>
              </a:solidFill>
              <a:effectLst>
                <a:glow rad="177800">
                  <a:schemeClr val="tx1"/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0557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13165</TotalTime>
  <Words>1037</Words>
  <Application>Microsoft Office PowerPoint</Application>
  <PresentationFormat>On-screen Show (4:3)</PresentationFormat>
  <Paragraphs>199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Bahnschrift Light Condensed</vt:lpstr>
      <vt:lpstr>Calibri</vt:lpstr>
      <vt:lpstr>Calibri Light</vt:lpstr>
      <vt:lpstr>Wingdings</vt:lpstr>
      <vt:lpstr>Office Theme</vt:lpstr>
      <vt:lpstr>1_Office Theme</vt:lpstr>
      <vt:lpstr>3_Office Theme</vt:lpstr>
      <vt:lpstr>Pendidikan Karakter Nabawiyah  =  Pendidikan rumah?</vt:lpstr>
      <vt:lpstr>مَالَا يُدْرَكُ كُلُّهُ لَا يُتْرَكُ كُلُّهُ</vt:lpstr>
      <vt:lpstr>Note …</vt:lpstr>
      <vt:lpstr>8 STANDAR IMPLEMENTASI PENDIDIKAN KARAKTER NABAWIYAH</vt:lpstr>
      <vt:lpstr>1. Standar Tujuan</vt:lpstr>
      <vt:lpstr>2. Standar Perencanaan</vt:lpstr>
      <vt:lpstr>3. Standar Pelaksanaan</vt:lpstr>
      <vt:lpstr>4. Standar Percepatan</vt:lpstr>
      <vt:lpstr>5. Standar Evaluasi dan Perbaikan</vt:lpstr>
      <vt:lpstr>6. Standar Pendidik</vt:lpstr>
      <vt:lpstr>7. Standar Wali Santri</vt:lpstr>
      <vt:lpstr>8. Standar Khusus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Idealisme atau Pasar?</vt:lpstr>
      <vt:lpstr>Apakah kurikulum harus terstruktur?</vt:lpstr>
      <vt:lpstr>Pendidikan, Pemaksaan, &amp; Pembiaran</vt:lpstr>
      <vt:lpstr>PowerPoint Presentation</vt:lpstr>
      <vt:lpstr>PowerPoint Presentation</vt:lpstr>
      <vt:lpstr>PowerPoint Presentation</vt:lpstr>
      <vt:lpstr>Penumbuhan Cinta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FITRAH KEMANUSIAAN</dc:title>
  <dc:creator>Administrator</dc:creator>
  <cp:lastModifiedBy>Kholik</cp:lastModifiedBy>
  <cp:revision>1176</cp:revision>
  <dcterms:created xsi:type="dcterms:W3CDTF">2016-03-06T02:59:01Z</dcterms:created>
  <dcterms:modified xsi:type="dcterms:W3CDTF">2023-05-20T07:12:34Z</dcterms:modified>
</cp:coreProperties>
</file>