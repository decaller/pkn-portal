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6"/>
  </p:notesMasterIdLst>
  <p:sldIdLst>
    <p:sldId id="327" r:id="rId3"/>
    <p:sldId id="548" r:id="rId4"/>
    <p:sldId id="372" r:id="rId5"/>
    <p:sldId id="413" r:id="rId6"/>
    <p:sldId id="373" r:id="rId7"/>
    <p:sldId id="414" r:id="rId8"/>
    <p:sldId id="537" r:id="rId9"/>
    <p:sldId id="538" r:id="rId10"/>
    <p:sldId id="539" r:id="rId11"/>
    <p:sldId id="540" r:id="rId12"/>
    <p:sldId id="545" r:id="rId13"/>
    <p:sldId id="415" r:id="rId14"/>
    <p:sldId id="416" r:id="rId15"/>
    <p:sldId id="452" r:id="rId16"/>
    <p:sldId id="453" r:id="rId17"/>
    <p:sldId id="541" r:id="rId18"/>
    <p:sldId id="546" r:id="rId19"/>
    <p:sldId id="542" r:id="rId20"/>
    <p:sldId id="418" r:id="rId21"/>
    <p:sldId id="420" r:id="rId22"/>
    <p:sldId id="454" r:id="rId23"/>
    <p:sldId id="455" r:id="rId24"/>
    <p:sldId id="543" r:id="rId25"/>
    <p:sldId id="547" r:id="rId26"/>
    <p:sldId id="544" r:id="rId27"/>
    <p:sldId id="423" r:id="rId28"/>
    <p:sldId id="504" r:id="rId29"/>
    <p:sldId id="501" r:id="rId30"/>
    <p:sldId id="506" r:id="rId31"/>
    <p:sldId id="508" r:id="rId32"/>
    <p:sldId id="510" r:id="rId33"/>
    <p:sldId id="511" r:id="rId34"/>
    <p:sldId id="512"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5" d="100"/>
          <a:sy n="65" d="100"/>
        </p:scale>
        <p:origin x="1452" y="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894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F844728-F934-4FC1-93ED-9F593B83F6E9}" type="datetimeFigureOut">
              <a:rPr lang="en-US" smtClean="0"/>
              <a:pPr/>
              <a:t>12/24/2023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FFBB420-94A2-40D8-8077-066D2D8CCAE4}" type="slidenum">
              <a:rPr lang="en-US" smtClean="0"/>
              <a:pPr/>
              <a:t>‹#›</a:t>
            </a:fld>
            <a:endParaRPr lang="en-US"/>
          </a:p>
        </p:txBody>
      </p:sp>
    </p:spTree>
    <p:extLst>
      <p:ext uri="{BB962C8B-B14F-4D97-AF65-F5344CB8AC3E}">
        <p14:creationId xmlns:p14="http://schemas.microsoft.com/office/powerpoint/2010/main" val="3947161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FFBB420-94A2-40D8-8077-066D2D8CCAE4}" type="slidenum">
              <a:rPr lang="en-US" smtClean="0"/>
              <a:pPr/>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FFBB420-94A2-40D8-8077-066D2D8CCAE4}" type="slidenum">
              <a:rPr lang="en-US" smtClean="0"/>
              <a:pPr/>
              <a:t>5</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FFBB420-94A2-40D8-8077-066D2D8CCAE4}" type="slidenum">
              <a:rPr lang="en-US" smtClean="0"/>
              <a:pPr/>
              <a:t>6</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FFBB420-94A2-40D8-8077-066D2D8CCAE4}" type="slidenum">
              <a:rPr lang="en-US" smtClean="0"/>
              <a:pPr/>
              <a:t>15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FFBB420-94A2-40D8-8077-066D2D8CCAE4}" type="slidenum">
              <a:rPr lang="en-US" smtClean="0"/>
              <a:pPr/>
              <a:t>22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1D5360B-AD57-4C32-9801-2180D7F79732}" type="datetimeFigureOut">
              <a:rPr lang="en-US" smtClean="0"/>
              <a:pPr/>
              <a:t>12/24/2023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2D4EF8-0277-4095-9C3C-FE10188412D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1D5360B-AD57-4C32-9801-2180D7F79732}" type="datetimeFigureOut">
              <a:rPr lang="en-US" smtClean="0"/>
              <a:pPr/>
              <a:t>12/24/2023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2D4EF8-0277-4095-9C3C-FE10188412D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1D5360B-AD57-4C32-9801-2180D7F79732}" type="datetimeFigureOut">
              <a:rPr lang="en-US" smtClean="0"/>
              <a:pPr/>
              <a:t>12/24/2023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2D4EF8-0277-4095-9C3C-FE10188412DF}"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1D5360B-AD57-4C32-9801-2180D7F79732}" type="datetimeFigureOut">
              <a:rPr lang="en-US" smtClean="0"/>
              <a:pPr/>
              <a:t>12/24/2023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2D4EF8-0277-4095-9C3C-FE10188412D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1D5360B-AD57-4C32-9801-2180D7F79732}" type="datetimeFigureOut">
              <a:rPr lang="en-US" smtClean="0"/>
              <a:pPr/>
              <a:t>12/24/2023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32D4EF8-0277-4095-9C3C-FE10188412D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1D5360B-AD57-4C32-9801-2180D7F79732}" type="datetimeFigureOut">
              <a:rPr lang="en-US" smtClean="0"/>
              <a:pPr/>
              <a:t>12/24/2023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32D4EF8-0277-4095-9C3C-FE10188412D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D5360B-AD57-4C32-9801-2180D7F79732}" type="datetimeFigureOut">
              <a:rPr lang="en-US" smtClean="0"/>
              <a:pPr/>
              <a:t>12/24/2023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32D4EF8-0277-4095-9C3C-FE10188412D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1D5360B-AD57-4C32-9801-2180D7F79732}" type="datetimeFigureOut">
              <a:rPr lang="en-US" smtClean="0"/>
              <a:pPr/>
              <a:t>12/24/2023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2D4EF8-0277-4095-9C3C-FE10188412D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1D5360B-AD57-4C32-9801-2180D7F79732}" type="datetimeFigureOut">
              <a:rPr lang="en-US" smtClean="0"/>
              <a:pPr/>
              <a:t>12/24/2023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2D4EF8-0277-4095-9C3C-FE10188412D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1D5360B-AD57-4C32-9801-2180D7F79732}" type="datetimeFigureOut">
              <a:rPr lang="en-US" smtClean="0"/>
              <a:pPr/>
              <a:t>12/24/2023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2D4EF8-0277-4095-9C3C-FE10188412D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1D5360B-AD57-4C32-9801-2180D7F79732}" type="datetimeFigureOut">
              <a:rPr lang="en-US" smtClean="0"/>
              <a:pPr/>
              <a:t>12/24/2023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2D4EF8-0277-4095-9C3C-FE10188412DF}"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ED64870-3E2E-493E-A3A8-A8C6D68CA443}" type="datetimeFigureOut">
              <a:rPr lang="en-US" smtClean="0">
                <a:solidFill>
                  <a:prstClr val="black">
                    <a:tint val="75000"/>
                  </a:prstClr>
                </a:solidFill>
              </a:rPr>
              <a:pPr/>
              <a:t>12/24/2023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C715948-2C90-492A-AD9D-F4496B31733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605626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ED64870-3E2E-493E-A3A8-A8C6D68CA443}" type="datetimeFigureOut">
              <a:rPr lang="en-US" smtClean="0">
                <a:solidFill>
                  <a:prstClr val="black">
                    <a:tint val="75000"/>
                  </a:prstClr>
                </a:solidFill>
              </a:rPr>
              <a:pPr/>
              <a:t>12/24/2023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C715948-2C90-492A-AD9D-F4496B31733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884710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D64870-3E2E-493E-A3A8-A8C6D68CA443}" type="datetimeFigureOut">
              <a:rPr lang="en-US" smtClean="0">
                <a:solidFill>
                  <a:prstClr val="black">
                    <a:tint val="75000"/>
                  </a:prstClr>
                </a:solidFill>
              </a:rPr>
              <a:pPr/>
              <a:t>12/24/2023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C715948-2C90-492A-AD9D-F4496B31733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040665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ED64870-3E2E-493E-A3A8-A8C6D68CA443}" type="datetimeFigureOut">
              <a:rPr lang="en-US" smtClean="0">
                <a:solidFill>
                  <a:prstClr val="black">
                    <a:tint val="75000"/>
                  </a:prstClr>
                </a:solidFill>
              </a:rPr>
              <a:pPr/>
              <a:t>12/24/2023</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C715948-2C90-492A-AD9D-F4496B31733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881627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ED64870-3E2E-493E-A3A8-A8C6D68CA443}" type="datetimeFigureOut">
              <a:rPr lang="en-US" smtClean="0">
                <a:solidFill>
                  <a:prstClr val="black">
                    <a:tint val="75000"/>
                  </a:prstClr>
                </a:solidFill>
              </a:rPr>
              <a:pPr/>
              <a:t>12/24/2023</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DC715948-2C90-492A-AD9D-F4496B31733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680760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ED64870-3E2E-493E-A3A8-A8C6D68CA443}" type="datetimeFigureOut">
              <a:rPr lang="en-US" smtClean="0">
                <a:solidFill>
                  <a:prstClr val="black">
                    <a:tint val="75000"/>
                  </a:prstClr>
                </a:solidFill>
              </a:rPr>
              <a:pPr/>
              <a:t>12/24/2023</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DC715948-2C90-492A-AD9D-F4496B31733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675856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D64870-3E2E-493E-A3A8-A8C6D68CA443}" type="datetimeFigureOut">
              <a:rPr lang="en-US" smtClean="0">
                <a:solidFill>
                  <a:prstClr val="black">
                    <a:tint val="75000"/>
                  </a:prstClr>
                </a:solidFill>
              </a:rPr>
              <a:pPr/>
              <a:t>12/24/2023</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DC715948-2C90-492A-AD9D-F4496B31733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687965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D64870-3E2E-493E-A3A8-A8C6D68CA443}" type="datetimeFigureOut">
              <a:rPr lang="en-US" smtClean="0">
                <a:solidFill>
                  <a:prstClr val="black">
                    <a:tint val="75000"/>
                  </a:prstClr>
                </a:solidFill>
              </a:rPr>
              <a:pPr/>
              <a:t>12/24/2023</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C715948-2C90-492A-AD9D-F4496B31733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116738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D64870-3E2E-493E-A3A8-A8C6D68CA443}" type="datetimeFigureOut">
              <a:rPr lang="en-US" smtClean="0">
                <a:solidFill>
                  <a:prstClr val="black">
                    <a:tint val="75000"/>
                  </a:prstClr>
                </a:solidFill>
              </a:rPr>
              <a:pPr/>
              <a:t>12/24/2023</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C715948-2C90-492A-AD9D-F4496B31733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23541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ED64870-3E2E-493E-A3A8-A8C6D68CA443}" type="datetimeFigureOut">
              <a:rPr lang="en-US" smtClean="0">
                <a:solidFill>
                  <a:prstClr val="black">
                    <a:tint val="75000"/>
                  </a:prstClr>
                </a:solidFill>
              </a:rPr>
              <a:pPr/>
              <a:t>12/24/2023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C715948-2C90-492A-AD9D-F4496B31733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38294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ED64870-3E2E-493E-A3A8-A8C6D68CA443}" type="datetimeFigureOut">
              <a:rPr lang="en-US" smtClean="0">
                <a:solidFill>
                  <a:prstClr val="black">
                    <a:tint val="75000"/>
                  </a:prstClr>
                </a:solidFill>
              </a:rPr>
              <a:pPr/>
              <a:t>12/24/2023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C715948-2C90-492A-AD9D-F4496B31733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833479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1D5360B-AD57-4C32-9801-2180D7F79732}" type="datetimeFigureOut">
              <a:rPr lang="en-US" smtClean="0"/>
              <a:pPr/>
              <a:t>12/24/2023</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2D4EF8-0277-4095-9C3C-FE10188412D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D64870-3E2E-493E-A3A8-A8C6D68CA443}" type="datetimeFigureOut">
              <a:rPr lang="en-US" smtClean="0">
                <a:solidFill>
                  <a:prstClr val="black">
                    <a:tint val="75000"/>
                  </a:prstClr>
                </a:solidFill>
              </a:rPr>
              <a:pPr/>
              <a:t>12/24/2023</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715948-2C90-492A-AD9D-F4496B31733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88590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BUKU KARAKTER.PNG"/>
          <p:cNvPicPr>
            <a:picLocks noChangeAspect="1"/>
          </p:cNvPicPr>
          <p:nvPr/>
        </p:nvPicPr>
        <p:blipFill>
          <a:blip r:embed="rId2"/>
          <a:stretch>
            <a:fillRect/>
          </a:stretch>
        </p:blipFill>
        <p:spPr>
          <a:xfrm>
            <a:off x="1000132" y="1988840"/>
            <a:ext cx="6740220" cy="5172727"/>
          </a:xfrm>
          <a:prstGeom prst="rect">
            <a:avLst/>
          </a:prstGeom>
        </p:spPr>
      </p:pic>
      <p:sp>
        <p:nvSpPr>
          <p:cNvPr id="5" name="Title 1"/>
          <p:cNvSpPr>
            <a:spLocks noGrp="1"/>
          </p:cNvSpPr>
          <p:nvPr>
            <p:ph type="title"/>
          </p:nvPr>
        </p:nvSpPr>
        <p:spPr>
          <a:xfrm>
            <a:off x="-22501" y="107009"/>
            <a:ext cx="9072594" cy="2011354"/>
          </a:xfrm>
        </p:spPr>
        <p:txBody>
          <a:bodyPr>
            <a:normAutofit/>
          </a:bodyPr>
          <a:lstStyle/>
          <a:p>
            <a:r>
              <a:rPr lang="en-US" sz="4000" b="1" dirty="0" err="1">
                <a:ln w="12700">
                  <a:solidFill>
                    <a:schemeClr val="tx2">
                      <a:satMod val="155000"/>
                    </a:schemeClr>
                  </a:solidFill>
                  <a:prstDash val="solid"/>
                </a:ln>
                <a:solidFill>
                  <a:schemeClr val="bg1"/>
                </a:solidFill>
                <a:effectLst>
                  <a:glow rad="101600">
                    <a:schemeClr val="tx1">
                      <a:alpha val="60000"/>
                    </a:schemeClr>
                  </a:glow>
                  <a:outerShdw blurRad="41275" dist="20320" dir="1800000" algn="tl" rotWithShape="0">
                    <a:srgbClr val="000000">
                      <a:alpha val="40000"/>
                    </a:srgbClr>
                  </a:outerShdw>
                </a:effectLst>
                <a:latin typeface="Bahnschrift Light SemiCondensed" panose="020B0502040204020203" pitchFamily="34" charset="0"/>
              </a:rPr>
              <a:t>Implementasi</a:t>
            </a:r>
            <a:r>
              <a:rPr lang="en-US" sz="4000" b="1" dirty="0">
                <a:ln w="12700">
                  <a:solidFill>
                    <a:schemeClr val="tx2">
                      <a:satMod val="155000"/>
                    </a:schemeClr>
                  </a:solidFill>
                  <a:prstDash val="solid"/>
                </a:ln>
                <a:solidFill>
                  <a:schemeClr val="bg1"/>
                </a:solidFill>
                <a:effectLst>
                  <a:glow rad="101600">
                    <a:schemeClr val="tx1">
                      <a:alpha val="60000"/>
                    </a:schemeClr>
                  </a:glow>
                  <a:outerShdw blurRad="41275" dist="20320" dir="1800000" algn="tl" rotWithShape="0">
                    <a:srgbClr val="000000">
                      <a:alpha val="40000"/>
                    </a:srgbClr>
                  </a:outerShdw>
                </a:effectLst>
                <a:latin typeface="Bahnschrift Light SemiCondensed" panose="020B0502040204020203" pitchFamily="34" charset="0"/>
              </a:rPr>
              <a:t> </a:t>
            </a:r>
            <a:r>
              <a:rPr lang="en-US" sz="4000" b="1" dirty="0" err="1">
                <a:ln w="12700">
                  <a:solidFill>
                    <a:schemeClr val="tx2">
                      <a:satMod val="155000"/>
                    </a:schemeClr>
                  </a:solidFill>
                  <a:prstDash val="solid"/>
                </a:ln>
                <a:solidFill>
                  <a:schemeClr val="bg1"/>
                </a:solidFill>
                <a:effectLst>
                  <a:glow rad="101600">
                    <a:schemeClr val="tx1">
                      <a:alpha val="60000"/>
                    </a:schemeClr>
                  </a:glow>
                  <a:outerShdw blurRad="41275" dist="20320" dir="1800000" algn="tl" rotWithShape="0">
                    <a:srgbClr val="000000">
                      <a:alpha val="40000"/>
                    </a:srgbClr>
                  </a:outerShdw>
                </a:effectLst>
                <a:latin typeface="Bahnschrift Light SemiCondensed" panose="020B0502040204020203" pitchFamily="34" charset="0"/>
              </a:rPr>
              <a:t>Kurikulum</a:t>
            </a:r>
            <a:br>
              <a:rPr lang="en-US" sz="4000" b="1" dirty="0">
                <a:ln w="12700">
                  <a:solidFill>
                    <a:schemeClr val="tx2">
                      <a:satMod val="155000"/>
                    </a:schemeClr>
                  </a:solidFill>
                  <a:prstDash val="solid"/>
                </a:ln>
                <a:solidFill>
                  <a:srgbClr val="FFFF00"/>
                </a:solidFill>
                <a:effectLst>
                  <a:glow rad="101600">
                    <a:schemeClr val="tx1">
                      <a:alpha val="60000"/>
                    </a:schemeClr>
                  </a:glow>
                  <a:outerShdw blurRad="41275" dist="20320" dir="1800000" algn="tl" rotWithShape="0">
                    <a:srgbClr val="000000">
                      <a:alpha val="40000"/>
                    </a:srgbClr>
                  </a:outerShdw>
                </a:effectLst>
              </a:rPr>
            </a:br>
            <a:r>
              <a:rPr lang="en-US" sz="4000" b="1" dirty="0">
                <a:ln w="12700">
                  <a:solidFill>
                    <a:schemeClr val="tx2">
                      <a:satMod val="155000"/>
                    </a:schemeClr>
                  </a:solidFill>
                  <a:prstDash val="solid"/>
                </a:ln>
                <a:solidFill>
                  <a:srgbClr val="FFFF00"/>
                </a:solidFill>
                <a:effectLst>
                  <a:glow rad="101600">
                    <a:schemeClr val="tx1">
                      <a:alpha val="60000"/>
                    </a:schemeClr>
                  </a:glow>
                  <a:outerShdw blurRad="41275" dist="20320" dir="1800000" algn="tl" rotWithShape="0">
                    <a:srgbClr val="000000">
                      <a:alpha val="40000"/>
                    </a:srgbClr>
                  </a:outerShdw>
                </a:effectLst>
              </a:rPr>
              <a:t>PENDIDIKAN KARAKTER NABAWIYAH</a:t>
            </a:r>
            <a:br>
              <a:rPr lang="en-US" b="1" dirty="0">
                <a:ln w="12700">
                  <a:solidFill>
                    <a:schemeClr val="tx2">
                      <a:satMod val="155000"/>
                    </a:schemeClr>
                  </a:solidFill>
                  <a:prstDash val="solid"/>
                </a:ln>
                <a:solidFill>
                  <a:srgbClr val="FFFF00"/>
                </a:solidFill>
                <a:effectLst>
                  <a:glow rad="101600">
                    <a:schemeClr val="tx1">
                      <a:alpha val="60000"/>
                    </a:schemeClr>
                  </a:glow>
                  <a:outerShdw blurRad="41275" dist="20320" dir="1800000" algn="tl" rotWithShape="0">
                    <a:srgbClr val="000000">
                      <a:alpha val="40000"/>
                    </a:srgbClr>
                  </a:outerShdw>
                </a:effectLst>
              </a:rPr>
            </a:br>
            <a:r>
              <a:rPr lang="en-US" sz="3600" b="1" i="1" dirty="0">
                <a:ln w="12700">
                  <a:solidFill>
                    <a:schemeClr val="tx2">
                      <a:satMod val="155000"/>
                    </a:schemeClr>
                  </a:solidFill>
                  <a:prstDash val="solid"/>
                </a:ln>
                <a:solidFill>
                  <a:srgbClr val="92D050"/>
                </a:solidFill>
                <a:effectLst>
                  <a:glow rad="101600">
                    <a:schemeClr val="tx1">
                      <a:alpha val="60000"/>
                    </a:schemeClr>
                  </a:glow>
                  <a:outerShdw blurRad="41275" dist="20320" dir="1800000" algn="tl" rotWithShape="0">
                    <a:srgbClr val="000000">
                      <a:alpha val="40000"/>
                    </a:srgbClr>
                  </a:outerShdw>
                </a:effectLst>
                <a:latin typeface="Arial Narrow" pitchFamily="34" charset="0"/>
                <a:cs typeface="Arial" pitchFamily="34" charset="0"/>
              </a:rPr>
              <a:t>Pada  </a:t>
            </a:r>
            <a:r>
              <a:rPr lang="en-US" sz="3600" b="1" i="1" dirty="0" err="1">
                <a:ln w="12700">
                  <a:solidFill>
                    <a:schemeClr val="tx2">
                      <a:satMod val="155000"/>
                    </a:schemeClr>
                  </a:solidFill>
                  <a:prstDash val="solid"/>
                </a:ln>
                <a:solidFill>
                  <a:srgbClr val="92D050"/>
                </a:solidFill>
                <a:effectLst>
                  <a:glow rad="101600">
                    <a:schemeClr val="tx1">
                      <a:alpha val="60000"/>
                    </a:schemeClr>
                  </a:glow>
                  <a:outerShdw blurRad="41275" dist="20320" dir="1800000" algn="tl" rotWithShape="0">
                    <a:srgbClr val="000000">
                      <a:alpha val="40000"/>
                    </a:srgbClr>
                  </a:outerShdw>
                </a:effectLst>
                <a:latin typeface="Arial Narrow" pitchFamily="34" charset="0"/>
                <a:cs typeface="Arial" pitchFamily="34" charset="0"/>
              </a:rPr>
              <a:t>Persekolahan</a:t>
            </a:r>
            <a:endParaRPr lang="en-US" sz="3600" b="1" i="1" dirty="0">
              <a:ln w="12700">
                <a:solidFill>
                  <a:schemeClr val="tx2">
                    <a:satMod val="155000"/>
                  </a:schemeClr>
                </a:solidFill>
                <a:prstDash val="solid"/>
              </a:ln>
              <a:solidFill>
                <a:srgbClr val="92D050"/>
              </a:solidFill>
              <a:effectLst>
                <a:glow rad="101600">
                  <a:schemeClr val="tx1">
                    <a:alpha val="60000"/>
                  </a:schemeClr>
                </a:glow>
                <a:outerShdw blurRad="41275" dist="20320" dir="1800000" algn="tl" rotWithShape="0">
                  <a:srgbClr val="000000">
                    <a:alpha val="40000"/>
                  </a:srgbClr>
                </a:outerShdw>
              </a:effectLst>
              <a:latin typeface="Arial Narrow"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path" presetSubtype="0" repeatCount="indefinite" accel="50000" decel="50000" fill="hold" grpId="1" nodeType="withEffect">
                                  <p:stCondLst>
                                    <p:cond delay="0"/>
                                  </p:stCondLst>
                                  <p:childTnLst>
                                    <p:animMotion origin="layout" path="M 0.0099 -4.07407E-6 C 0.01302 -4.07407E-6 0.0158 0.00926 0.0158 0.02084 C 0.0158 0.03241 0.01302 0.0419 0.0099 0.0419 C 0.0066 0.0419 0.00417 0.03241 0.00417 0.02084 C 0.00417 0.00926 0.0066 -4.07407E-6 0.0099 -4.07407E-6 Z " pathEditMode="relative" rAng="0" ptsTypes="fffff">
                                      <p:cBhvr>
                                        <p:cTn id="6" dur="3000" fill="hold"/>
                                        <p:tgtEl>
                                          <p:spTgt spid="5"/>
                                        </p:tgtEl>
                                        <p:attrNameLst>
                                          <p:attrName>ppt_x</p:attrName>
                                          <p:attrName>ppt_y</p:attrName>
                                        </p:attrNameLst>
                                      </p:cBhvr>
                                      <p:rCtr x="0" y="2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C24B6-4DD8-4078-8886-0E6209724417}"/>
              </a:ext>
            </a:extLst>
          </p:cNvPr>
          <p:cNvSpPr>
            <a:spLocks noGrp="1"/>
          </p:cNvSpPr>
          <p:nvPr>
            <p:ph type="title"/>
          </p:nvPr>
        </p:nvSpPr>
        <p:spPr>
          <a:xfrm>
            <a:off x="457200" y="2636912"/>
            <a:ext cx="8229600" cy="1143000"/>
          </a:xfrm>
        </p:spPr>
        <p:txBody>
          <a:bodyPr>
            <a:noAutofit/>
          </a:bodyPr>
          <a:lstStyle/>
          <a:p>
            <a:r>
              <a:rPr lang="en-US" sz="2800" dirty="0" err="1"/>
              <a:t>Gabungkan</a:t>
            </a:r>
            <a:r>
              <a:rPr lang="en-US" sz="2800" dirty="0"/>
              <a:t> </a:t>
            </a:r>
            <a:r>
              <a:rPr lang="en-US" sz="2800" dirty="0" err="1"/>
              <a:t>semua</a:t>
            </a:r>
            <a:r>
              <a:rPr lang="en-US" sz="2800" dirty="0"/>
              <a:t> </a:t>
            </a:r>
            <a:r>
              <a:rPr lang="en-US" sz="2800" dirty="0" err="1"/>
              <a:t>kegiatan</a:t>
            </a:r>
            <a:r>
              <a:rPr lang="en-US" sz="2800" dirty="0"/>
              <a:t> dan </a:t>
            </a:r>
            <a:r>
              <a:rPr lang="en-US" sz="2800" dirty="0" err="1"/>
              <a:t>peristiwa</a:t>
            </a:r>
            <a:r>
              <a:rPr lang="en-US" sz="2800" dirty="0"/>
              <a:t> yang </a:t>
            </a:r>
            <a:r>
              <a:rPr lang="en-US" sz="2800" dirty="0" err="1"/>
              <a:t>direncanakan</a:t>
            </a:r>
            <a:r>
              <a:rPr lang="en-US" sz="2800" dirty="0"/>
              <a:t> </a:t>
            </a:r>
            <a:r>
              <a:rPr lang="en-US" sz="2800" dirty="0" err="1"/>
              <a:t>maupun</a:t>
            </a:r>
            <a:r>
              <a:rPr lang="en-US" sz="2800" dirty="0"/>
              <a:t> </a:t>
            </a:r>
            <a:r>
              <a:rPr lang="en-US" sz="2800" dirty="0" err="1"/>
              <a:t>tidak</a:t>
            </a:r>
            <a:r>
              <a:rPr lang="en-US" sz="2800" dirty="0"/>
              <a:t> </a:t>
            </a:r>
            <a:r>
              <a:rPr lang="en-US" sz="2800" dirty="0" err="1"/>
              <a:t>direncanakan</a:t>
            </a:r>
            <a:r>
              <a:rPr lang="en-US" sz="2800" dirty="0"/>
              <a:t> </a:t>
            </a:r>
            <a:r>
              <a:rPr lang="en-US" sz="2800" dirty="0" err="1"/>
              <a:t>kedalam</a:t>
            </a:r>
            <a:r>
              <a:rPr lang="en-US" sz="2800" dirty="0"/>
              <a:t> IKM (</a:t>
            </a:r>
            <a:r>
              <a:rPr lang="en-US" sz="2800" dirty="0" err="1"/>
              <a:t>Implementasi</a:t>
            </a:r>
            <a:r>
              <a:rPr lang="en-US" sz="2800" dirty="0"/>
              <a:t> </a:t>
            </a:r>
            <a:r>
              <a:rPr lang="en-US" sz="2800" dirty="0" err="1"/>
              <a:t>Kurikulum</a:t>
            </a:r>
            <a:r>
              <a:rPr lang="en-US" sz="2800" dirty="0"/>
              <a:t> Merdeka) </a:t>
            </a:r>
            <a:r>
              <a:rPr lang="en-US" sz="2800" dirty="0" err="1"/>
              <a:t>Diknas</a:t>
            </a:r>
            <a:r>
              <a:rPr lang="en-US" sz="2800" dirty="0"/>
              <a:t>.</a:t>
            </a:r>
            <a:br>
              <a:rPr lang="en-US" sz="2800" dirty="0"/>
            </a:br>
            <a:br>
              <a:rPr lang="en-US" sz="2800" dirty="0"/>
            </a:br>
            <a:r>
              <a:rPr lang="en-US" sz="2800" dirty="0"/>
              <a:t>Pilar-</a:t>
            </a:r>
            <a:r>
              <a:rPr lang="en-US" sz="2800" dirty="0" err="1"/>
              <a:t>pilar</a:t>
            </a:r>
            <a:r>
              <a:rPr lang="en-US" sz="2800" dirty="0"/>
              <a:t> </a:t>
            </a:r>
            <a:r>
              <a:rPr lang="en-US" sz="2800" dirty="0" err="1"/>
              <a:t>karakter</a:t>
            </a:r>
            <a:r>
              <a:rPr lang="en-US" sz="2800" dirty="0"/>
              <a:t> </a:t>
            </a:r>
            <a:r>
              <a:rPr lang="en-US" sz="2800" dirty="0" err="1"/>
              <a:t>Nabawiyah</a:t>
            </a:r>
            <a:r>
              <a:rPr lang="en-US" sz="2800" dirty="0"/>
              <a:t> </a:t>
            </a:r>
            <a:r>
              <a:rPr lang="en-US" sz="2800" dirty="0" err="1"/>
              <a:t>sebagai</a:t>
            </a:r>
            <a:r>
              <a:rPr lang="en-US" sz="2800" dirty="0"/>
              <a:t> “P5”- </a:t>
            </a:r>
            <a:r>
              <a:rPr lang="en-US" sz="2800" dirty="0" err="1"/>
              <a:t>nya</a:t>
            </a:r>
            <a:r>
              <a:rPr lang="en-US" sz="2800" dirty="0"/>
              <a:t>, dan </a:t>
            </a:r>
            <a:r>
              <a:rPr lang="en-US" sz="2800" dirty="0" err="1"/>
              <a:t>kegiatan</a:t>
            </a:r>
            <a:r>
              <a:rPr lang="en-US" sz="2800" dirty="0"/>
              <a:t> </a:t>
            </a:r>
            <a:r>
              <a:rPr lang="en-US" sz="2800" dirty="0" err="1"/>
              <a:t>atau</a:t>
            </a:r>
            <a:r>
              <a:rPr lang="en-US" sz="2800" dirty="0"/>
              <a:t> </a:t>
            </a:r>
            <a:r>
              <a:rPr lang="en-US" sz="2800" dirty="0" err="1"/>
              <a:t>peristiwa</a:t>
            </a:r>
            <a:r>
              <a:rPr lang="en-US" sz="2800" dirty="0"/>
              <a:t> </a:t>
            </a:r>
            <a:r>
              <a:rPr lang="en-US" sz="2800" dirty="0" err="1"/>
              <a:t>dijadikan</a:t>
            </a:r>
            <a:r>
              <a:rPr lang="en-US" sz="2800" dirty="0"/>
              <a:t> </a:t>
            </a:r>
            <a:r>
              <a:rPr lang="en-US" sz="2800" dirty="0" err="1"/>
              <a:t>sebagai</a:t>
            </a:r>
            <a:r>
              <a:rPr lang="en-US" sz="2800" dirty="0"/>
              <a:t> </a:t>
            </a:r>
            <a:r>
              <a:rPr lang="en-US" sz="2800" dirty="0" err="1"/>
              <a:t>judul</a:t>
            </a:r>
            <a:r>
              <a:rPr lang="en-US" sz="2800" dirty="0"/>
              <a:t> </a:t>
            </a:r>
            <a:r>
              <a:rPr lang="en-US" sz="2800" dirty="0" err="1"/>
              <a:t>pembelajaran</a:t>
            </a:r>
            <a:r>
              <a:rPr lang="en-US" sz="2800" dirty="0"/>
              <a:t> </a:t>
            </a:r>
            <a:r>
              <a:rPr lang="en-US" sz="2800" dirty="0" err="1"/>
              <a:t>berbasis</a:t>
            </a:r>
            <a:r>
              <a:rPr lang="en-US" sz="2800" dirty="0"/>
              <a:t> </a:t>
            </a:r>
            <a:r>
              <a:rPr lang="en-US" sz="2800" dirty="0" err="1"/>
              <a:t>proyek</a:t>
            </a:r>
            <a:r>
              <a:rPr lang="en-US" sz="2800" dirty="0"/>
              <a:t> (</a:t>
            </a:r>
            <a:r>
              <a:rPr lang="en-US" sz="2800" dirty="0" err="1"/>
              <a:t>PjBL</a:t>
            </a:r>
            <a:r>
              <a:rPr lang="en-US" sz="2800" dirty="0"/>
              <a:t>)- </a:t>
            </a:r>
            <a:r>
              <a:rPr lang="en-US" sz="2800" dirty="0" err="1"/>
              <a:t>nya</a:t>
            </a:r>
            <a:r>
              <a:rPr lang="en-US" sz="2800" dirty="0"/>
              <a:t>.</a:t>
            </a:r>
            <a:endParaRPr lang="en-ID" sz="2800" dirty="0"/>
          </a:p>
        </p:txBody>
      </p:sp>
    </p:spTree>
    <p:extLst>
      <p:ext uri="{BB962C8B-B14F-4D97-AF65-F5344CB8AC3E}">
        <p14:creationId xmlns:p14="http://schemas.microsoft.com/office/powerpoint/2010/main" val="3215945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path" presetSubtype="0" repeatCount="indefinite" autoRev="1" fill="hold" grpId="0" nodeType="withEffect">
                                  <p:stCondLst>
                                    <p:cond delay="0"/>
                                  </p:stCondLst>
                                  <p:endCondLst>
                                    <p:cond evt="onNext" delay="0">
                                      <p:tgtEl>
                                        <p:sldTgt/>
                                      </p:tgtEl>
                                    </p:cond>
                                  </p:endCondLst>
                                  <p:childTnLst>
                                    <p:animMotion origin="layout" path="M -0.06701 0.02547 L -0.00017 -0.2618 L 0.06701 0.02547 L -0.00017 0.31574 L -0.06701 0.02547 Z " pathEditMode="relative" rAng="0" ptsTypes="AAAAA">
                                      <p:cBhvr>
                                        <p:cTn id="6" dur="20000" fill="hold"/>
                                        <p:tgtEl>
                                          <p:spTgt spid="2"/>
                                        </p:tgtEl>
                                        <p:attrNameLst>
                                          <p:attrName>ppt_x</p:attrName>
                                          <p:attrName>ppt_y</p:attrName>
                                        </p:attrNameLst>
                                      </p:cBhvr>
                                      <p:rCtr x="6701" y="13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52"/>
            <a:ext cx="8229600" cy="1143000"/>
          </a:xfrm>
        </p:spPr>
        <p:txBody>
          <a:bodyPr>
            <a:normAutofit/>
          </a:bodyPr>
          <a:lstStyle/>
          <a:p>
            <a:pPr marL="536575" indent="-536575"/>
            <a:r>
              <a:rPr lang="en-US" dirty="0"/>
              <a:t>1. </a:t>
            </a:r>
            <a:r>
              <a:rPr lang="en-US" dirty="0" err="1"/>
              <a:t>Pembelajaran</a:t>
            </a:r>
            <a:r>
              <a:rPr lang="en-US" dirty="0"/>
              <a:t> PAUD – TK/RA</a:t>
            </a:r>
          </a:p>
        </p:txBody>
      </p:sp>
      <p:grpSp>
        <p:nvGrpSpPr>
          <p:cNvPr id="5" name="Group 4"/>
          <p:cNvGrpSpPr/>
          <p:nvPr/>
        </p:nvGrpSpPr>
        <p:grpSpPr>
          <a:xfrm>
            <a:off x="1090911" y="1665273"/>
            <a:ext cx="7267303" cy="4764123"/>
            <a:chOff x="1090911" y="1665273"/>
            <a:chExt cx="7267303" cy="4764123"/>
          </a:xfrm>
        </p:grpSpPr>
        <p:pic>
          <p:nvPicPr>
            <p:cNvPr id="3" name="Picture 2" descr="Gambar terkait"/>
            <p:cNvPicPr>
              <a:picLocks noChangeAspect="1" noChangeArrowheads="1"/>
            </p:cNvPicPr>
            <p:nvPr/>
          </p:nvPicPr>
          <p:blipFill>
            <a:blip r:embed="rId3"/>
            <a:srcRect/>
            <a:stretch>
              <a:fillRect/>
            </a:stretch>
          </p:blipFill>
          <p:spPr bwMode="auto">
            <a:xfrm>
              <a:off x="1090911" y="1665273"/>
              <a:ext cx="7267303" cy="4764123"/>
            </a:xfrm>
            <a:prstGeom prst="rect">
              <a:avLst/>
            </a:prstGeom>
            <a:noFill/>
          </p:spPr>
        </p:pic>
        <p:sp>
          <p:nvSpPr>
            <p:cNvPr id="4" name="TextBox 3"/>
            <p:cNvSpPr txBox="1"/>
            <p:nvPr/>
          </p:nvSpPr>
          <p:spPr>
            <a:xfrm rot="21315678">
              <a:off x="2319035" y="2400173"/>
              <a:ext cx="4591814" cy="2369880"/>
            </a:xfrm>
            <a:prstGeom prst="rect">
              <a:avLst/>
            </a:prstGeom>
            <a:noFill/>
            <a:scene3d>
              <a:camera prst="isometricOffAxis2Top">
                <a:rot lat="19500000" lon="3000000" rev="18000000"/>
              </a:camera>
              <a:lightRig rig="threePt" dir="t"/>
            </a:scene3d>
          </p:spPr>
          <p:txBody>
            <a:bodyPr wrap="square" rtlCol="0">
              <a:spAutoFit/>
            </a:bodyPr>
            <a:lstStyle/>
            <a:p>
              <a:pPr algn="ctr"/>
              <a:r>
                <a:rPr lang="en-US" sz="3600" b="1" dirty="0">
                  <a:solidFill>
                    <a:schemeClr val="bg1"/>
                  </a:solidFill>
                  <a:effectLst>
                    <a:glow rad="228600">
                      <a:schemeClr val="tx1">
                        <a:alpha val="40000"/>
                      </a:schemeClr>
                    </a:glow>
                  </a:effectLst>
                </a:rPr>
                <a:t>PAUD</a:t>
              </a:r>
            </a:p>
            <a:p>
              <a:pPr algn="ctr"/>
              <a:r>
                <a:rPr lang="en-US" sz="2800" b="1" dirty="0">
                  <a:solidFill>
                    <a:schemeClr val="bg1"/>
                  </a:solidFill>
                  <a:effectLst>
                    <a:glow rad="228600">
                      <a:schemeClr val="tx1">
                        <a:alpha val="40000"/>
                      </a:schemeClr>
                    </a:glow>
                  </a:effectLst>
                </a:rPr>
                <a:t>TAMAN KANAK-KANAK</a:t>
              </a:r>
            </a:p>
            <a:p>
              <a:pPr algn="ctr"/>
              <a:r>
                <a:rPr lang="en-US" sz="2800" b="1" dirty="0">
                  <a:solidFill>
                    <a:schemeClr val="bg1"/>
                  </a:solidFill>
                  <a:effectLst>
                    <a:glow rad="228600">
                      <a:schemeClr val="tx1">
                        <a:alpha val="40000"/>
                      </a:schemeClr>
                    </a:glow>
                  </a:effectLst>
                </a:rPr>
                <a:t>(TK)</a:t>
              </a:r>
            </a:p>
            <a:p>
              <a:pPr algn="ctr"/>
              <a:r>
                <a:rPr lang="en-US" sz="2800" b="1" dirty="0">
                  <a:solidFill>
                    <a:schemeClr val="bg1"/>
                  </a:solidFill>
                  <a:effectLst>
                    <a:glow rad="228600">
                      <a:schemeClr val="tx1">
                        <a:alpha val="40000"/>
                      </a:schemeClr>
                    </a:glow>
                  </a:effectLst>
                </a:rPr>
                <a:t>RAUDHATUL ATHFAL</a:t>
              </a:r>
            </a:p>
            <a:p>
              <a:pPr algn="ctr"/>
              <a:r>
                <a:rPr lang="en-US" sz="2800" b="1" dirty="0">
                  <a:solidFill>
                    <a:schemeClr val="bg1"/>
                  </a:solidFill>
                  <a:effectLst>
                    <a:glow rad="228600">
                      <a:schemeClr val="tx1">
                        <a:alpha val="40000"/>
                      </a:schemeClr>
                    </a:glow>
                  </a:effectLst>
                </a:rPr>
                <a:t>(RA)</a:t>
              </a:r>
            </a:p>
          </p:txBody>
        </p:sp>
      </p:grpSp>
      <p:sp>
        <p:nvSpPr>
          <p:cNvPr id="6" name="TextBox 5"/>
          <p:cNvSpPr txBox="1"/>
          <p:nvPr/>
        </p:nvSpPr>
        <p:spPr>
          <a:xfrm rot="21315678">
            <a:off x="3867543" y="1898177"/>
            <a:ext cx="4591814" cy="1200329"/>
          </a:xfrm>
          <a:prstGeom prst="rect">
            <a:avLst/>
          </a:prstGeom>
          <a:noFill/>
          <a:scene3d>
            <a:camera prst="isometricOffAxis2Top">
              <a:rot lat="19200000" lon="3000000" rev="18000000"/>
            </a:camera>
            <a:lightRig rig="threePt" dir="t"/>
          </a:scene3d>
        </p:spPr>
        <p:txBody>
          <a:bodyPr wrap="square" rtlCol="0">
            <a:spAutoFit/>
          </a:bodyPr>
          <a:lstStyle/>
          <a:p>
            <a:pPr algn="ctr"/>
            <a:r>
              <a:rPr lang="en-US" sz="3600" b="1" dirty="0">
                <a:solidFill>
                  <a:schemeClr val="bg1"/>
                </a:solidFill>
                <a:effectLst>
                  <a:glow rad="228600">
                    <a:schemeClr val="tx1">
                      <a:alpha val="40000"/>
                    </a:schemeClr>
                  </a:glow>
                </a:effectLst>
              </a:rPr>
              <a:t>LEMBAR PEMBELAJARAN</a:t>
            </a:r>
            <a:endParaRPr lang="en-US" sz="2800" b="1" dirty="0">
              <a:solidFill>
                <a:schemeClr val="bg1"/>
              </a:solidFill>
              <a:effectLst>
                <a:glow rad="228600">
                  <a:schemeClr val="tx1">
                    <a:alpha val="40000"/>
                  </a:schemeClr>
                </a:glow>
              </a:effectLs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 name="Rectangle 5"/>
          <p:cNvSpPr/>
          <p:nvPr/>
        </p:nvSpPr>
        <p:spPr>
          <a:xfrm>
            <a:off x="2143108" y="725647"/>
            <a:ext cx="4929222" cy="5755422"/>
          </a:xfrm>
          <a:prstGeom prst="rect">
            <a:avLst/>
          </a:prstGeom>
        </p:spPr>
        <p:txBody>
          <a:bodyPr wrap="square">
            <a:spAutoFit/>
          </a:bodyPr>
          <a:lstStyle/>
          <a:p>
            <a:pPr marL="266700" indent="-266700" defTabSz="0"/>
            <a:r>
              <a:rPr lang="en-US" sz="2400" dirty="0">
                <a:solidFill>
                  <a:schemeClr val="bg1"/>
                </a:solidFill>
                <a:ea typeface="Times New Roman" pitchFamily="18" charset="0"/>
                <a:cs typeface="Traditional Arabic" pitchFamily="2" charset="-78"/>
              </a:rPr>
              <a:t>KONDISI ANAK:</a:t>
            </a:r>
            <a:endParaRPr lang="id-ID" sz="2400" dirty="0">
              <a:solidFill>
                <a:schemeClr val="bg1"/>
              </a:solidFill>
              <a:ea typeface="Times New Roman" pitchFamily="18" charset="0"/>
              <a:cs typeface="Traditional Arabic" pitchFamily="2" charset="-78"/>
            </a:endParaRPr>
          </a:p>
          <a:p>
            <a:pPr marL="449263" indent="-449263">
              <a:buFont typeface="Wingdings" pitchFamily="2" charset="2"/>
              <a:buChar char="ü"/>
            </a:pPr>
            <a:r>
              <a:rPr lang="en-US" sz="2400" dirty="0" err="1">
                <a:solidFill>
                  <a:srgbClr val="FFFF00"/>
                </a:solidFill>
              </a:rPr>
              <a:t>Egosentris</a:t>
            </a:r>
            <a:endParaRPr lang="id-ID" sz="2400" dirty="0">
              <a:solidFill>
                <a:srgbClr val="FFFF00"/>
              </a:solidFill>
            </a:endParaRPr>
          </a:p>
          <a:p>
            <a:pPr marL="449263" lvl="0" indent="-449263">
              <a:buFont typeface="Wingdings" pitchFamily="2" charset="2"/>
              <a:buChar char="ü"/>
            </a:pPr>
            <a:r>
              <a:rPr lang="en-US" sz="2400" dirty="0" err="1">
                <a:solidFill>
                  <a:srgbClr val="FFFF00"/>
                </a:solidFill>
              </a:rPr>
              <a:t>Imajinatif</a:t>
            </a:r>
            <a:endParaRPr lang="en-US" sz="2400" dirty="0">
              <a:solidFill>
                <a:srgbClr val="FFFF00"/>
              </a:solidFill>
            </a:endParaRPr>
          </a:p>
          <a:p>
            <a:pPr marL="449263" lvl="0" indent="-449263">
              <a:buFont typeface="Wingdings" pitchFamily="2" charset="2"/>
              <a:buChar char="ü"/>
            </a:pPr>
            <a:r>
              <a:rPr lang="en-US" sz="2400" dirty="0" err="1">
                <a:solidFill>
                  <a:srgbClr val="FFFF00"/>
                </a:solidFill>
              </a:rPr>
              <a:t>Sensitif</a:t>
            </a:r>
            <a:endParaRPr lang="en-US" sz="2400" dirty="0">
              <a:solidFill>
                <a:srgbClr val="FFFF00"/>
              </a:solidFill>
            </a:endParaRPr>
          </a:p>
          <a:p>
            <a:pPr marL="449263" lvl="0" indent="-449263"/>
            <a:endParaRPr lang="en-US" sz="800" i="1" dirty="0">
              <a:solidFill>
                <a:srgbClr val="FFFF00"/>
              </a:solidFill>
            </a:endParaRPr>
          </a:p>
          <a:p>
            <a:pPr marL="449263" lvl="0" indent="-449263"/>
            <a:r>
              <a:rPr lang="en-US" sz="2400" dirty="0">
                <a:solidFill>
                  <a:schemeClr val="bg1"/>
                </a:solidFill>
              </a:rPr>
              <a:t>DASAR PEMBELAJARAN:</a:t>
            </a:r>
          </a:p>
          <a:p>
            <a:pPr marL="449263" lvl="0" indent="-449263">
              <a:buFont typeface="Wingdings" pitchFamily="2" charset="2"/>
              <a:buChar char="ü"/>
            </a:pPr>
            <a:r>
              <a:rPr lang="en-US" sz="2400" dirty="0" err="1">
                <a:solidFill>
                  <a:srgbClr val="FFFF00"/>
                </a:solidFill>
              </a:rPr>
              <a:t>Menuntaskan</a:t>
            </a:r>
            <a:r>
              <a:rPr lang="en-US" sz="2400" dirty="0">
                <a:solidFill>
                  <a:srgbClr val="FFFF00"/>
                </a:solidFill>
              </a:rPr>
              <a:t> </a:t>
            </a:r>
            <a:r>
              <a:rPr lang="en-US" sz="2400" dirty="0" err="1">
                <a:solidFill>
                  <a:srgbClr val="FFFF00"/>
                </a:solidFill>
              </a:rPr>
              <a:t>egosentris</a:t>
            </a:r>
            <a:endParaRPr lang="en-US" sz="2400" dirty="0">
              <a:solidFill>
                <a:srgbClr val="FFFF00"/>
              </a:solidFill>
            </a:endParaRPr>
          </a:p>
          <a:p>
            <a:pPr marL="449263" lvl="0" indent="-449263">
              <a:buFont typeface="Wingdings" pitchFamily="2" charset="2"/>
              <a:buChar char="ü"/>
            </a:pPr>
            <a:r>
              <a:rPr lang="en-US" sz="2400" dirty="0" err="1">
                <a:solidFill>
                  <a:srgbClr val="FFFF00"/>
                </a:solidFill>
              </a:rPr>
              <a:t>Menumbuhkan</a:t>
            </a:r>
            <a:r>
              <a:rPr lang="en-US" sz="2400" dirty="0">
                <a:solidFill>
                  <a:srgbClr val="FFFF00"/>
                </a:solidFill>
              </a:rPr>
              <a:t> </a:t>
            </a:r>
            <a:r>
              <a:rPr lang="en-US" sz="2400" dirty="0" err="1">
                <a:solidFill>
                  <a:srgbClr val="FFFF00"/>
                </a:solidFill>
              </a:rPr>
              <a:t>imaji</a:t>
            </a:r>
            <a:r>
              <a:rPr lang="en-US" sz="2400" dirty="0">
                <a:solidFill>
                  <a:srgbClr val="FFFF00"/>
                </a:solidFill>
              </a:rPr>
              <a:t> </a:t>
            </a:r>
            <a:r>
              <a:rPr lang="en-US" sz="2400" dirty="0" err="1">
                <a:solidFill>
                  <a:srgbClr val="FFFF00"/>
                </a:solidFill>
              </a:rPr>
              <a:t>positif</a:t>
            </a:r>
            <a:endParaRPr lang="en-US" sz="2400" dirty="0">
              <a:solidFill>
                <a:srgbClr val="FFFF00"/>
              </a:solidFill>
            </a:endParaRPr>
          </a:p>
          <a:p>
            <a:pPr marL="449263" lvl="0" indent="-449263">
              <a:buFont typeface="Wingdings" pitchFamily="2" charset="2"/>
              <a:buChar char="ü"/>
            </a:pPr>
            <a:r>
              <a:rPr lang="en-US" sz="2400" dirty="0" err="1">
                <a:solidFill>
                  <a:srgbClr val="FFFF00"/>
                </a:solidFill>
              </a:rPr>
              <a:t>Membahagiakan</a:t>
            </a:r>
            <a:r>
              <a:rPr lang="en-US" sz="2400" dirty="0">
                <a:solidFill>
                  <a:srgbClr val="FFFF00"/>
                </a:solidFill>
              </a:rPr>
              <a:t> </a:t>
            </a:r>
            <a:r>
              <a:rPr lang="en-US" sz="2400" dirty="0" err="1">
                <a:solidFill>
                  <a:srgbClr val="FFFF00"/>
                </a:solidFill>
              </a:rPr>
              <a:t>anak</a:t>
            </a:r>
            <a:endParaRPr lang="en-US" sz="2400" dirty="0">
              <a:solidFill>
                <a:srgbClr val="FFFF00"/>
              </a:solidFill>
            </a:endParaRPr>
          </a:p>
          <a:p>
            <a:pPr marL="449263" lvl="0" indent="-449263">
              <a:buFont typeface="Wingdings" pitchFamily="2" charset="2"/>
              <a:buChar char="ü"/>
            </a:pPr>
            <a:endParaRPr lang="en-US" sz="800" dirty="0">
              <a:solidFill>
                <a:srgbClr val="FFFF00"/>
              </a:solidFill>
            </a:endParaRPr>
          </a:p>
          <a:p>
            <a:pPr marL="449263" lvl="0" indent="-449263"/>
            <a:r>
              <a:rPr lang="en-US" sz="2400" dirty="0">
                <a:solidFill>
                  <a:schemeClr val="bg1"/>
                </a:solidFill>
              </a:rPr>
              <a:t>CARA BELAJAR ANAK:</a:t>
            </a:r>
          </a:p>
          <a:p>
            <a:pPr marL="449263" lvl="0" indent="-449263">
              <a:buFont typeface="Wingdings" pitchFamily="2" charset="2"/>
              <a:buChar char="ü"/>
            </a:pPr>
            <a:r>
              <a:rPr lang="en-US" sz="2400" dirty="0" err="1">
                <a:solidFill>
                  <a:srgbClr val="FFFF00"/>
                </a:solidFill>
              </a:rPr>
              <a:t>Taqlid</a:t>
            </a:r>
            <a:r>
              <a:rPr lang="en-US" sz="2400" dirty="0">
                <a:solidFill>
                  <a:srgbClr val="FFFF00"/>
                </a:solidFill>
              </a:rPr>
              <a:t> (</a:t>
            </a:r>
            <a:r>
              <a:rPr lang="en-US" sz="2400" dirty="0" err="1">
                <a:solidFill>
                  <a:srgbClr val="FFFF00"/>
                </a:solidFill>
              </a:rPr>
              <a:t>peniru</a:t>
            </a:r>
            <a:r>
              <a:rPr lang="en-US" sz="2400" dirty="0">
                <a:solidFill>
                  <a:srgbClr val="FFFF00"/>
                </a:solidFill>
              </a:rPr>
              <a:t> </a:t>
            </a:r>
            <a:r>
              <a:rPr lang="en-US" sz="2400" dirty="0" err="1">
                <a:solidFill>
                  <a:srgbClr val="FFFF00"/>
                </a:solidFill>
              </a:rPr>
              <a:t>ulung</a:t>
            </a:r>
            <a:r>
              <a:rPr lang="en-US" sz="2400" dirty="0">
                <a:solidFill>
                  <a:srgbClr val="FFFF00"/>
                </a:solidFill>
              </a:rPr>
              <a:t>)</a:t>
            </a:r>
          </a:p>
          <a:p>
            <a:pPr marL="449263" lvl="0" indent="-449263"/>
            <a:endParaRPr lang="en-US" sz="800" dirty="0">
              <a:solidFill>
                <a:srgbClr val="FFFF00"/>
              </a:solidFill>
            </a:endParaRPr>
          </a:p>
          <a:p>
            <a:pPr marL="449263" lvl="0" indent="-449263"/>
            <a:r>
              <a:rPr lang="en-US" sz="2400" dirty="0">
                <a:solidFill>
                  <a:schemeClr val="bg1"/>
                </a:solidFill>
              </a:rPr>
              <a:t>CARA PEMBELAJARAN:</a:t>
            </a:r>
          </a:p>
          <a:p>
            <a:pPr marL="449263" lvl="0" indent="-449263">
              <a:buFont typeface="Wingdings" pitchFamily="2" charset="2"/>
              <a:buChar char="ü"/>
            </a:pPr>
            <a:r>
              <a:rPr lang="en-US" sz="2400" dirty="0" err="1">
                <a:solidFill>
                  <a:srgbClr val="FFFF00"/>
                </a:solidFill>
              </a:rPr>
              <a:t>Keteladanan</a:t>
            </a:r>
            <a:r>
              <a:rPr lang="en-US" sz="2400" dirty="0">
                <a:solidFill>
                  <a:srgbClr val="FFFF00"/>
                </a:solidFill>
              </a:rPr>
              <a:t> </a:t>
            </a:r>
          </a:p>
          <a:p>
            <a:pPr marL="449263" lvl="0" indent="-449263">
              <a:buFont typeface="Wingdings" pitchFamily="2" charset="2"/>
              <a:buChar char="ü"/>
            </a:pPr>
            <a:r>
              <a:rPr lang="en-US" sz="2400" dirty="0" err="1">
                <a:solidFill>
                  <a:srgbClr val="FFFF00"/>
                </a:solidFill>
              </a:rPr>
              <a:t>Kisah</a:t>
            </a:r>
            <a:r>
              <a:rPr lang="en-US" sz="2400" dirty="0">
                <a:solidFill>
                  <a:srgbClr val="FFFF00"/>
                </a:solidFill>
              </a:rPr>
              <a:t> </a:t>
            </a:r>
            <a:r>
              <a:rPr lang="en-US" sz="2400" dirty="0" err="1">
                <a:solidFill>
                  <a:srgbClr val="FFFF00"/>
                </a:solidFill>
              </a:rPr>
              <a:t>atau</a:t>
            </a:r>
            <a:r>
              <a:rPr lang="en-US" sz="2400" dirty="0">
                <a:solidFill>
                  <a:srgbClr val="FFFF00"/>
                </a:solidFill>
              </a:rPr>
              <a:t> </a:t>
            </a:r>
            <a:r>
              <a:rPr lang="en-US" sz="2400" dirty="0" err="1">
                <a:solidFill>
                  <a:srgbClr val="FFFF00"/>
                </a:solidFill>
              </a:rPr>
              <a:t>cerita</a:t>
            </a:r>
            <a:endParaRPr lang="en-US" sz="2400" dirty="0">
              <a:solidFill>
                <a:srgbClr val="FFFF00"/>
              </a:solidFill>
            </a:endParaRPr>
          </a:p>
          <a:p>
            <a:pPr marL="449263" lvl="0" indent="-449263">
              <a:buFont typeface="Wingdings" pitchFamily="2" charset="2"/>
              <a:buChar char="ü"/>
            </a:pPr>
            <a:r>
              <a:rPr lang="en-US" sz="2400" dirty="0" err="1">
                <a:solidFill>
                  <a:srgbClr val="FFFF00"/>
                </a:solidFill>
              </a:rPr>
              <a:t>Bermain</a:t>
            </a:r>
            <a:r>
              <a:rPr lang="en-US" sz="2400" dirty="0">
                <a:solidFill>
                  <a:srgbClr val="FFFF00"/>
                </a:solidFill>
              </a:rPr>
              <a:t> (</a:t>
            </a:r>
            <a:r>
              <a:rPr lang="en-US" sz="2400" dirty="0" err="1">
                <a:solidFill>
                  <a:srgbClr val="FFFF00"/>
                </a:solidFill>
              </a:rPr>
              <a:t>bersama</a:t>
            </a:r>
            <a:r>
              <a:rPr lang="en-US" sz="2400" dirty="0">
                <a:solidFill>
                  <a:srgbClr val="FFFF00"/>
                </a:solidFill>
              </a:rPr>
              <a:t> </a:t>
            </a:r>
            <a:r>
              <a:rPr lang="en-US" sz="2400" dirty="0" err="1">
                <a:solidFill>
                  <a:srgbClr val="FFFF00"/>
                </a:solidFill>
              </a:rPr>
              <a:t>alam</a:t>
            </a:r>
            <a:r>
              <a:rPr lang="en-US" sz="2400" dirty="0">
                <a:solidFill>
                  <a:srgbClr val="FFFF00"/>
                </a:solidFill>
              </a:rPr>
              <a:t>)</a:t>
            </a:r>
          </a:p>
          <a:p>
            <a:pPr marL="449263" lvl="0" indent="-449263">
              <a:buFont typeface="Wingdings" pitchFamily="2" charset="2"/>
              <a:buChar char="ü"/>
            </a:pPr>
            <a:endParaRPr lang="en-US" sz="800" dirty="0">
              <a:solidFill>
                <a:srgbClr val="FFFF00"/>
              </a:solidFill>
            </a:endParaRPr>
          </a:p>
        </p:txBody>
      </p:sp>
      <p:sp>
        <p:nvSpPr>
          <p:cNvPr id="4" name="TextBox 3"/>
          <p:cNvSpPr txBox="1"/>
          <p:nvPr/>
        </p:nvSpPr>
        <p:spPr>
          <a:xfrm>
            <a:off x="5715008" y="71414"/>
            <a:ext cx="3357554" cy="461665"/>
          </a:xfrm>
          <a:prstGeom prst="rect">
            <a:avLst/>
          </a:prstGeom>
          <a:solidFill>
            <a:srgbClr val="00B050"/>
          </a:solidFill>
        </p:spPr>
        <p:txBody>
          <a:bodyPr wrap="square" rtlCol="0">
            <a:spAutoFit/>
          </a:bodyPr>
          <a:lstStyle/>
          <a:p>
            <a:pPr algn="ctr"/>
            <a:r>
              <a:rPr lang="en-US" sz="2400" dirty="0">
                <a:solidFill>
                  <a:schemeClr val="bg1"/>
                </a:solidFill>
              </a:rPr>
              <a:t>PAUD - TK</a:t>
            </a:r>
          </a:p>
        </p:txBody>
      </p:sp>
      <p:sp>
        <p:nvSpPr>
          <p:cNvPr id="7" name="TextBox 6"/>
          <p:cNvSpPr txBox="1"/>
          <p:nvPr/>
        </p:nvSpPr>
        <p:spPr>
          <a:xfrm>
            <a:off x="950272" y="785794"/>
            <a:ext cx="549894" cy="5643602"/>
          </a:xfrm>
          <a:prstGeom prst="rect">
            <a:avLst/>
          </a:prstGeom>
          <a:solidFill>
            <a:srgbClr val="FFFF00"/>
          </a:solidFill>
        </p:spPr>
        <p:txBody>
          <a:bodyPr vert="wordArtVert" wrap="square" rtlCol="0">
            <a:spAutoFit/>
          </a:bodyPr>
          <a:lstStyle/>
          <a:p>
            <a:pPr algn="ctr"/>
            <a:r>
              <a:rPr lang="en-US" sz="2000" b="1" dirty="0"/>
              <a:t>PENDIDIKAN HATI</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1000"/>
                                        <p:tgtEl>
                                          <p:spTgt spid="6">
                                            <p:txEl>
                                              <p:pRg st="1" end="1"/>
                                            </p:txEl>
                                          </p:spTgt>
                                        </p:tgtEl>
                                      </p:cBhvr>
                                    </p:animEffect>
                                    <p:anim calcmode="lin" valueType="num">
                                      <p:cBhvr>
                                        <p:cTn id="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xEl>
                                              <p:pRg st="2" end="2"/>
                                            </p:txEl>
                                          </p:spTgt>
                                        </p:tgtEl>
                                        <p:attrNameLst>
                                          <p:attrName>style.visibility</p:attrName>
                                        </p:attrNameLst>
                                      </p:cBhvr>
                                      <p:to>
                                        <p:strVal val="visible"/>
                                      </p:to>
                                    </p:set>
                                    <p:animEffect transition="in" filter="fade">
                                      <p:cBhvr>
                                        <p:cTn id="14" dur="1000"/>
                                        <p:tgtEl>
                                          <p:spTgt spid="6">
                                            <p:txEl>
                                              <p:pRg st="2" end="2"/>
                                            </p:txEl>
                                          </p:spTgt>
                                        </p:tgtEl>
                                      </p:cBhvr>
                                    </p:animEffect>
                                    <p:anim calcmode="lin" valueType="num">
                                      <p:cBhvr>
                                        <p:cTn id="15"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animEffect transition="in" filter="fade">
                                      <p:cBhvr>
                                        <p:cTn id="21" dur="1000"/>
                                        <p:tgtEl>
                                          <p:spTgt spid="6">
                                            <p:txEl>
                                              <p:pRg st="3" end="3"/>
                                            </p:txEl>
                                          </p:spTgt>
                                        </p:tgtEl>
                                      </p:cBhvr>
                                    </p:animEffect>
                                    <p:anim calcmode="lin" valueType="num">
                                      <p:cBhvr>
                                        <p:cTn id="22"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xEl>
                                              <p:pRg st="5" end="5"/>
                                            </p:txEl>
                                          </p:spTgt>
                                        </p:tgtEl>
                                        <p:attrNameLst>
                                          <p:attrName>style.visibility</p:attrName>
                                        </p:attrNameLst>
                                      </p:cBhvr>
                                      <p:to>
                                        <p:strVal val="visible"/>
                                      </p:to>
                                    </p:set>
                                    <p:animEffect transition="in" filter="fade">
                                      <p:cBhvr>
                                        <p:cTn id="28" dur="1000"/>
                                        <p:tgtEl>
                                          <p:spTgt spid="6">
                                            <p:txEl>
                                              <p:pRg st="5" end="5"/>
                                            </p:txEl>
                                          </p:spTgt>
                                        </p:tgtEl>
                                      </p:cBhvr>
                                    </p:animEffect>
                                    <p:anim calcmode="lin" valueType="num">
                                      <p:cBhvr>
                                        <p:cTn id="29"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6">
                                            <p:txEl>
                                              <p:pRg st="6" end="6"/>
                                            </p:txEl>
                                          </p:spTgt>
                                        </p:tgtEl>
                                        <p:attrNameLst>
                                          <p:attrName>style.visibility</p:attrName>
                                        </p:attrNameLst>
                                      </p:cBhvr>
                                      <p:to>
                                        <p:strVal val="visible"/>
                                      </p:to>
                                    </p:set>
                                    <p:animEffect transition="in" filter="fade">
                                      <p:cBhvr>
                                        <p:cTn id="35" dur="1000"/>
                                        <p:tgtEl>
                                          <p:spTgt spid="6">
                                            <p:txEl>
                                              <p:pRg st="6" end="6"/>
                                            </p:txEl>
                                          </p:spTgt>
                                        </p:tgtEl>
                                      </p:cBhvr>
                                    </p:animEffect>
                                    <p:anim calcmode="lin" valueType="num">
                                      <p:cBhvr>
                                        <p:cTn id="36"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6">
                                            <p:txEl>
                                              <p:pRg st="7" end="7"/>
                                            </p:txEl>
                                          </p:spTgt>
                                        </p:tgtEl>
                                        <p:attrNameLst>
                                          <p:attrName>style.visibility</p:attrName>
                                        </p:attrNameLst>
                                      </p:cBhvr>
                                      <p:to>
                                        <p:strVal val="visible"/>
                                      </p:to>
                                    </p:set>
                                    <p:animEffect transition="in" filter="fade">
                                      <p:cBhvr>
                                        <p:cTn id="42" dur="1000"/>
                                        <p:tgtEl>
                                          <p:spTgt spid="6">
                                            <p:txEl>
                                              <p:pRg st="7" end="7"/>
                                            </p:txEl>
                                          </p:spTgt>
                                        </p:tgtEl>
                                      </p:cBhvr>
                                    </p:animEffect>
                                    <p:anim calcmode="lin" valueType="num">
                                      <p:cBhvr>
                                        <p:cTn id="43"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6">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6">
                                            <p:txEl>
                                              <p:pRg st="8" end="8"/>
                                            </p:txEl>
                                          </p:spTgt>
                                        </p:tgtEl>
                                        <p:attrNameLst>
                                          <p:attrName>style.visibility</p:attrName>
                                        </p:attrNameLst>
                                      </p:cBhvr>
                                      <p:to>
                                        <p:strVal val="visible"/>
                                      </p:to>
                                    </p:set>
                                    <p:animEffect transition="in" filter="fade">
                                      <p:cBhvr>
                                        <p:cTn id="49" dur="1000"/>
                                        <p:tgtEl>
                                          <p:spTgt spid="6">
                                            <p:txEl>
                                              <p:pRg st="8" end="8"/>
                                            </p:txEl>
                                          </p:spTgt>
                                        </p:tgtEl>
                                      </p:cBhvr>
                                    </p:animEffect>
                                    <p:anim calcmode="lin" valueType="num">
                                      <p:cBhvr>
                                        <p:cTn id="50"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6">
                                            <p:txEl>
                                              <p:pRg st="10" end="10"/>
                                            </p:txEl>
                                          </p:spTgt>
                                        </p:tgtEl>
                                        <p:attrNameLst>
                                          <p:attrName>style.visibility</p:attrName>
                                        </p:attrNameLst>
                                      </p:cBhvr>
                                      <p:to>
                                        <p:strVal val="visible"/>
                                      </p:to>
                                    </p:set>
                                    <p:animEffect transition="in" filter="fade">
                                      <p:cBhvr>
                                        <p:cTn id="56" dur="1000"/>
                                        <p:tgtEl>
                                          <p:spTgt spid="6">
                                            <p:txEl>
                                              <p:pRg st="10" end="10"/>
                                            </p:txEl>
                                          </p:spTgt>
                                        </p:tgtEl>
                                      </p:cBhvr>
                                    </p:animEffect>
                                    <p:anim calcmode="lin" valueType="num">
                                      <p:cBhvr>
                                        <p:cTn id="57" dur="1000" fill="hold"/>
                                        <p:tgtEl>
                                          <p:spTgt spid="6">
                                            <p:txEl>
                                              <p:pRg st="10" end="10"/>
                                            </p:txEl>
                                          </p:spTgt>
                                        </p:tgtEl>
                                        <p:attrNameLst>
                                          <p:attrName>ppt_x</p:attrName>
                                        </p:attrNameLst>
                                      </p:cBhvr>
                                      <p:tavLst>
                                        <p:tav tm="0">
                                          <p:val>
                                            <p:strVal val="#ppt_x"/>
                                          </p:val>
                                        </p:tav>
                                        <p:tav tm="100000">
                                          <p:val>
                                            <p:strVal val="#ppt_x"/>
                                          </p:val>
                                        </p:tav>
                                      </p:tavLst>
                                    </p:anim>
                                    <p:anim calcmode="lin" valueType="num">
                                      <p:cBhvr>
                                        <p:cTn id="58" dur="1000" fill="hold"/>
                                        <p:tgtEl>
                                          <p:spTgt spid="6">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6">
                                            <p:txEl>
                                              <p:pRg st="11" end="11"/>
                                            </p:txEl>
                                          </p:spTgt>
                                        </p:tgtEl>
                                        <p:attrNameLst>
                                          <p:attrName>style.visibility</p:attrName>
                                        </p:attrNameLst>
                                      </p:cBhvr>
                                      <p:to>
                                        <p:strVal val="visible"/>
                                      </p:to>
                                    </p:set>
                                    <p:animEffect transition="in" filter="fade">
                                      <p:cBhvr>
                                        <p:cTn id="63" dur="1000"/>
                                        <p:tgtEl>
                                          <p:spTgt spid="6">
                                            <p:txEl>
                                              <p:pRg st="11" end="11"/>
                                            </p:txEl>
                                          </p:spTgt>
                                        </p:tgtEl>
                                      </p:cBhvr>
                                    </p:animEffect>
                                    <p:anim calcmode="lin" valueType="num">
                                      <p:cBhvr>
                                        <p:cTn id="64" dur="1000" fill="hold"/>
                                        <p:tgtEl>
                                          <p:spTgt spid="6">
                                            <p:txEl>
                                              <p:pRg st="11" end="11"/>
                                            </p:txEl>
                                          </p:spTgt>
                                        </p:tgtEl>
                                        <p:attrNameLst>
                                          <p:attrName>ppt_x</p:attrName>
                                        </p:attrNameLst>
                                      </p:cBhvr>
                                      <p:tavLst>
                                        <p:tav tm="0">
                                          <p:val>
                                            <p:strVal val="#ppt_x"/>
                                          </p:val>
                                        </p:tav>
                                        <p:tav tm="100000">
                                          <p:val>
                                            <p:strVal val="#ppt_x"/>
                                          </p:val>
                                        </p:tav>
                                      </p:tavLst>
                                    </p:anim>
                                    <p:anim calcmode="lin" valueType="num">
                                      <p:cBhvr>
                                        <p:cTn id="65" dur="1000" fill="hold"/>
                                        <p:tgtEl>
                                          <p:spTgt spid="6">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6">
                                            <p:txEl>
                                              <p:pRg st="13" end="13"/>
                                            </p:txEl>
                                          </p:spTgt>
                                        </p:tgtEl>
                                        <p:attrNameLst>
                                          <p:attrName>style.visibility</p:attrName>
                                        </p:attrNameLst>
                                      </p:cBhvr>
                                      <p:to>
                                        <p:strVal val="visible"/>
                                      </p:to>
                                    </p:set>
                                    <p:animEffect transition="in" filter="fade">
                                      <p:cBhvr>
                                        <p:cTn id="70" dur="1000"/>
                                        <p:tgtEl>
                                          <p:spTgt spid="6">
                                            <p:txEl>
                                              <p:pRg st="13" end="13"/>
                                            </p:txEl>
                                          </p:spTgt>
                                        </p:tgtEl>
                                      </p:cBhvr>
                                    </p:animEffect>
                                    <p:anim calcmode="lin" valueType="num">
                                      <p:cBhvr>
                                        <p:cTn id="71" dur="1000" fill="hold"/>
                                        <p:tgtEl>
                                          <p:spTgt spid="6">
                                            <p:txEl>
                                              <p:pRg st="13" end="13"/>
                                            </p:txEl>
                                          </p:spTgt>
                                        </p:tgtEl>
                                        <p:attrNameLst>
                                          <p:attrName>ppt_x</p:attrName>
                                        </p:attrNameLst>
                                      </p:cBhvr>
                                      <p:tavLst>
                                        <p:tav tm="0">
                                          <p:val>
                                            <p:strVal val="#ppt_x"/>
                                          </p:val>
                                        </p:tav>
                                        <p:tav tm="100000">
                                          <p:val>
                                            <p:strVal val="#ppt_x"/>
                                          </p:val>
                                        </p:tav>
                                      </p:tavLst>
                                    </p:anim>
                                    <p:anim calcmode="lin" valueType="num">
                                      <p:cBhvr>
                                        <p:cTn id="72" dur="1000" fill="hold"/>
                                        <p:tgtEl>
                                          <p:spTgt spid="6">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6">
                                            <p:txEl>
                                              <p:pRg st="14" end="14"/>
                                            </p:txEl>
                                          </p:spTgt>
                                        </p:tgtEl>
                                        <p:attrNameLst>
                                          <p:attrName>style.visibility</p:attrName>
                                        </p:attrNameLst>
                                      </p:cBhvr>
                                      <p:to>
                                        <p:strVal val="visible"/>
                                      </p:to>
                                    </p:set>
                                    <p:animEffect transition="in" filter="fade">
                                      <p:cBhvr>
                                        <p:cTn id="77" dur="1000"/>
                                        <p:tgtEl>
                                          <p:spTgt spid="6">
                                            <p:txEl>
                                              <p:pRg st="14" end="14"/>
                                            </p:txEl>
                                          </p:spTgt>
                                        </p:tgtEl>
                                      </p:cBhvr>
                                    </p:animEffect>
                                    <p:anim calcmode="lin" valueType="num">
                                      <p:cBhvr>
                                        <p:cTn id="78" dur="1000" fill="hold"/>
                                        <p:tgtEl>
                                          <p:spTgt spid="6">
                                            <p:txEl>
                                              <p:pRg st="14" end="14"/>
                                            </p:txEl>
                                          </p:spTgt>
                                        </p:tgtEl>
                                        <p:attrNameLst>
                                          <p:attrName>ppt_x</p:attrName>
                                        </p:attrNameLst>
                                      </p:cBhvr>
                                      <p:tavLst>
                                        <p:tav tm="0">
                                          <p:val>
                                            <p:strVal val="#ppt_x"/>
                                          </p:val>
                                        </p:tav>
                                        <p:tav tm="100000">
                                          <p:val>
                                            <p:strVal val="#ppt_x"/>
                                          </p:val>
                                        </p:tav>
                                      </p:tavLst>
                                    </p:anim>
                                    <p:anim calcmode="lin" valueType="num">
                                      <p:cBhvr>
                                        <p:cTn id="79" dur="1000" fill="hold"/>
                                        <p:tgtEl>
                                          <p:spTgt spid="6">
                                            <p:txEl>
                                              <p:pRg st="14" end="14"/>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6">
                                            <p:txEl>
                                              <p:pRg st="15" end="15"/>
                                            </p:txEl>
                                          </p:spTgt>
                                        </p:tgtEl>
                                        <p:attrNameLst>
                                          <p:attrName>style.visibility</p:attrName>
                                        </p:attrNameLst>
                                      </p:cBhvr>
                                      <p:to>
                                        <p:strVal val="visible"/>
                                      </p:to>
                                    </p:set>
                                    <p:animEffect transition="in" filter="fade">
                                      <p:cBhvr>
                                        <p:cTn id="84" dur="1000"/>
                                        <p:tgtEl>
                                          <p:spTgt spid="6">
                                            <p:txEl>
                                              <p:pRg st="15" end="15"/>
                                            </p:txEl>
                                          </p:spTgt>
                                        </p:tgtEl>
                                      </p:cBhvr>
                                    </p:animEffect>
                                    <p:anim calcmode="lin" valueType="num">
                                      <p:cBhvr>
                                        <p:cTn id="85" dur="1000" fill="hold"/>
                                        <p:tgtEl>
                                          <p:spTgt spid="6">
                                            <p:txEl>
                                              <p:pRg st="15" end="15"/>
                                            </p:txEl>
                                          </p:spTgt>
                                        </p:tgtEl>
                                        <p:attrNameLst>
                                          <p:attrName>ppt_x</p:attrName>
                                        </p:attrNameLst>
                                      </p:cBhvr>
                                      <p:tavLst>
                                        <p:tav tm="0">
                                          <p:val>
                                            <p:strVal val="#ppt_x"/>
                                          </p:val>
                                        </p:tav>
                                        <p:tav tm="100000">
                                          <p:val>
                                            <p:strVal val="#ppt_x"/>
                                          </p:val>
                                        </p:tav>
                                      </p:tavLst>
                                    </p:anim>
                                    <p:anim calcmode="lin" valueType="num">
                                      <p:cBhvr>
                                        <p:cTn id="86" dur="1000" fill="hold"/>
                                        <p:tgtEl>
                                          <p:spTgt spid="6">
                                            <p:txEl>
                                              <p:pRg st="15" end="15"/>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6">
                                            <p:txEl>
                                              <p:pRg st="16" end="16"/>
                                            </p:txEl>
                                          </p:spTgt>
                                        </p:tgtEl>
                                        <p:attrNameLst>
                                          <p:attrName>style.visibility</p:attrName>
                                        </p:attrNameLst>
                                      </p:cBhvr>
                                      <p:to>
                                        <p:strVal val="visible"/>
                                      </p:to>
                                    </p:set>
                                    <p:animEffect transition="in" filter="fade">
                                      <p:cBhvr>
                                        <p:cTn id="91" dur="1000"/>
                                        <p:tgtEl>
                                          <p:spTgt spid="6">
                                            <p:txEl>
                                              <p:pRg st="16" end="16"/>
                                            </p:txEl>
                                          </p:spTgt>
                                        </p:tgtEl>
                                      </p:cBhvr>
                                    </p:animEffect>
                                    <p:anim calcmode="lin" valueType="num">
                                      <p:cBhvr>
                                        <p:cTn id="92" dur="1000" fill="hold"/>
                                        <p:tgtEl>
                                          <p:spTgt spid="6">
                                            <p:txEl>
                                              <p:pRg st="16" end="16"/>
                                            </p:txEl>
                                          </p:spTgt>
                                        </p:tgtEl>
                                        <p:attrNameLst>
                                          <p:attrName>ppt_x</p:attrName>
                                        </p:attrNameLst>
                                      </p:cBhvr>
                                      <p:tavLst>
                                        <p:tav tm="0">
                                          <p:val>
                                            <p:strVal val="#ppt_x"/>
                                          </p:val>
                                        </p:tav>
                                        <p:tav tm="100000">
                                          <p:val>
                                            <p:strVal val="#ppt_x"/>
                                          </p:val>
                                        </p:tav>
                                      </p:tavLst>
                                    </p:anim>
                                    <p:anim calcmode="lin" valueType="num">
                                      <p:cBhvr>
                                        <p:cTn id="93" dur="1000" fill="hold"/>
                                        <p:tgtEl>
                                          <p:spTgt spid="6">
                                            <p:txEl>
                                              <p:pRg st="16" end="16"/>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9" presetClass="entr" presetSubtype="0" fill="hold" grpId="0" nodeType="clickEffect">
                                  <p:stCondLst>
                                    <p:cond delay="0"/>
                                  </p:stCondLst>
                                  <p:childTnLst>
                                    <p:set>
                                      <p:cBhvr>
                                        <p:cTn id="97" dur="1" fill="hold">
                                          <p:stCondLst>
                                            <p:cond delay="0"/>
                                          </p:stCondLst>
                                        </p:cTn>
                                        <p:tgtEl>
                                          <p:spTgt spid="7"/>
                                        </p:tgtEl>
                                        <p:attrNameLst>
                                          <p:attrName>style.visibility</p:attrName>
                                        </p:attrNameLst>
                                      </p:cBhvr>
                                      <p:to>
                                        <p:strVal val="visible"/>
                                      </p:to>
                                    </p:set>
                                    <p:animEffect transition="in" filter="dissolve">
                                      <p:cBhvr>
                                        <p:cTn id="9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bldLvl="5"/>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sz="2800" dirty="0" err="1"/>
              <a:t>Masa</a:t>
            </a:r>
            <a:r>
              <a:rPr lang="en-US" sz="2800" dirty="0"/>
              <a:t> </a:t>
            </a:r>
            <a:r>
              <a:rPr lang="en-US" sz="2800" dirty="0" err="1"/>
              <a:t>emas</a:t>
            </a:r>
            <a:r>
              <a:rPr lang="en-US" sz="2800" dirty="0"/>
              <a:t> </a:t>
            </a:r>
            <a:r>
              <a:rPr lang="en-US" sz="2800" dirty="0" err="1"/>
              <a:t>pendidikan</a:t>
            </a:r>
            <a:r>
              <a:rPr lang="en-US" sz="2800" dirty="0"/>
              <a:t> </a:t>
            </a:r>
            <a:r>
              <a:rPr lang="en-US" sz="2800" dirty="0" err="1"/>
              <a:t>usia</a:t>
            </a:r>
            <a:r>
              <a:rPr lang="en-US" sz="2800" dirty="0"/>
              <a:t> 0-7 </a:t>
            </a:r>
            <a:r>
              <a:rPr lang="en-US" sz="2800" dirty="0" err="1"/>
              <a:t>tahun</a:t>
            </a:r>
            <a:br>
              <a:rPr lang="en-US" sz="2800" dirty="0"/>
            </a:br>
            <a:endParaRPr lang="en-US" sz="2800" dirty="0"/>
          </a:p>
        </p:txBody>
      </p:sp>
      <p:graphicFrame>
        <p:nvGraphicFramePr>
          <p:cNvPr id="3" name="Table 2"/>
          <p:cNvGraphicFramePr>
            <a:graphicFrameLocks noGrp="1"/>
          </p:cNvGraphicFramePr>
          <p:nvPr>
            <p:extLst>
              <p:ext uri="{D42A27DB-BD31-4B8C-83A1-F6EECF244321}">
                <p14:modId xmlns:p14="http://schemas.microsoft.com/office/powerpoint/2010/main" val="2195849428"/>
              </p:ext>
            </p:extLst>
          </p:nvPr>
        </p:nvGraphicFramePr>
        <p:xfrm>
          <a:off x="714348" y="1214422"/>
          <a:ext cx="8001056" cy="5143536"/>
        </p:xfrm>
        <a:graphic>
          <a:graphicData uri="http://schemas.openxmlformats.org/drawingml/2006/table">
            <a:tbl>
              <a:tblPr/>
              <a:tblGrid>
                <a:gridCol w="577165">
                  <a:extLst>
                    <a:ext uri="{9D8B030D-6E8A-4147-A177-3AD203B41FA5}">
                      <a16:colId xmlns:a16="http://schemas.microsoft.com/office/drawing/2014/main" val="20000"/>
                    </a:ext>
                  </a:extLst>
                </a:gridCol>
                <a:gridCol w="5209313">
                  <a:extLst>
                    <a:ext uri="{9D8B030D-6E8A-4147-A177-3AD203B41FA5}">
                      <a16:colId xmlns:a16="http://schemas.microsoft.com/office/drawing/2014/main" val="20001"/>
                    </a:ext>
                  </a:extLst>
                </a:gridCol>
                <a:gridCol w="2214578">
                  <a:extLst>
                    <a:ext uri="{9D8B030D-6E8A-4147-A177-3AD203B41FA5}">
                      <a16:colId xmlns:a16="http://schemas.microsoft.com/office/drawing/2014/main" val="20002"/>
                    </a:ext>
                  </a:extLst>
                </a:gridCol>
              </a:tblGrid>
              <a:tr h="571504">
                <a:tc>
                  <a:txBody>
                    <a:bodyPr/>
                    <a:lstStyle/>
                    <a:p>
                      <a:pPr algn="ctr">
                        <a:lnSpc>
                          <a:spcPct val="115000"/>
                        </a:lnSpc>
                      </a:pPr>
                      <a:r>
                        <a:rPr lang="en-US" sz="2400" dirty="0">
                          <a:latin typeface="Calibri"/>
                          <a:ea typeface="Arial Unicode MS"/>
                          <a:cs typeface="Arial Unicode MS"/>
                        </a:rPr>
                        <a:t>No</a:t>
                      </a:r>
                      <a:endParaRPr lang="en-US" sz="2400" dirty="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pPr>
                      <a:r>
                        <a:rPr lang="en-US" sz="2400" dirty="0" err="1">
                          <a:latin typeface="Calibri"/>
                          <a:ea typeface="Arial Unicode MS"/>
                          <a:cs typeface="Arial Unicode MS"/>
                        </a:rPr>
                        <a:t>Aspek</a:t>
                      </a:r>
                      <a:r>
                        <a:rPr lang="en-US" sz="2400" dirty="0">
                          <a:latin typeface="Calibri"/>
                          <a:ea typeface="Arial Unicode MS"/>
                          <a:cs typeface="Arial Unicode MS"/>
                        </a:rPr>
                        <a:t> </a:t>
                      </a:r>
                      <a:r>
                        <a:rPr lang="en-US" sz="2400" dirty="0" err="1">
                          <a:latin typeface="Calibri"/>
                          <a:ea typeface="Arial Unicode MS"/>
                          <a:cs typeface="Arial Unicode MS"/>
                        </a:rPr>
                        <a:t>Masa</a:t>
                      </a:r>
                      <a:r>
                        <a:rPr lang="en-US" sz="2400" dirty="0">
                          <a:latin typeface="Calibri"/>
                          <a:ea typeface="Arial Unicode MS"/>
                          <a:cs typeface="Arial Unicode MS"/>
                        </a:rPr>
                        <a:t> </a:t>
                      </a:r>
                      <a:r>
                        <a:rPr lang="en-US" sz="2400" dirty="0" err="1">
                          <a:latin typeface="Calibri"/>
                          <a:ea typeface="Arial Unicode MS"/>
                          <a:cs typeface="Arial Unicode MS"/>
                        </a:rPr>
                        <a:t>Emas</a:t>
                      </a:r>
                      <a:endParaRPr lang="en-US" sz="2400" dirty="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pPr>
                      <a:r>
                        <a:rPr lang="en-US" sz="2400" dirty="0" err="1">
                          <a:latin typeface="Calibri"/>
                          <a:ea typeface="Arial Unicode MS"/>
                          <a:cs typeface="Arial Unicode MS"/>
                        </a:rPr>
                        <a:t>Keterangan</a:t>
                      </a:r>
                      <a:endParaRPr lang="en-US" sz="2400" dirty="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71504">
                <a:tc>
                  <a:txBody>
                    <a:bodyPr/>
                    <a:lstStyle/>
                    <a:p>
                      <a:pPr algn="ctr">
                        <a:lnSpc>
                          <a:spcPct val="115000"/>
                        </a:lnSpc>
                      </a:pPr>
                      <a:r>
                        <a:rPr lang="en-US" sz="2400">
                          <a:latin typeface="Calibri"/>
                          <a:ea typeface="Arial Unicode MS"/>
                          <a:cs typeface="Arial Unicode MS"/>
                        </a:rPr>
                        <a:t>1</a:t>
                      </a:r>
                      <a:endParaRPr lang="en-US" sz="240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pPr>
                      <a:r>
                        <a:rPr lang="en-US" sz="2400" dirty="0" err="1">
                          <a:latin typeface="Calibri"/>
                          <a:ea typeface="Arial Unicode MS"/>
                          <a:cs typeface="Arial Unicode MS"/>
                        </a:rPr>
                        <a:t>Pendidikan</a:t>
                      </a:r>
                      <a:r>
                        <a:rPr lang="en-US" sz="2400" dirty="0">
                          <a:latin typeface="Calibri"/>
                          <a:ea typeface="Arial Unicode MS"/>
                          <a:cs typeface="Arial Unicode MS"/>
                        </a:rPr>
                        <a:t> </a:t>
                      </a:r>
                      <a:r>
                        <a:rPr lang="en-US" sz="2400" dirty="0" err="1">
                          <a:latin typeface="Calibri"/>
                          <a:ea typeface="Arial Unicode MS"/>
                          <a:cs typeface="Arial Unicode MS"/>
                        </a:rPr>
                        <a:t>hati</a:t>
                      </a:r>
                      <a:endParaRPr lang="en-US" sz="2400" dirty="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pPr>
                      <a:r>
                        <a:rPr lang="en-US" sz="2400" dirty="0" err="1">
                          <a:latin typeface="Calibri"/>
                          <a:ea typeface="Arial Unicode MS"/>
                          <a:cs typeface="Arial Unicode MS"/>
                        </a:rPr>
                        <a:t>Bagian</a:t>
                      </a:r>
                      <a:r>
                        <a:rPr lang="en-US" sz="2400" dirty="0">
                          <a:latin typeface="Calibri"/>
                          <a:ea typeface="Arial Unicode MS"/>
                          <a:cs typeface="Arial Unicode MS"/>
                        </a:rPr>
                        <a:t> </a:t>
                      </a:r>
                      <a:r>
                        <a:rPr lang="en-US" sz="2400" dirty="0" err="1">
                          <a:latin typeface="Calibri"/>
                          <a:ea typeface="Arial Unicode MS"/>
                          <a:cs typeface="Arial Unicode MS"/>
                        </a:rPr>
                        <a:t>jiwa</a:t>
                      </a:r>
                      <a:r>
                        <a:rPr lang="en-US" sz="2400" dirty="0">
                          <a:latin typeface="Calibri"/>
                          <a:ea typeface="Arial Unicode MS"/>
                          <a:cs typeface="Arial Unicode MS"/>
                        </a:rPr>
                        <a:t> </a:t>
                      </a:r>
                      <a:endParaRPr lang="en-US" sz="2400" dirty="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71504">
                <a:tc>
                  <a:txBody>
                    <a:bodyPr/>
                    <a:lstStyle/>
                    <a:p>
                      <a:pPr algn="ctr">
                        <a:lnSpc>
                          <a:spcPct val="115000"/>
                        </a:lnSpc>
                      </a:pPr>
                      <a:r>
                        <a:rPr lang="en-US" sz="2400">
                          <a:latin typeface="Calibri"/>
                          <a:ea typeface="Arial Unicode MS"/>
                          <a:cs typeface="Arial Unicode MS"/>
                        </a:rPr>
                        <a:t>2</a:t>
                      </a:r>
                      <a:endParaRPr lang="en-US" sz="240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pPr>
                      <a:r>
                        <a:rPr lang="en-US" sz="2400" dirty="0" err="1">
                          <a:latin typeface="Calibri"/>
                          <a:ea typeface="Arial Unicode MS"/>
                          <a:cs typeface="Arial Unicode MS"/>
                        </a:rPr>
                        <a:t>Tauhid</a:t>
                      </a:r>
                      <a:r>
                        <a:rPr lang="en-US" sz="2400" dirty="0">
                          <a:latin typeface="Calibri"/>
                          <a:ea typeface="Arial Unicode MS"/>
                          <a:cs typeface="Arial Unicode MS"/>
                        </a:rPr>
                        <a:t> </a:t>
                      </a:r>
                      <a:r>
                        <a:rPr lang="en-US" sz="2400" dirty="0" err="1">
                          <a:latin typeface="Calibri"/>
                          <a:ea typeface="Arial Unicode MS"/>
                          <a:cs typeface="Arial Unicode MS"/>
                        </a:rPr>
                        <a:t>rububiyyah</a:t>
                      </a:r>
                      <a:endParaRPr lang="en-US" sz="2400" dirty="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pPr>
                      <a:r>
                        <a:rPr lang="en-US" sz="2400">
                          <a:latin typeface="Calibri"/>
                          <a:ea typeface="Arial Unicode MS"/>
                          <a:cs typeface="Arial Unicode MS"/>
                        </a:rPr>
                        <a:t>Tauhid </a:t>
                      </a:r>
                      <a:endParaRPr lang="en-US" sz="240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71504">
                <a:tc>
                  <a:txBody>
                    <a:bodyPr/>
                    <a:lstStyle/>
                    <a:p>
                      <a:pPr algn="ctr">
                        <a:lnSpc>
                          <a:spcPct val="115000"/>
                        </a:lnSpc>
                      </a:pPr>
                      <a:r>
                        <a:rPr lang="en-US" sz="2400">
                          <a:latin typeface="Calibri"/>
                          <a:ea typeface="Arial Unicode MS"/>
                          <a:cs typeface="Arial Unicode MS"/>
                        </a:rPr>
                        <a:t>3</a:t>
                      </a:r>
                      <a:endParaRPr lang="en-US" sz="240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pPr>
                      <a:r>
                        <a:rPr lang="en-US" sz="2400" dirty="0" err="1">
                          <a:latin typeface="Calibri"/>
                          <a:ea typeface="Arial Unicode MS"/>
                          <a:cs typeface="Arial Unicode MS"/>
                        </a:rPr>
                        <a:t>Mahabbah</a:t>
                      </a:r>
                      <a:r>
                        <a:rPr lang="en-US" sz="2400" dirty="0">
                          <a:latin typeface="Calibri"/>
                          <a:ea typeface="Arial Unicode MS"/>
                          <a:cs typeface="Arial Unicode MS"/>
                        </a:rPr>
                        <a:t> (</a:t>
                      </a:r>
                      <a:r>
                        <a:rPr lang="en-US" sz="2400" dirty="0" err="1">
                          <a:latin typeface="Calibri"/>
                          <a:ea typeface="Arial Unicode MS"/>
                          <a:cs typeface="Arial Unicode MS"/>
                        </a:rPr>
                        <a:t>kecintaan</a:t>
                      </a:r>
                      <a:r>
                        <a:rPr lang="en-US" sz="2400" dirty="0">
                          <a:latin typeface="Calibri"/>
                          <a:ea typeface="Arial Unicode MS"/>
                          <a:cs typeface="Arial Unicode MS"/>
                        </a:rPr>
                        <a:t>)</a:t>
                      </a:r>
                      <a:endParaRPr lang="en-US" sz="2400" dirty="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pPr>
                      <a:r>
                        <a:rPr lang="en-US" sz="2400">
                          <a:latin typeface="Calibri"/>
                          <a:ea typeface="Arial Unicode MS"/>
                          <a:cs typeface="Arial Unicode MS"/>
                        </a:rPr>
                        <a:t>Rukun ibadah </a:t>
                      </a:r>
                      <a:endParaRPr lang="en-US" sz="240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71504">
                <a:tc>
                  <a:txBody>
                    <a:bodyPr/>
                    <a:lstStyle/>
                    <a:p>
                      <a:pPr algn="ctr">
                        <a:lnSpc>
                          <a:spcPct val="115000"/>
                        </a:lnSpc>
                      </a:pPr>
                      <a:r>
                        <a:rPr lang="en-US" sz="2400">
                          <a:latin typeface="Calibri"/>
                          <a:ea typeface="Arial Unicode MS"/>
                          <a:cs typeface="Arial Unicode MS"/>
                        </a:rPr>
                        <a:t>4</a:t>
                      </a:r>
                      <a:endParaRPr lang="en-US" sz="240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pPr>
                      <a:r>
                        <a:rPr lang="en-US" sz="2400" dirty="0" err="1">
                          <a:latin typeface="Calibri"/>
                          <a:ea typeface="Arial Unicode MS"/>
                          <a:cs typeface="Arial Unicode MS"/>
                        </a:rPr>
                        <a:t>Afektif</a:t>
                      </a:r>
                      <a:endParaRPr lang="en-US" sz="2400" dirty="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pPr>
                      <a:r>
                        <a:rPr lang="en-US" sz="2400">
                          <a:latin typeface="Calibri"/>
                          <a:ea typeface="Arial Unicode MS"/>
                          <a:cs typeface="Arial Unicode MS"/>
                        </a:rPr>
                        <a:t>Unsur diri </a:t>
                      </a:r>
                      <a:endParaRPr lang="en-US" sz="240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71504">
                <a:tc>
                  <a:txBody>
                    <a:bodyPr/>
                    <a:lstStyle/>
                    <a:p>
                      <a:pPr algn="ctr">
                        <a:lnSpc>
                          <a:spcPct val="115000"/>
                        </a:lnSpc>
                      </a:pPr>
                      <a:r>
                        <a:rPr lang="en-US" sz="2400" dirty="0">
                          <a:latin typeface="Calibri"/>
                          <a:ea typeface="Arial Unicode MS"/>
                          <a:cs typeface="Arial Unicode MS"/>
                        </a:rPr>
                        <a:t>5</a:t>
                      </a:r>
                      <a:endParaRPr lang="en-US" sz="2400" dirty="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pPr>
                      <a:r>
                        <a:rPr lang="en-US" sz="2400" dirty="0">
                          <a:latin typeface="Calibri"/>
                        </a:rPr>
                        <a:t>An </a:t>
                      </a:r>
                      <a:r>
                        <a:rPr lang="en-US" sz="2400" dirty="0" err="1">
                          <a:latin typeface="Calibri"/>
                        </a:rPr>
                        <a:t>Nafsul</a:t>
                      </a:r>
                      <a:r>
                        <a:rPr lang="en-US" sz="2400" dirty="0">
                          <a:latin typeface="Calibri"/>
                        </a:rPr>
                        <a:t> </a:t>
                      </a:r>
                      <a:r>
                        <a:rPr lang="en-US" sz="2400" dirty="0" err="1">
                          <a:latin typeface="Calibri"/>
                        </a:rPr>
                        <a:t>Ammarah</a:t>
                      </a:r>
                      <a:endParaRPr lang="en-US" sz="2400" dirty="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pPr>
                      <a:r>
                        <a:rPr lang="en-US" sz="2400" dirty="0" err="1">
                          <a:latin typeface="Calibri"/>
                        </a:rPr>
                        <a:t>Struktur</a:t>
                      </a:r>
                      <a:r>
                        <a:rPr lang="en-US" sz="2400" dirty="0">
                          <a:latin typeface="Calibri"/>
                        </a:rPr>
                        <a:t> </a:t>
                      </a:r>
                      <a:r>
                        <a:rPr lang="en-US" sz="2400" dirty="0" err="1">
                          <a:latin typeface="Calibri"/>
                        </a:rPr>
                        <a:t>jiwa</a:t>
                      </a:r>
                      <a:endParaRPr lang="en-US" sz="2400" dirty="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71504">
                <a:tc>
                  <a:txBody>
                    <a:bodyPr/>
                    <a:lstStyle/>
                    <a:p>
                      <a:pPr algn="ctr">
                        <a:lnSpc>
                          <a:spcPct val="115000"/>
                        </a:lnSpc>
                      </a:pPr>
                      <a:r>
                        <a:rPr lang="en-US" sz="2400">
                          <a:latin typeface="Calibri"/>
                          <a:ea typeface="Arial Unicode MS"/>
                          <a:cs typeface="Arial Unicode MS"/>
                        </a:rPr>
                        <a:t>6</a:t>
                      </a:r>
                      <a:endParaRPr lang="en-US" sz="240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pPr>
                      <a:r>
                        <a:rPr lang="en-US" sz="2400" dirty="0" err="1">
                          <a:latin typeface="Calibri"/>
                          <a:ea typeface="Arial Unicode MS"/>
                          <a:cs typeface="Arial Unicode MS"/>
                        </a:rPr>
                        <a:t>Kesukaan</a:t>
                      </a:r>
                      <a:r>
                        <a:rPr lang="en-US" sz="2400" dirty="0">
                          <a:latin typeface="Calibri"/>
                          <a:ea typeface="Arial Unicode MS"/>
                          <a:cs typeface="Arial Unicode MS"/>
                        </a:rPr>
                        <a:t> </a:t>
                      </a:r>
                      <a:r>
                        <a:rPr lang="en-US" sz="2400" dirty="0" err="1">
                          <a:latin typeface="Calibri"/>
                          <a:ea typeface="Arial Unicode MS"/>
                          <a:cs typeface="Arial Unicode MS"/>
                        </a:rPr>
                        <a:t>belajar</a:t>
                      </a:r>
                      <a:endParaRPr lang="en-US" sz="2400" dirty="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pPr>
                      <a:r>
                        <a:rPr lang="en-US" sz="2400">
                          <a:latin typeface="Calibri"/>
                          <a:ea typeface="Arial Unicode MS"/>
                          <a:cs typeface="Arial Unicode MS"/>
                        </a:rPr>
                        <a:t>Karakter Belajar </a:t>
                      </a:r>
                      <a:endParaRPr lang="en-US" sz="240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571504">
                <a:tc>
                  <a:txBody>
                    <a:bodyPr/>
                    <a:lstStyle/>
                    <a:p>
                      <a:pPr algn="ctr">
                        <a:lnSpc>
                          <a:spcPct val="115000"/>
                        </a:lnSpc>
                      </a:pPr>
                      <a:r>
                        <a:rPr lang="en-US" sz="2400">
                          <a:latin typeface="Calibri"/>
                          <a:ea typeface="Arial Unicode MS"/>
                          <a:cs typeface="Arial Unicode MS"/>
                        </a:rPr>
                        <a:t>7</a:t>
                      </a:r>
                      <a:endParaRPr lang="en-US" sz="240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pPr>
                      <a:r>
                        <a:rPr lang="en-US" sz="2400" dirty="0" err="1">
                          <a:latin typeface="Calibri"/>
                          <a:ea typeface="Arial Unicode MS"/>
                          <a:cs typeface="Arial Unicode MS"/>
                        </a:rPr>
                        <a:t>Kesukaan</a:t>
                      </a:r>
                      <a:r>
                        <a:rPr lang="en-US" sz="2400" dirty="0">
                          <a:latin typeface="Calibri"/>
                          <a:ea typeface="Arial Unicode MS"/>
                          <a:cs typeface="Arial Unicode MS"/>
                        </a:rPr>
                        <a:t> </a:t>
                      </a:r>
                      <a:r>
                        <a:rPr lang="en-US" sz="2400" dirty="0" err="1">
                          <a:latin typeface="Calibri"/>
                          <a:ea typeface="Arial Unicode MS"/>
                          <a:cs typeface="Arial Unicode MS"/>
                        </a:rPr>
                        <a:t>bakat</a:t>
                      </a:r>
                      <a:r>
                        <a:rPr lang="en-US" sz="2400" dirty="0">
                          <a:latin typeface="Calibri"/>
                          <a:ea typeface="Arial Unicode MS"/>
                          <a:cs typeface="Arial Unicode MS"/>
                        </a:rPr>
                        <a:t> (</a:t>
                      </a:r>
                      <a:r>
                        <a:rPr lang="en-US" sz="2400" dirty="0" err="1">
                          <a:latin typeface="Calibri"/>
                          <a:ea typeface="Arial Unicode MS"/>
                          <a:cs typeface="Arial Unicode MS"/>
                        </a:rPr>
                        <a:t>suka</a:t>
                      </a:r>
                      <a:r>
                        <a:rPr lang="en-US" sz="2400" dirty="0">
                          <a:latin typeface="Calibri"/>
                          <a:ea typeface="Arial Unicode MS"/>
                          <a:cs typeface="Arial Unicode MS"/>
                        </a:rPr>
                        <a:t>)</a:t>
                      </a:r>
                      <a:endParaRPr lang="en-US" sz="2400" dirty="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pPr>
                      <a:r>
                        <a:rPr lang="en-US" sz="2400" dirty="0" err="1">
                          <a:latin typeface="Calibri"/>
                          <a:ea typeface="Arial Unicode MS"/>
                          <a:cs typeface="Arial Unicode MS"/>
                        </a:rPr>
                        <a:t>Karakter</a:t>
                      </a:r>
                      <a:r>
                        <a:rPr lang="en-US" sz="2400" dirty="0">
                          <a:latin typeface="Calibri"/>
                          <a:ea typeface="Arial Unicode MS"/>
                          <a:cs typeface="Arial Unicode MS"/>
                        </a:rPr>
                        <a:t> </a:t>
                      </a:r>
                      <a:r>
                        <a:rPr lang="en-US" sz="2400" dirty="0" err="1">
                          <a:latin typeface="Calibri"/>
                          <a:ea typeface="Arial Unicode MS"/>
                          <a:cs typeface="Arial Unicode MS"/>
                        </a:rPr>
                        <a:t>Bakat</a:t>
                      </a:r>
                      <a:endParaRPr lang="en-US" sz="2400" dirty="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571504">
                <a:tc>
                  <a:txBody>
                    <a:bodyPr/>
                    <a:lstStyle/>
                    <a:p>
                      <a:pPr algn="ctr">
                        <a:lnSpc>
                          <a:spcPct val="115000"/>
                        </a:lnSpc>
                      </a:pPr>
                      <a:r>
                        <a:rPr lang="en-US" sz="2400" dirty="0">
                          <a:latin typeface="Calibri"/>
                        </a:rPr>
                        <a:t>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pPr>
                      <a:r>
                        <a:rPr lang="en-US" sz="2400" dirty="0" err="1">
                          <a:latin typeface="Calibri"/>
                        </a:rPr>
                        <a:t>Taqlid</a:t>
                      </a:r>
                      <a:r>
                        <a:rPr lang="en-US" sz="2400" dirty="0">
                          <a:latin typeface="Calibri"/>
                        </a:rPr>
                        <a:t> (</a:t>
                      </a:r>
                      <a:r>
                        <a:rPr lang="en-US" sz="2400" dirty="0" err="1">
                          <a:latin typeface="Calibri"/>
                        </a:rPr>
                        <a:t>Peniru</a:t>
                      </a:r>
                      <a:r>
                        <a:rPr lang="en-US" sz="2400" dirty="0">
                          <a:latin typeface="Calibri"/>
                        </a:rPr>
                        <a:t> </a:t>
                      </a:r>
                      <a:r>
                        <a:rPr lang="en-US" sz="2400" dirty="0" err="1">
                          <a:latin typeface="Calibri"/>
                        </a:rPr>
                        <a:t>ulung</a:t>
                      </a:r>
                      <a:r>
                        <a:rPr lang="en-US" sz="2400" dirty="0">
                          <a:latin typeface="Calibri"/>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pPr>
                      <a:r>
                        <a:rPr lang="en-US" sz="2400" dirty="0" err="1">
                          <a:latin typeface="Calibri"/>
                        </a:rPr>
                        <a:t>Metode</a:t>
                      </a:r>
                      <a:r>
                        <a:rPr lang="en-US" sz="2400" dirty="0">
                          <a:latin typeface="Calibri"/>
                        </a:rPr>
                        <a:t> </a:t>
                      </a:r>
                      <a:r>
                        <a:rPr lang="en-US" sz="2400" dirty="0" err="1">
                          <a:latin typeface="Calibri"/>
                        </a:rPr>
                        <a:t>belajar</a:t>
                      </a:r>
                      <a:endParaRPr lang="en-US" sz="2400" dirty="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4" name="TextBox 3"/>
          <p:cNvSpPr txBox="1"/>
          <p:nvPr/>
        </p:nvSpPr>
        <p:spPr>
          <a:xfrm>
            <a:off x="5786478" y="-24"/>
            <a:ext cx="3357554" cy="461665"/>
          </a:xfrm>
          <a:prstGeom prst="rect">
            <a:avLst/>
          </a:prstGeom>
          <a:solidFill>
            <a:srgbClr val="00B050"/>
          </a:solidFill>
        </p:spPr>
        <p:txBody>
          <a:bodyPr wrap="square" rtlCol="0">
            <a:spAutoFit/>
          </a:bodyPr>
          <a:lstStyle/>
          <a:p>
            <a:pPr algn="ctr"/>
            <a:r>
              <a:rPr lang="en-US" sz="2400" dirty="0">
                <a:solidFill>
                  <a:schemeClr val="bg1"/>
                </a:solidFill>
              </a:rPr>
              <a:t>PAUD - TK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28612"/>
            <a:ext cx="8229600" cy="1143000"/>
          </a:xfrm>
        </p:spPr>
        <p:txBody>
          <a:bodyPr>
            <a:normAutofit/>
          </a:bodyPr>
          <a:lstStyle/>
          <a:p>
            <a:pPr lvl="0"/>
            <a:r>
              <a:rPr lang="en-US" sz="2800" dirty="0" err="1"/>
              <a:t>Pendidikan</a:t>
            </a:r>
            <a:r>
              <a:rPr lang="en-US" sz="2800" dirty="0"/>
              <a:t> </a:t>
            </a:r>
            <a:r>
              <a:rPr lang="en-US" sz="2800" dirty="0" err="1"/>
              <a:t>Karakter</a:t>
            </a:r>
            <a:r>
              <a:rPr lang="en-US" sz="2800" dirty="0"/>
              <a:t> </a:t>
            </a:r>
            <a:r>
              <a:rPr lang="en-US" sz="2800" dirty="0" err="1"/>
              <a:t>usia</a:t>
            </a:r>
            <a:r>
              <a:rPr lang="en-US" sz="2800" dirty="0"/>
              <a:t> 0-7 </a:t>
            </a:r>
            <a:r>
              <a:rPr lang="en-US" sz="2800" dirty="0" err="1"/>
              <a:t>tahun</a:t>
            </a:r>
            <a:br>
              <a:rPr lang="en-US" sz="2800" dirty="0"/>
            </a:br>
            <a:endParaRPr lang="en-US" sz="2800" dirty="0"/>
          </a:p>
        </p:txBody>
      </p:sp>
      <p:graphicFrame>
        <p:nvGraphicFramePr>
          <p:cNvPr id="3" name="Table 2"/>
          <p:cNvGraphicFramePr>
            <a:graphicFrameLocks noGrp="1"/>
          </p:cNvGraphicFramePr>
          <p:nvPr/>
        </p:nvGraphicFramePr>
        <p:xfrm>
          <a:off x="500034" y="1110060"/>
          <a:ext cx="8215370" cy="4932430"/>
        </p:xfrm>
        <a:graphic>
          <a:graphicData uri="http://schemas.openxmlformats.org/drawingml/2006/table">
            <a:tbl>
              <a:tblPr/>
              <a:tblGrid>
                <a:gridCol w="2000264">
                  <a:extLst>
                    <a:ext uri="{9D8B030D-6E8A-4147-A177-3AD203B41FA5}">
                      <a16:colId xmlns:a16="http://schemas.microsoft.com/office/drawing/2014/main" val="20000"/>
                    </a:ext>
                  </a:extLst>
                </a:gridCol>
                <a:gridCol w="6215106">
                  <a:extLst>
                    <a:ext uri="{9D8B030D-6E8A-4147-A177-3AD203B41FA5}">
                      <a16:colId xmlns:a16="http://schemas.microsoft.com/office/drawing/2014/main" val="20001"/>
                    </a:ext>
                  </a:extLst>
                </a:gridCol>
              </a:tblGrid>
              <a:tr h="571504">
                <a:tc>
                  <a:txBody>
                    <a:bodyPr/>
                    <a:lstStyle/>
                    <a:p>
                      <a:pPr algn="ctr">
                        <a:lnSpc>
                          <a:spcPct val="115000"/>
                        </a:lnSpc>
                      </a:pPr>
                      <a:r>
                        <a:rPr lang="en-US" sz="1800" dirty="0">
                          <a:latin typeface="Calibri"/>
                          <a:ea typeface="Arial Unicode MS"/>
                          <a:cs typeface="Arial Unicode MS"/>
                        </a:rPr>
                        <a:t>KARAKTER</a:t>
                      </a:r>
                      <a:endParaRPr lang="en-US" sz="1800" dirty="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alpha val="40000"/>
                      </a:srgbClr>
                    </a:solidFill>
                  </a:tcPr>
                </a:tc>
                <a:tc>
                  <a:txBody>
                    <a:bodyPr/>
                    <a:lstStyle/>
                    <a:p>
                      <a:pPr algn="ctr">
                        <a:lnSpc>
                          <a:spcPct val="115000"/>
                        </a:lnSpc>
                      </a:pPr>
                      <a:r>
                        <a:rPr lang="en-US" sz="1800" baseline="0" dirty="0">
                          <a:latin typeface="Calibri"/>
                          <a:ea typeface="Arial Unicode MS"/>
                          <a:cs typeface="Arial Unicode MS"/>
                        </a:rPr>
                        <a:t>DASAR PEMBELAJARAN</a:t>
                      </a:r>
                      <a:endParaRPr lang="en-US" sz="1800" dirty="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alpha val="40000"/>
                      </a:srgbClr>
                    </a:solidFill>
                  </a:tcPr>
                </a:tc>
                <a:extLst>
                  <a:ext uri="{0D108BD9-81ED-4DB2-BD59-A6C34878D82A}">
                    <a16:rowId xmlns:a16="http://schemas.microsoft.com/office/drawing/2014/main" val="10000"/>
                  </a:ext>
                </a:extLst>
              </a:tr>
              <a:tr h="571504">
                <a:tc>
                  <a:txBody>
                    <a:bodyPr/>
                    <a:lstStyle/>
                    <a:p>
                      <a:pPr marL="0" indent="0" algn="l">
                        <a:lnSpc>
                          <a:spcPct val="115000"/>
                        </a:lnSpc>
                      </a:pPr>
                      <a:r>
                        <a:rPr lang="en-US" sz="1800" dirty="0">
                          <a:latin typeface="Calibri"/>
                          <a:ea typeface="Arial Unicode MS"/>
                          <a:cs typeface="Arial Unicode MS"/>
                        </a:rPr>
                        <a:t>KARAKTER IMAN</a:t>
                      </a:r>
                      <a:endParaRPr lang="en-US" sz="1800" dirty="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77800" indent="-177800" algn="just">
                        <a:lnSpc>
                          <a:spcPct val="115000"/>
                        </a:lnSpc>
                        <a:buFontTx/>
                        <a:buChar char="-"/>
                      </a:pPr>
                      <a:r>
                        <a:rPr lang="en-US" sz="1800" dirty="0" err="1">
                          <a:latin typeface="Calibri"/>
                        </a:rPr>
                        <a:t>Menumbuhkan</a:t>
                      </a:r>
                      <a:r>
                        <a:rPr lang="en-US" sz="1800" dirty="0">
                          <a:latin typeface="Calibri"/>
                        </a:rPr>
                        <a:t> </a:t>
                      </a:r>
                      <a:r>
                        <a:rPr lang="en-US" sz="1800" dirty="0" err="1">
                          <a:latin typeface="Calibri"/>
                        </a:rPr>
                        <a:t>kecintaan</a:t>
                      </a:r>
                      <a:r>
                        <a:rPr lang="en-US" sz="1800" baseline="0" dirty="0">
                          <a:latin typeface="Calibri"/>
                        </a:rPr>
                        <a:t> </a:t>
                      </a:r>
                      <a:r>
                        <a:rPr lang="en-US" sz="1800" baseline="0" dirty="0" err="1">
                          <a:latin typeface="Calibri"/>
                        </a:rPr>
                        <a:t>kepada</a:t>
                      </a:r>
                      <a:r>
                        <a:rPr lang="en-US" sz="1800" baseline="0" dirty="0">
                          <a:latin typeface="Calibri"/>
                        </a:rPr>
                        <a:t> Allah </a:t>
                      </a:r>
                      <a:r>
                        <a:rPr lang="en-US" sz="1800" baseline="0" dirty="0" err="1">
                          <a:latin typeface="Calibri"/>
                        </a:rPr>
                        <a:t>sebagai</a:t>
                      </a:r>
                      <a:r>
                        <a:rPr lang="en-US" sz="1800" baseline="0" dirty="0">
                          <a:latin typeface="Calibri"/>
                        </a:rPr>
                        <a:t> </a:t>
                      </a:r>
                      <a:r>
                        <a:rPr lang="en-US" sz="1800" baseline="0" dirty="0" err="1">
                          <a:latin typeface="Calibri"/>
                        </a:rPr>
                        <a:t>pencipta</a:t>
                      </a:r>
                      <a:r>
                        <a:rPr lang="en-US" sz="1800" baseline="0" dirty="0">
                          <a:latin typeface="Calibri"/>
                        </a:rPr>
                        <a:t> </a:t>
                      </a:r>
                      <a:r>
                        <a:rPr lang="en-US" sz="1800" baseline="0" dirty="0" err="1">
                          <a:latin typeface="Calibri"/>
                        </a:rPr>
                        <a:t>dan</a:t>
                      </a:r>
                      <a:r>
                        <a:rPr lang="en-US" sz="1800" baseline="0" dirty="0">
                          <a:latin typeface="Calibri"/>
                        </a:rPr>
                        <a:t> </a:t>
                      </a:r>
                      <a:r>
                        <a:rPr lang="en-US" sz="1800" baseline="0" dirty="0" err="1">
                          <a:latin typeface="Calibri"/>
                        </a:rPr>
                        <a:t>pengatur</a:t>
                      </a:r>
                      <a:r>
                        <a:rPr lang="en-US" sz="1800" baseline="0" dirty="0">
                          <a:latin typeface="Calibri"/>
                        </a:rPr>
                        <a:t> </a:t>
                      </a:r>
                      <a:r>
                        <a:rPr lang="en-US" sz="1800" baseline="0" dirty="0" err="1">
                          <a:latin typeface="Calibri"/>
                        </a:rPr>
                        <a:t>alam</a:t>
                      </a:r>
                      <a:r>
                        <a:rPr lang="en-US" sz="1800" baseline="0" dirty="0">
                          <a:latin typeface="Calibri"/>
                        </a:rPr>
                        <a:t> </a:t>
                      </a:r>
                      <a:r>
                        <a:rPr lang="en-US" sz="1800" baseline="0" dirty="0" err="1">
                          <a:latin typeface="Calibri"/>
                        </a:rPr>
                        <a:t>semesta</a:t>
                      </a:r>
                      <a:r>
                        <a:rPr lang="en-US" sz="1800" baseline="0" dirty="0">
                          <a:latin typeface="Calibri"/>
                        </a:rPr>
                        <a:t>; </a:t>
                      </a:r>
                      <a:r>
                        <a:rPr lang="en-US" sz="1800" baseline="0" dirty="0" err="1">
                          <a:latin typeface="Calibri"/>
                        </a:rPr>
                        <a:t>kecintaan</a:t>
                      </a:r>
                      <a:r>
                        <a:rPr lang="en-US" sz="1800" baseline="0" dirty="0">
                          <a:latin typeface="Calibri"/>
                        </a:rPr>
                        <a:t> </a:t>
                      </a:r>
                      <a:r>
                        <a:rPr lang="en-US" sz="1800" baseline="0" dirty="0" err="1">
                          <a:latin typeface="Calibri"/>
                        </a:rPr>
                        <a:t>kepada</a:t>
                      </a:r>
                      <a:r>
                        <a:rPr lang="en-US" sz="1800" baseline="0" dirty="0">
                          <a:latin typeface="Calibri"/>
                        </a:rPr>
                        <a:t> Islam, </a:t>
                      </a:r>
                      <a:r>
                        <a:rPr lang="en-US" sz="1800" baseline="0" dirty="0" err="1">
                          <a:latin typeface="Calibri"/>
                        </a:rPr>
                        <a:t>Rasul</a:t>
                      </a:r>
                      <a:r>
                        <a:rPr lang="en-US" sz="1800" baseline="0" dirty="0">
                          <a:latin typeface="Calibri"/>
                        </a:rPr>
                        <a:t>, </a:t>
                      </a:r>
                      <a:r>
                        <a:rPr lang="en-US" sz="1800" baseline="0" dirty="0" err="1">
                          <a:latin typeface="Calibri"/>
                        </a:rPr>
                        <a:t>dan</a:t>
                      </a:r>
                      <a:r>
                        <a:rPr lang="en-US" sz="1800" baseline="0" dirty="0">
                          <a:latin typeface="Calibri"/>
                        </a:rPr>
                        <a:t> </a:t>
                      </a:r>
                    </a:p>
                    <a:p>
                      <a:pPr marL="177800" indent="-177800" algn="just">
                        <a:lnSpc>
                          <a:spcPct val="115000"/>
                        </a:lnSpc>
                        <a:buFontTx/>
                        <a:buChar char="-"/>
                      </a:pPr>
                      <a:r>
                        <a:rPr lang="en-US" sz="1800" baseline="0" dirty="0" err="1">
                          <a:latin typeface="Calibri"/>
                        </a:rPr>
                        <a:t>Menumbuhkan</a:t>
                      </a:r>
                      <a:r>
                        <a:rPr lang="en-US" sz="1800" baseline="0" dirty="0">
                          <a:latin typeface="Calibri"/>
                        </a:rPr>
                        <a:t> </a:t>
                      </a:r>
                      <a:r>
                        <a:rPr lang="en-US" sz="1800" baseline="0" dirty="0" err="1">
                          <a:latin typeface="Calibri"/>
                        </a:rPr>
                        <a:t>imaji</a:t>
                      </a:r>
                      <a:r>
                        <a:rPr lang="en-US" sz="1800" baseline="0" dirty="0">
                          <a:latin typeface="Calibri"/>
                        </a:rPr>
                        <a:t> </a:t>
                      </a:r>
                      <a:r>
                        <a:rPr lang="en-US" sz="1800" baseline="0" dirty="0" err="1">
                          <a:latin typeface="Calibri"/>
                        </a:rPr>
                        <a:t>positif</a:t>
                      </a:r>
                      <a:r>
                        <a:rPr lang="en-US" sz="1800" baseline="0" dirty="0">
                          <a:latin typeface="Calibri"/>
                        </a:rPr>
                        <a:t> </a:t>
                      </a:r>
                      <a:r>
                        <a:rPr lang="en-US" sz="1800" baseline="0" dirty="0" err="1">
                          <a:latin typeface="Calibri"/>
                        </a:rPr>
                        <a:t>terhadap</a:t>
                      </a:r>
                      <a:r>
                        <a:rPr lang="en-US" sz="1800" baseline="0" dirty="0">
                          <a:latin typeface="Calibri"/>
                        </a:rPr>
                        <a:t> </a:t>
                      </a:r>
                      <a:r>
                        <a:rPr lang="en-US" sz="1800" baseline="0" dirty="0" err="1">
                          <a:latin typeface="Calibri"/>
                        </a:rPr>
                        <a:t>rububiyyah</a:t>
                      </a:r>
                      <a:r>
                        <a:rPr lang="en-US" sz="1800" baseline="0" dirty="0">
                          <a:latin typeface="Calibri"/>
                        </a:rPr>
                        <a:t> Allah, </a:t>
                      </a:r>
                      <a:r>
                        <a:rPr lang="en-US" sz="1800" baseline="0" dirty="0" err="1">
                          <a:latin typeface="Calibri"/>
                        </a:rPr>
                        <a:t>terhadap</a:t>
                      </a:r>
                      <a:r>
                        <a:rPr lang="en-US" sz="1800" baseline="0" dirty="0">
                          <a:latin typeface="Calibri"/>
                        </a:rPr>
                        <a:t> Islam, </a:t>
                      </a:r>
                      <a:r>
                        <a:rPr lang="en-US" sz="1800" baseline="0" dirty="0" err="1">
                          <a:latin typeface="Calibri"/>
                        </a:rPr>
                        <a:t>Rasul</a:t>
                      </a:r>
                      <a:r>
                        <a:rPr lang="en-US" sz="1800" baseline="0" dirty="0">
                          <a:latin typeface="Calibri"/>
                        </a:rPr>
                        <a:t>, </a:t>
                      </a:r>
                      <a:r>
                        <a:rPr lang="en-US" sz="1800" baseline="0" dirty="0" err="1">
                          <a:latin typeface="Calibri"/>
                        </a:rPr>
                        <a:t>alam</a:t>
                      </a:r>
                      <a:r>
                        <a:rPr lang="en-US" sz="1800" baseline="0" dirty="0">
                          <a:latin typeface="Calibri"/>
                        </a:rPr>
                        <a:t> </a:t>
                      </a:r>
                      <a:r>
                        <a:rPr lang="en-US" sz="1800" baseline="0" dirty="0" err="1">
                          <a:latin typeface="Calibri"/>
                        </a:rPr>
                        <a:t>semesta</a:t>
                      </a:r>
                      <a:r>
                        <a:rPr lang="en-US" sz="1800" baseline="0" dirty="0">
                          <a:latin typeface="Calibri"/>
                        </a:rPr>
                        <a:t>, </a:t>
                      </a:r>
                      <a:r>
                        <a:rPr lang="en-US" sz="1800" baseline="0" dirty="0" err="1">
                          <a:latin typeface="Calibri"/>
                        </a:rPr>
                        <a:t>dll</a:t>
                      </a:r>
                      <a:endParaRPr lang="en-US" sz="1800" baseline="0" dirty="0">
                        <a:latin typeface="Calibri"/>
                      </a:endParaRPr>
                    </a:p>
                    <a:p>
                      <a:pPr marL="177800" indent="-177800" algn="just">
                        <a:lnSpc>
                          <a:spcPct val="115000"/>
                        </a:lnSpc>
                        <a:buFontTx/>
                        <a:buChar char="-"/>
                      </a:pPr>
                      <a:r>
                        <a:rPr lang="en-US" sz="1800" dirty="0" err="1">
                          <a:latin typeface="Calibri"/>
                        </a:rPr>
                        <a:t>Membahagiakan</a:t>
                      </a:r>
                      <a:r>
                        <a:rPr lang="en-US" sz="1800" dirty="0">
                          <a:latin typeface="Calibri"/>
                        </a:rPr>
                        <a:t> </a:t>
                      </a:r>
                      <a:r>
                        <a:rPr lang="en-US" sz="1800" dirty="0" err="1">
                          <a:latin typeface="Calibri"/>
                        </a:rPr>
                        <a:t>anak</a:t>
                      </a:r>
                      <a:r>
                        <a:rPr lang="en-US" sz="1800" dirty="0">
                          <a:latin typeface="Calibri"/>
                        </a:rPr>
                        <a:t> </a:t>
                      </a:r>
                      <a:r>
                        <a:rPr lang="en-US" sz="1800" dirty="0" err="1">
                          <a:latin typeface="Calibri"/>
                        </a:rPr>
                        <a:t>ketika</a:t>
                      </a:r>
                      <a:r>
                        <a:rPr lang="en-US" sz="1800" baseline="0" dirty="0">
                          <a:latin typeface="Calibri"/>
                        </a:rPr>
                        <a:t> </a:t>
                      </a:r>
                      <a:r>
                        <a:rPr lang="en-US" sz="1800" baseline="0" dirty="0" err="1">
                          <a:latin typeface="Calibri"/>
                        </a:rPr>
                        <a:t>berkisah</a:t>
                      </a:r>
                      <a:r>
                        <a:rPr lang="en-US" sz="1800" baseline="0" dirty="0">
                          <a:latin typeface="Calibri"/>
                        </a:rPr>
                        <a:t> </a:t>
                      </a:r>
                      <a:r>
                        <a:rPr lang="en-US" sz="1800" baseline="0" dirty="0" err="1">
                          <a:latin typeface="Calibri"/>
                        </a:rPr>
                        <a:t>tentang</a:t>
                      </a:r>
                      <a:r>
                        <a:rPr lang="en-US" sz="1800" baseline="0" dirty="0">
                          <a:latin typeface="Calibri"/>
                        </a:rPr>
                        <a:t> </a:t>
                      </a:r>
                      <a:r>
                        <a:rPr lang="en-US" sz="1800" baseline="0" dirty="0" err="1">
                          <a:latin typeface="Calibri"/>
                        </a:rPr>
                        <a:t>rububiyyah</a:t>
                      </a:r>
                      <a:r>
                        <a:rPr lang="en-US" sz="1800" baseline="0" dirty="0">
                          <a:latin typeface="Calibri"/>
                        </a:rPr>
                        <a:t> Allah, </a:t>
                      </a:r>
                      <a:r>
                        <a:rPr lang="en-US" sz="1800" baseline="0" dirty="0" err="1">
                          <a:latin typeface="Calibri"/>
                        </a:rPr>
                        <a:t>tentang</a:t>
                      </a:r>
                      <a:r>
                        <a:rPr lang="en-US" sz="1800" baseline="0" dirty="0">
                          <a:latin typeface="Calibri"/>
                        </a:rPr>
                        <a:t> Islam, </a:t>
                      </a:r>
                      <a:r>
                        <a:rPr lang="en-US" sz="1800" baseline="0" dirty="0" err="1">
                          <a:latin typeface="Calibri"/>
                        </a:rPr>
                        <a:t>Rasul</a:t>
                      </a:r>
                      <a:r>
                        <a:rPr lang="en-US" sz="1800" baseline="0" dirty="0">
                          <a:latin typeface="Calibri"/>
                        </a:rPr>
                        <a:t>, </a:t>
                      </a:r>
                      <a:r>
                        <a:rPr lang="en-US" sz="1800" baseline="0" dirty="0" err="1">
                          <a:latin typeface="Calibri"/>
                        </a:rPr>
                        <a:t>dan</a:t>
                      </a:r>
                      <a:r>
                        <a:rPr lang="en-US" sz="1800" baseline="0" dirty="0">
                          <a:latin typeface="Calibri"/>
                        </a:rPr>
                        <a:t> </a:t>
                      </a:r>
                      <a:r>
                        <a:rPr lang="en-US" sz="1800" baseline="0" dirty="0" err="1">
                          <a:latin typeface="Calibri"/>
                        </a:rPr>
                        <a:t>bermain</a:t>
                      </a:r>
                      <a:r>
                        <a:rPr lang="en-US" sz="1800" baseline="0" dirty="0">
                          <a:latin typeface="Calibri"/>
                        </a:rPr>
                        <a:t> </a:t>
                      </a:r>
                      <a:r>
                        <a:rPr lang="en-US" sz="1800" baseline="0" dirty="0" err="1">
                          <a:latin typeface="Calibri"/>
                        </a:rPr>
                        <a:t>bersama</a:t>
                      </a:r>
                      <a:r>
                        <a:rPr lang="en-US" sz="1800" baseline="0" dirty="0">
                          <a:latin typeface="Calibri"/>
                        </a:rPr>
                        <a:t> </a:t>
                      </a:r>
                      <a:r>
                        <a:rPr lang="en-US" sz="1800" baseline="0" dirty="0" err="1">
                          <a:latin typeface="Calibri"/>
                        </a:rPr>
                        <a:t>alam</a:t>
                      </a:r>
                      <a:endParaRPr lang="en-US" sz="1800" dirty="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71504">
                <a:tc>
                  <a:txBody>
                    <a:bodyPr/>
                    <a:lstStyle/>
                    <a:p>
                      <a:pPr marL="0" indent="0" algn="l">
                        <a:lnSpc>
                          <a:spcPct val="115000"/>
                        </a:lnSpc>
                      </a:pPr>
                      <a:r>
                        <a:rPr lang="en-US" sz="1800" dirty="0">
                          <a:latin typeface="Calibri"/>
                          <a:ea typeface="Arial Unicode MS"/>
                          <a:cs typeface="Arial Unicode MS"/>
                        </a:rPr>
                        <a:t>KARAKTER BELAJAR</a:t>
                      </a:r>
                      <a:endParaRPr lang="en-US" sz="1800" dirty="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77800" indent="-177800" algn="just">
                        <a:lnSpc>
                          <a:spcPct val="115000"/>
                        </a:lnSpc>
                        <a:buFontTx/>
                        <a:buChar char="-"/>
                      </a:pPr>
                      <a:r>
                        <a:rPr lang="en-US" sz="1800" baseline="0" dirty="0" err="1">
                          <a:latin typeface="Calibri"/>
                          <a:ea typeface="Arial Unicode MS"/>
                          <a:cs typeface="Arial Unicode MS"/>
                        </a:rPr>
                        <a:t>Menumbuhkan</a:t>
                      </a:r>
                      <a:r>
                        <a:rPr lang="en-US" sz="1800" baseline="0" dirty="0">
                          <a:latin typeface="Calibri"/>
                          <a:ea typeface="Arial Unicode MS"/>
                          <a:cs typeface="Arial Unicode MS"/>
                        </a:rPr>
                        <a:t> </a:t>
                      </a:r>
                      <a:r>
                        <a:rPr lang="en-US" sz="1800" baseline="0" dirty="0" err="1">
                          <a:latin typeface="Calibri"/>
                          <a:ea typeface="Arial Unicode MS"/>
                          <a:cs typeface="Arial Unicode MS"/>
                        </a:rPr>
                        <a:t>kecintaan</a:t>
                      </a:r>
                      <a:r>
                        <a:rPr lang="en-US" sz="1800" baseline="0" dirty="0">
                          <a:latin typeface="Calibri"/>
                          <a:ea typeface="Arial Unicode MS"/>
                          <a:cs typeface="Arial Unicode MS"/>
                        </a:rPr>
                        <a:t> </a:t>
                      </a:r>
                      <a:r>
                        <a:rPr lang="en-US" sz="1800" baseline="0" dirty="0" err="1">
                          <a:latin typeface="Calibri"/>
                          <a:ea typeface="Arial Unicode MS"/>
                          <a:cs typeface="Arial Unicode MS"/>
                        </a:rPr>
                        <a:t>terhadap</a:t>
                      </a:r>
                      <a:r>
                        <a:rPr lang="en-US" sz="1800" baseline="0" dirty="0">
                          <a:latin typeface="Calibri"/>
                          <a:ea typeface="Arial Unicode MS"/>
                          <a:cs typeface="Arial Unicode MS"/>
                        </a:rPr>
                        <a:t> </a:t>
                      </a:r>
                      <a:r>
                        <a:rPr lang="en-US" sz="1800" baseline="0" dirty="0" err="1">
                          <a:latin typeface="Calibri"/>
                          <a:ea typeface="Arial Unicode MS"/>
                          <a:cs typeface="Arial Unicode MS"/>
                        </a:rPr>
                        <a:t>belajar</a:t>
                      </a:r>
                      <a:endParaRPr lang="en-US" sz="1800" baseline="0" dirty="0">
                        <a:latin typeface="Calibri"/>
                        <a:ea typeface="Arial Unicode MS"/>
                        <a:cs typeface="Arial Unicode MS"/>
                      </a:endParaRPr>
                    </a:p>
                    <a:p>
                      <a:pPr marL="177800" indent="-177800" algn="just">
                        <a:lnSpc>
                          <a:spcPct val="115000"/>
                        </a:lnSpc>
                        <a:buFontTx/>
                        <a:buChar char="-"/>
                      </a:pPr>
                      <a:r>
                        <a:rPr lang="en-US" sz="1800" baseline="0" dirty="0" err="1">
                          <a:latin typeface="Calibri"/>
                          <a:ea typeface="Arial Unicode MS"/>
                          <a:cs typeface="Arial Unicode MS"/>
                        </a:rPr>
                        <a:t>Menumbuhkan</a:t>
                      </a:r>
                      <a:r>
                        <a:rPr lang="en-US" sz="1800" baseline="0" dirty="0">
                          <a:latin typeface="Calibri"/>
                          <a:ea typeface="Arial Unicode MS"/>
                          <a:cs typeface="Arial Unicode MS"/>
                        </a:rPr>
                        <a:t> </a:t>
                      </a:r>
                      <a:r>
                        <a:rPr lang="en-US" sz="1800" baseline="0" dirty="0" err="1">
                          <a:latin typeface="Calibri"/>
                          <a:ea typeface="Arial Unicode MS"/>
                          <a:cs typeface="Arial Unicode MS"/>
                        </a:rPr>
                        <a:t>imaji</a:t>
                      </a:r>
                      <a:r>
                        <a:rPr lang="en-US" sz="1800" baseline="0" dirty="0">
                          <a:latin typeface="Calibri"/>
                          <a:ea typeface="Arial Unicode MS"/>
                          <a:cs typeface="Arial Unicode MS"/>
                        </a:rPr>
                        <a:t> </a:t>
                      </a:r>
                      <a:r>
                        <a:rPr lang="en-US" sz="1800" baseline="0" dirty="0" err="1">
                          <a:latin typeface="Calibri"/>
                          <a:ea typeface="Arial Unicode MS"/>
                          <a:cs typeface="Arial Unicode MS"/>
                        </a:rPr>
                        <a:t>positif</a:t>
                      </a:r>
                      <a:r>
                        <a:rPr lang="en-US" sz="1800" baseline="0" dirty="0">
                          <a:latin typeface="Calibri"/>
                          <a:ea typeface="Arial Unicode MS"/>
                          <a:cs typeface="Arial Unicode MS"/>
                        </a:rPr>
                        <a:t> </a:t>
                      </a:r>
                      <a:r>
                        <a:rPr lang="en-US" sz="1800" baseline="0" dirty="0" err="1">
                          <a:latin typeface="Calibri"/>
                          <a:ea typeface="Arial Unicode MS"/>
                          <a:cs typeface="Arial Unicode MS"/>
                        </a:rPr>
                        <a:t>terhadap</a:t>
                      </a:r>
                      <a:r>
                        <a:rPr lang="en-US" sz="1800" baseline="0" dirty="0">
                          <a:latin typeface="Calibri"/>
                          <a:ea typeface="Arial Unicode MS"/>
                          <a:cs typeface="Arial Unicode MS"/>
                        </a:rPr>
                        <a:t> </a:t>
                      </a:r>
                      <a:r>
                        <a:rPr lang="en-US" sz="1800" baseline="0" dirty="0" err="1">
                          <a:latin typeface="Calibri"/>
                          <a:ea typeface="Arial Unicode MS"/>
                          <a:cs typeface="Arial Unicode MS"/>
                        </a:rPr>
                        <a:t>aktifitas</a:t>
                      </a:r>
                      <a:r>
                        <a:rPr lang="en-US" sz="1800" baseline="0" dirty="0">
                          <a:latin typeface="Calibri"/>
                          <a:ea typeface="Arial Unicode MS"/>
                          <a:cs typeface="Arial Unicode MS"/>
                        </a:rPr>
                        <a:t> </a:t>
                      </a:r>
                      <a:r>
                        <a:rPr lang="en-US" sz="1800" baseline="0" dirty="0" err="1">
                          <a:latin typeface="Calibri"/>
                          <a:ea typeface="Arial Unicode MS"/>
                          <a:cs typeface="Arial Unicode MS"/>
                        </a:rPr>
                        <a:t>belajar</a:t>
                      </a:r>
                      <a:endParaRPr lang="en-US" sz="1800" baseline="0" dirty="0">
                        <a:latin typeface="Calibri"/>
                        <a:ea typeface="Arial Unicode MS"/>
                        <a:cs typeface="Arial Unicode MS"/>
                      </a:endParaRPr>
                    </a:p>
                    <a:p>
                      <a:pPr marL="177800" indent="-177800" algn="just">
                        <a:lnSpc>
                          <a:spcPct val="115000"/>
                        </a:lnSpc>
                        <a:buFontTx/>
                        <a:buChar char="-"/>
                      </a:pPr>
                      <a:r>
                        <a:rPr lang="en-US" sz="1800" baseline="0" dirty="0" err="1">
                          <a:latin typeface="Calibri"/>
                          <a:ea typeface="Arial Unicode MS"/>
                          <a:cs typeface="Arial Unicode MS"/>
                        </a:rPr>
                        <a:t>Membahagiakan</a:t>
                      </a:r>
                      <a:r>
                        <a:rPr lang="en-US" sz="1800" baseline="0" dirty="0">
                          <a:latin typeface="Calibri"/>
                          <a:ea typeface="Arial Unicode MS"/>
                          <a:cs typeface="Arial Unicode MS"/>
                        </a:rPr>
                        <a:t> </a:t>
                      </a:r>
                      <a:r>
                        <a:rPr lang="en-US" sz="1800" baseline="0" dirty="0" err="1">
                          <a:latin typeface="Calibri"/>
                          <a:ea typeface="Arial Unicode MS"/>
                          <a:cs typeface="Arial Unicode MS"/>
                        </a:rPr>
                        <a:t>anak</a:t>
                      </a:r>
                      <a:r>
                        <a:rPr lang="en-US" sz="1800" baseline="0" dirty="0">
                          <a:latin typeface="Calibri"/>
                          <a:ea typeface="Arial Unicode MS"/>
                          <a:cs typeface="Arial Unicode MS"/>
                        </a:rPr>
                        <a:t> </a:t>
                      </a:r>
                      <a:r>
                        <a:rPr lang="en-US" sz="1800" baseline="0" dirty="0" err="1">
                          <a:latin typeface="Calibri"/>
                          <a:ea typeface="Arial Unicode MS"/>
                          <a:cs typeface="Arial Unicode MS"/>
                        </a:rPr>
                        <a:t>ketika</a:t>
                      </a:r>
                      <a:r>
                        <a:rPr lang="en-US" sz="1800" baseline="0" dirty="0">
                          <a:latin typeface="Calibri"/>
                          <a:ea typeface="Arial Unicode MS"/>
                          <a:cs typeface="Arial Unicode MS"/>
                        </a:rPr>
                        <a:t> </a:t>
                      </a:r>
                      <a:r>
                        <a:rPr lang="en-US" sz="1800" baseline="0" dirty="0" err="1">
                          <a:latin typeface="Calibri"/>
                          <a:ea typeface="Arial Unicode MS"/>
                          <a:cs typeface="Arial Unicode MS"/>
                        </a:rPr>
                        <a:t>beraktifitas</a:t>
                      </a:r>
                      <a:r>
                        <a:rPr lang="en-US" sz="1800" baseline="0" dirty="0">
                          <a:latin typeface="Calibri"/>
                          <a:ea typeface="Arial Unicode MS"/>
                          <a:cs typeface="Arial Unicode MS"/>
                        </a:rPr>
                        <a:t> </a:t>
                      </a:r>
                      <a:r>
                        <a:rPr lang="en-US" sz="1800" baseline="0" dirty="0" err="1">
                          <a:latin typeface="Calibri"/>
                          <a:ea typeface="Arial Unicode MS"/>
                          <a:cs typeface="Arial Unicode MS"/>
                        </a:rPr>
                        <a:t>belajar</a:t>
                      </a:r>
                      <a:endParaRPr lang="en-US" sz="1800" dirty="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71504">
                <a:tc>
                  <a:txBody>
                    <a:bodyPr/>
                    <a:lstStyle/>
                    <a:p>
                      <a:pPr algn="l">
                        <a:lnSpc>
                          <a:spcPct val="115000"/>
                        </a:lnSpc>
                      </a:pPr>
                      <a:r>
                        <a:rPr lang="en-US" sz="1800" dirty="0">
                          <a:latin typeface="Calibri"/>
                          <a:ea typeface="Arial Unicode MS"/>
                          <a:cs typeface="Arial Unicode MS"/>
                        </a:rPr>
                        <a:t>KARAKTER BAKAT</a:t>
                      </a:r>
                      <a:endParaRPr lang="en-US" sz="1800" dirty="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77800" indent="-177800" algn="just">
                        <a:lnSpc>
                          <a:spcPct val="115000"/>
                        </a:lnSpc>
                        <a:buFontTx/>
                        <a:buChar char="-"/>
                      </a:pPr>
                      <a:r>
                        <a:rPr lang="en-US" sz="1800" baseline="0" dirty="0" err="1">
                          <a:latin typeface="Calibri"/>
                          <a:ea typeface="Arial Unicode MS"/>
                          <a:cs typeface="Arial Unicode MS"/>
                        </a:rPr>
                        <a:t>Menumbuhkan</a:t>
                      </a:r>
                      <a:r>
                        <a:rPr lang="en-US" sz="1800" baseline="0" dirty="0">
                          <a:latin typeface="Calibri"/>
                          <a:ea typeface="Arial Unicode MS"/>
                          <a:cs typeface="Arial Unicode MS"/>
                        </a:rPr>
                        <a:t> </a:t>
                      </a:r>
                      <a:r>
                        <a:rPr lang="en-US" sz="1800" baseline="0" dirty="0" err="1">
                          <a:latin typeface="Calibri"/>
                          <a:ea typeface="Arial Unicode MS"/>
                          <a:cs typeface="Arial Unicode MS"/>
                        </a:rPr>
                        <a:t>kesukaan</a:t>
                      </a:r>
                      <a:r>
                        <a:rPr lang="en-US" sz="1800" baseline="0" dirty="0">
                          <a:latin typeface="Calibri"/>
                          <a:ea typeface="Arial Unicode MS"/>
                          <a:cs typeface="Arial Unicode MS"/>
                        </a:rPr>
                        <a:t> </a:t>
                      </a:r>
                      <a:r>
                        <a:rPr lang="en-US" sz="1800" baseline="0" dirty="0" err="1">
                          <a:latin typeface="Calibri"/>
                          <a:ea typeface="Arial Unicode MS"/>
                          <a:cs typeface="Arial Unicode MS"/>
                        </a:rPr>
                        <a:t>terhadap</a:t>
                      </a:r>
                      <a:r>
                        <a:rPr lang="en-US" sz="1800" baseline="0" dirty="0">
                          <a:latin typeface="Calibri"/>
                          <a:ea typeface="Arial Unicode MS"/>
                          <a:cs typeface="Arial Unicode MS"/>
                        </a:rPr>
                        <a:t> </a:t>
                      </a:r>
                      <a:r>
                        <a:rPr lang="en-US" sz="1800" baseline="0" dirty="0" err="1">
                          <a:latin typeface="Calibri"/>
                          <a:ea typeface="Arial Unicode MS"/>
                          <a:cs typeface="Arial Unicode MS"/>
                        </a:rPr>
                        <a:t>aktifitas</a:t>
                      </a:r>
                      <a:r>
                        <a:rPr lang="en-US" sz="1800" baseline="0" dirty="0">
                          <a:latin typeface="Calibri"/>
                          <a:ea typeface="Arial Unicode MS"/>
                          <a:cs typeface="Arial Unicode MS"/>
                        </a:rPr>
                        <a:t> yang </a:t>
                      </a:r>
                      <a:r>
                        <a:rPr lang="en-US" sz="1800" baseline="0" dirty="0" err="1">
                          <a:latin typeface="Calibri"/>
                          <a:ea typeface="Arial Unicode MS"/>
                          <a:cs typeface="Arial Unicode MS"/>
                        </a:rPr>
                        <a:t>terkait</a:t>
                      </a:r>
                      <a:r>
                        <a:rPr lang="en-US" sz="1800" baseline="0" dirty="0">
                          <a:latin typeface="Calibri"/>
                          <a:ea typeface="Arial Unicode MS"/>
                          <a:cs typeface="Arial Unicode MS"/>
                        </a:rPr>
                        <a:t> </a:t>
                      </a:r>
                      <a:r>
                        <a:rPr lang="en-US" sz="1800" baseline="0" dirty="0" err="1">
                          <a:latin typeface="Calibri"/>
                          <a:ea typeface="Arial Unicode MS"/>
                          <a:cs typeface="Arial Unicode MS"/>
                        </a:rPr>
                        <a:t>dengan</a:t>
                      </a:r>
                      <a:r>
                        <a:rPr lang="en-US" sz="1800" baseline="0" dirty="0">
                          <a:latin typeface="Calibri"/>
                          <a:ea typeface="Arial Unicode MS"/>
                          <a:cs typeface="Arial Unicode MS"/>
                        </a:rPr>
                        <a:t> </a:t>
                      </a:r>
                      <a:r>
                        <a:rPr lang="en-US" sz="1800" baseline="0" dirty="0" err="1">
                          <a:latin typeface="Calibri"/>
                          <a:ea typeface="Arial Unicode MS"/>
                          <a:cs typeface="Arial Unicode MS"/>
                        </a:rPr>
                        <a:t>bakat</a:t>
                      </a:r>
                      <a:r>
                        <a:rPr lang="en-US" sz="1800" baseline="0" dirty="0">
                          <a:latin typeface="Calibri"/>
                          <a:ea typeface="Arial Unicode MS"/>
                          <a:cs typeface="Arial Unicode MS"/>
                        </a:rPr>
                        <a:t> </a:t>
                      </a:r>
                      <a:r>
                        <a:rPr lang="en-US" sz="1800" baseline="0" dirty="0" err="1">
                          <a:latin typeface="Calibri"/>
                          <a:ea typeface="Arial Unicode MS"/>
                          <a:cs typeface="Arial Unicode MS"/>
                        </a:rPr>
                        <a:t>uniknya</a:t>
                      </a:r>
                      <a:endParaRPr lang="en-US" sz="1800" baseline="0" dirty="0">
                        <a:latin typeface="Calibri"/>
                        <a:ea typeface="Arial Unicode MS"/>
                        <a:cs typeface="Arial Unicode MS"/>
                      </a:endParaRPr>
                    </a:p>
                    <a:p>
                      <a:pPr marL="177800" indent="-177800" algn="just">
                        <a:lnSpc>
                          <a:spcPct val="115000"/>
                        </a:lnSpc>
                        <a:buFontTx/>
                        <a:buChar char="-"/>
                      </a:pPr>
                      <a:r>
                        <a:rPr lang="en-US" sz="1800" baseline="0" dirty="0" err="1">
                          <a:latin typeface="Calibri"/>
                          <a:ea typeface="Arial Unicode MS"/>
                          <a:cs typeface="Arial Unicode MS"/>
                        </a:rPr>
                        <a:t>Menumbuhkan</a:t>
                      </a:r>
                      <a:r>
                        <a:rPr lang="en-US" sz="1800" baseline="0" dirty="0">
                          <a:latin typeface="Calibri"/>
                          <a:ea typeface="Arial Unicode MS"/>
                          <a:cs typeface="Arial Unicode MS"/>
                        </a:rPr>
                        <a:t> </a:t>
                      </a:r>
                      <a:r>
                        <a:rPr lang="en-US" sz="1800" baseline="0" dirty="0" err="1">
                          <a:latin typeface="Calibri"/>
                          <a:ea typeface="Arial Unicode MS"/>
                          <a:cs typeface="Arial Unicode MS"/>
                        </a:rPr>
                        <a:t>imaji</a:t>
                      </a:r>
                      <a:r>
                        <a:rPr lang="en-US" sz="1800" baseline="0" dirty="0">
                          <a:latin typeface="Calibri"/>
                          <a:ea typeface="Arial Unicode MS"/>
                          <a:cs typeface="Arial Unicode MS"/>
                        </a:rPr>
                        <a:t> </a:t>
                      </a:r>
                      <a:r>
                        <a:rPr lang="en-US" sz="1800" baseline="0" dirty="0" err="1">
                          <a:latin typeface="Calibri"/>
                          <a:ea typeface="Arial Unicode MS"/>
                          <a:cs typeface="Arial Unicode MS"/>
                        </a:rPr>
                        <a:t>positif</a:t>
                      </a:r>
                      <a:r>
                        <a:rPr lang="en-US" sz="1800" baseline="0" dirty="0">
                          <a:latin typeface="Calibri"/>
                          <a:ea typeface="Arial Unicode MS"/>
                          <a:cs typeface="Arial Unicode MS"/>
                        </a:rPr>
                        <a:t> </a:t>
                      </a:r>
                      <a:r>
                        <a:rPr lang="en-US" sz="1800" baseline="0" dirty="0" err="1">
                          <a:latin typeface="Calibri"/>
                          <a:ea typeface="Arial Unicode MS"/>
                          <a:cs typeface="Arial Unicode MS"/>
                        </a:rPr>
                        <a:t>terhadap</a:t>
                      </a:r>
                      <a:r>
                        <a:rPr lang="en-US" sz="1800" baseline="0" dirty="0">
                          <a:latin typeface="Calibri"/>
                          <a:ea typeface="Arial Unicode MS"/>
                          <a:cs typeface="Arial Unicode MS"/>
                        </a:rPr>
                        <a:t> </a:t>
                      </a:r>
                      <a:r>
                        <a:rPr lang="en-US" sz="1800" baseline="0" dirty="0" err="1">
                          <a:latin typeface="Calibri"/>
                          <a:ea typeface="Arial Unicode MS"/>
                          <a:cs typeface="Arial Unicode MS"/>
                        </a:rPr>
                        <a:t>aktifitas</a:t>
                      </a:r>
                      <a:r>
                        <a:rPr lang="en-US" sz="1800" baseline="0" dirty="0">
                          <a:latin typeface="Calibri"/>
                          <a:ea typeface="Arial Unicode MS"/>
                          <a:cs typeface="Arial Unicode MS"/>
                        </a:rPr>
                        <a:t> </a:t>
                      </a:r>
                      <a:r>
                        <a:rPr lang="en-US" sz="1800" baseline="0" dirty="0" err="1">
                          <a:latin typeface="Calibri"/>
                          <a:ea typeface="Arial Unicode MS"/>
                          <a:cs typeface="Arial Unicode MS"/>
                        </a:rPr>
                        <a:t>bakat</a:t>
                      </a:r>
                      <a:r>
                        <a:rPr lang="en-US" sz="1800" baseline="0" dirty="0">
                          <a:latin typeface="Calibri"/>
                          <a:ea typeface="Arial Unicode MS"/>
                          <a:cs typeface="Arial Unicode MS"/>
                        </a:rPr>
                        <a:t> </a:t>
                      </a:r>
                      <a:r>
                        <a:rPr lang="en-US" sz="1800" baseline="0" dirty="0" err="1">
                          <a:latin typeface="Calibri"/>
                          <a:ea typeface="Arial Unicode MS"/>
                          <a:cs typeface="Arial Unicode MS"/>
                        </a:rPr>
                        <a:t>uniknya</a:t>
                      </a:r>
                      <a:endParaRPr lang="en-US" sz="1800" baseline="0" dirty="0">
                        <a:latin typeface="Calibri"/>
                        <a:ea typeface="Arial Unicode MS"/>
                        <a:cs typeface="Arial Unicode MS"/>
                      </a:endParaRPr>
                    </a:p>
                    <a:p>
                      <a:pPr marL="177800" indent="-177800" algn="just">
                        <a:lnSpc>
                          <a:spcPct val="115000"/>
                        </a:lnSpc>
                        <a:buFontTx/>
                        <a:buChar char="-"/>
                      </a:pPr>
                      <a:r>
                        <a:rPr lang="en-US" sz="1800" baseline="0" dirty="0" err="1">
                          <a:latin typeface="Calibri"/>
                          <a:ea typeface="Arial Unicode MS"/>
                          <a:cs typeface="Arial Unicode MS"/>
                        </a:rPr>
                        <a:t>Membahagiakan</a:t>
                      </a:r>
                      <a:r>
                        <a:rPr lang="en-US" sz="1800" baseline="0" dirty="0">
                          <a:latin typeface="Calibri"/>
                          <a:ea typeface="Arial Unicode MS"/>
                          <a:cs typeface="Arial Unicode MS"/>
                        </a:rPr>
                        <a:t> </a:t>
                      </a:r>
                      <a:r>
                        <a:rPr lang="en-US" sz="1800" baseline="0" dirty="0" err="1">
                          <a:latin typeface="Calibri"/>
                          <a:ea typeface="Arial Unicode MS"/>
                          <a:cs typeface="Arial Unicode MS"/>
                        </a:rPr>
                        <a:t>anak</a:t>
                      </a:r>
                      <a:r>
                        <a:rPr lang="en-US" sz="1800" baseline="0" dirty="0">
                          <a:latin typeface="Calibri"/>
                          <a:ea typeface="Arial Unicode MS"/>
                          <a:cs typeface="Arial Unicode MS"/>
                        </a:rPr>
                        <a:t> </a:t>
                      </a:r>
                      <a:r>
                        <a:rPr lang="en-US" sz="1800" baseline="0" dirty="0" err="1">
                          <a:latin typeface="Calibri"/>
                          <a:ea typeface="Arial Unicode MS"/>
                          <a:cs typeface="Arial Unicode MS"/>
                        </a:rPr>
                        <a:t>ketika</a:t>
                      </a:r>
                      <a:r>
                        <a:rPr lang="en-US" sz="1800" baseline="0" dirty="0">
                          <a:latin typeface="Calibri"/>
                          <a:ea typeface="Arial Unicode MS"/>
                          <a:cs typeface="Arial Unicode MS"/>
                        </a:rPr>
                        <a:t> </a:t>
                      </a:r>
                      <a:r>
                        <a:rPr lang="en-US" sz="1800" baseline="0" dirty="0" err="1">
                          <a:latin typeface="Calibri"/>
                          <a:ea typeface="Arial Unicode MS"/>
                          <a:cs typeface="Arial Unicode MS"/>
                        </a:rPr>
                        <a:t>beraktifitas</a:t>
                      </a:r>
                      <a:r>
                        <a:rPr lang="en-US" sz="1800" baseline="0" dirty="0">
                          <a:latin typeface="Calibri"/>
                          <a:ea typeface="Arial Unicode MS"/>
                          <a:cs typeface="Arial Unicode MS"/>
                        </a:rPr>
                        <a:t> yang </a:t>
                      </a:r>
                      <a:r>
                        <a:rPr lang="en-US" sz="1800" baseline="0" dirty="0" err="1">
                          <a:latin typeface="Calibri"/>
                          <a:ea typeface="Arial Unicode MS"/>
                          <a:cs typeface="Arial Unicode MS"/>
                        </a:rPr>
                        <a:t>terkait</a:t>
                      </a:r>
                      <a:r>
                        <a:rPr lang="en-US" sz="1800" baseline="0" dirty="0">
                          <a:latin typeface="Calibri"/>
                          <a:ea typeface="Arial Unicode MS"/>
                          <a:cs typeface="Arial Unicode MS"/>
                        </a:rPr>
                        <a:t> </a:t>
                      </a:r>
                      <a:r>
                        <a:rPr lang="en-US" sz="1800" baseline="0" dirty="0" err="1">
                          <a:latin typeface="Calibri"/>
                          <a:ea typeface="Arial Unicode MS"/>
                          <a:cs typeface="Arial Unicode MS"/>
                        </a:rPr>
                        <a:t>dengan</a:t>
                      </a:r>
                      <a:r>
                        <a:rPr lang="en-US" sz="1800" baseline="0" dirty="0">
                          <a:latin typeface="Calibri"/>
                          <a:ea typeface="Arial Unicode MS"/>
                          <a:cs typeface="Arial Unicode MS"/>
                        </a:rPr>
                        <a:t> </a:t>
                      </a:r>
                      <a:r>
                        <a:rPr lang="en-US" sz="1800" baseline="0" dirty="0" err="1">
                          <a:latin typeface="Calibri"/>
                          <a:ea typeface="Arial Unicode MS"/>
                          <a:cs typeface="Arial Unicode MS"/>
                        </a:rPr>
                        <a:t>bakat</a:t>
                      </a:r>
                      <a:r>
                        <a:rPr lang="en-US" sz="1800" baseline="0" dirty="0">
                          <a:latin typeface="Calibri"/>
                          <a:ea typeface="Arial Unicode MS"/>
                          <a:cs typeface="Arial Unicode MS"/>
                        </a:rPr>
                        <a:t> </a:t>
                      </a:r>
                      <a:r>
                        <a:rPr lang="en-US" sz="1800" baseline="0" dirty="0" err="1">
                          <a:latin typeface="Calibri"/>
                          <a:ea typeface="Arial Unicode MS"/>
                          <a:cs typeface="Arial Unicode MS"/>
                        </a:rPr>
                        <a:t>uniknya</a:t>
                      </a:r>
                      <a:r>
                        <a:rPr lang="en-US" sz="1800" baseline="0" dirty="0">
                          <a:latin typeface="Calibri"/>
                          <a:ea typeface="Arial Unicode MS"/>
                          <a:cs typeface="Arial Unicode MS"/>
                        </a:rPr>
                        <a:t> </a:t>
                      </a:r>
                      <a:endParaRPr lang="en-US" sz="1800" dirty="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TextBox 3"/>
          <p:cNvSpPr txBox="1"/>
          <p:nvPr/>
        </p:nvSpPr>
        <p:spPr>
          <a:xfrm>
            <a:off x="5786478" y="-24"/>
            <a:ext cx="3357554" cy="461665"/>
          </a:xfrm>
          <a:prstGeom prst="rect">
            <a:avLst/>
          </a:prstGeom>
          <a:solidFill>
            <a:srgbClr val="00B050"/>
          </a:solidFill>
        </p:spPr>
        <p:txBody>
          <a:bodyPr wrap="square" rtlCol="0">
            <a:spAutoFit/>
          </a:bodyPr>
          <a:lstStyle/>
          <a:p>
            <a:pPr algn="ctr"/>
            <a:r>
              <a:rPr lang="en-US" sz="2400" dirty="0">
                <a:solidFill>
                  <a:schemeClr val="bg1"/>
                </a:solidFill>
              </a:rPr>
              <a:t>PAUD - TK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9692060-2072-4641-9DDC-6702537C5E40}"/>
              </a:ext>
            </a:extLst>
          </p:cNvPr>
          <p:cNvSpPr/>
          <p:nvPr/>
        </p:nvSpPr>
        <p:spPr>
          <a:xfrm>
            <a:off x="1691680" y="1047502"/>
            <a:ext cx="6336704" cy="5693866"/>
          </a:xfrm>
          <a:prstGeom prst="rect">
            <a:avLst/>
          </a:prstGeom>
        </p:spPr>
        <p:txBody>
          <a:bodyPr wrap="square">
            <a:spAutoFit/>
          </a:bodyPr>
          <a:lstStyle/>
          <a:p>
            <a:pPr marL="342900" indent="-342900">
              <a:buFont typeface="Wingdings" panose="05000000000000000000" pitchFamily="2" charset="2"/>
              <a:buChar char="ü"/>
            </a:pPr>
            <a:r>
              <a:rPr lang="en-ID" sz="2800" i="1" dirty="0" err="1">
                <a:effectLst/>
                <a:latin typeface="Cambria" panose="02040503050406030204" pitchFamily="18" charset="0"/>
              </a:rPr>
              <a:t>Himmah</a:t>
            </a:r>
            <a:r>
              <a:rPr lang="en-ID" sz="2800" i="1" dirty="0">
                <a:effectLst/>
                <a:latin typeface="Cambria" panose="02040503050406030204" pitchFamily="18" charset="0"/>
              </a:rPr>
              <a:t> </a:t>
            </a:r>
            <a:r>
              <a:rPr lang="en-ID" sz="2800" dirty="0">
                <a:effectLst/>
                <a:latin typeface="Cambria" panose="02040503050406030204" pitchFamily="18" charset="0"/>
              </a:rPr>
              <a:t>/ </a:t>
            </a:r>
            <a:r>
              <a:rPr lang="ar-SA" sz="2800" dirty="0">
                <a:effectLst/>
                <a:latin typeface="Calibri" panose="020F0502020204030204" pitchFamily="34" charset="0"/>
                <a:cs typeface="Calibri" panose="020F0502020204030204" pitchFamily="34" charset="0"/>
              </a:rPr>
              <a:t>الهِمَّة</a:t>
            </a:r>
            <a:r>
              <a:rPr lang="en-ID" sz="2800" dirty="0">
                <a:effectLst/>
                <a:latin typeface="Cambria" panose="02040503050406030204" pitchFamily="18" charset="0"/>
              </a:rPr>
              <a:t> (</a:t>
            </a:r>
            <a:r>
              <a:rPr lang="en-ID" sz="2800" dirty="0" err="1">
                <a:effectLst/>
                <a:latin typeface="Cambria" panose="02040503050406030204" pitchFamily="18" charset="0"/>
              </a:rPr>
              <a:t>cita-cita</a:t>
            </a:r>
            <a:r>
              <a:rPr lang="en-ID" sz="2800" dirty="0">
                <a:effectLst/>
                <a:latin typeface="Cambria" panose="02040503050406030204" pitchFamily="18" charset="0"/>
              </a:rPr>
              <a:t> </a:t>
            </a:r>
            <a:r>
              <a:rPr lang="en-ID" sz="2800" dirty="0" err="1">
                <a:effectLst/>
                <a:latin typeface="Cambria" panose="02040503050406030204" pitchFamily="18" charset="0"/>
              </a:rPr>
              <a:t>tinggi</a:t>
            </a:r>
            <a:r>
              <a:rPr lang="en-ID" sz="2800" dirty="0">
                <a:effectLst/>
                <a:latin typeface="Cambria" panose="02040503050406030204" pitchFamily="18" charset="0"/>
              </a:rPr>
              <a:t>)</a:t>
            </a:r>
            <a:endParaRPr lang="en-ID" sz="2800" dirty="0">
              <a:effectLst/>
            </a:endParaRPr>
          </a:p>
          <a:p>
            <a:pPr marL="342900" indent="-342900">
              <a:buFont typeface="Wingdings" panose="05000000000000000000" pitchFamily="2" charset="2"/>
              <a:buChar char="ü"/>
            </a:pPr>
            <a:r>
              <a:rPr lang="en-ID" sz="2800" i="1" dirty="0" err="1">
                <a:effectLst/>
                <a:latin typeface="Cambria" panose="02040503050406030204" pitchFamily="18" charset="0"/>
              </a:rPr>
              <a:t>Ihsaan</a:t>
            </a:r>
            <a:r>
              <a:rPr lang="en-ID" sz="2800" dirty="0">
                <a:effectLst/>
                <a:latin typeface="Cambria" panose="02040503050406030204" pitchFamily="18" charset="0"/>
              </a:rPr>
              <a:t> / </a:t>
            </a:r>
            <a:r>
              <a:rPr lang="ar-SA" sz="2800" dirty="0">
                <a:effectLst/>
                <a:latin typeface="Calibri" panose="020F0502020204030204" pitchFamily="34" charset="0"/>
                <a:cs typeface="Calibri" panose="020F0502020204030204" pitchFamily="34" charset="0"/>
              </a:rPr>
              <a:t>الاِحْسَان</a:t>
            </a:r>
            <a:r>
              <a:rPr lang="en-ID" sz="2800" dirty="0">
                <a:effectLst/>
                <a:latin typeface="Cambria" panose="02040503050406030204" pitchFamily="18" charset="0"/>
              </a:rPr>
              <a:t> (</a:t>
            </a:r>
            <a:r>
              <a:rPr lang="en-ID" sz="2800" dirty="0" err="1">
                <a:effectLst/>
                <a:latin typeface="Cambria" panose="02040503050406030204" pitchFamily="18" charset="0"/>
              </a:rPr>
              <a:t>perfeksionis</a:t>
            </a:r>
            <a:r>
              <a:rPr lang="en-ID" sz="2800" dirty="0">
                <a:effectLst/>
                <a:latin typeface="Cambria" panose="02040503050406030204" pitchFamily="18" charset="0"/>
              </a:rPr>
              <a:t>)</a:t>
            </a:r>
            <a:endParaRPr lang="en-ID" sz="2800" dirty="0">
              <a:effectLst/>
            </a:endParaRPr>
          </a:p>
          <a:p>
            <a:pPr marL="342900" indent="-342900">
              <a:buFont typeface="Wingdings" panose="05000000000000000000" pitchFamily="2" charset="2"/>
              <a:buChar char="ü"/>
            </a:pPr>
            <a:r>
              <a:rPr lang="en-ID" sz="2800" i="1" dirty="0">
                <a:effectLst/>
                <a:latin typeface="Cambria" panose="02040503050406030204" pitchFamily="18" charset="0"/>
              </a:rPr>
              <a:t>‘</a:t>
            </a:r>
            <a:r>
              <a:rPr lang="en-ID" sz="2800" i="1" dirty="0" err="1">
                <a:effectLst/>
                <a:latin typeface="Cambria" panose="02040503050406030204" pitchFamily="18" charset="0"/>
              </a:rPr>
              <a:t>Izzah</a:t>
            </a:r>
            <a:r>
              <a:rPr lang="en-ID" sz="2800" dirty="0">
                <a:effectLst/>
                <a:latin typeface="Cambria" panose="02040503050406030204" pitchFamily="18" charset="0"/>
              </a:rPr>
              <a:t> / </a:t>
            </a:r>
            <a:r>
              <a:rPr lang="ar-SA" sz="2800" dirty="0">
                <a:effectLst/>
                <a:latin typeface="Calibri" panose="020F0502020204030204" pitchFamily="34" charset="0"/>
                <a:cs typeface="Calibri" panose="020F0502020204030204" pitchFamily="34" charset="0"/>
              </a:rPr>
              <a:t>العِزَّة</a:t>
            </a:r>
            <a:r>
              <a:rPr lang="en-ID" sz="2800" dirty="0">
                <a:effectLst/>
                <a:latin typeface="Cambria" panose="02040503050406030204" pitchFamily="18" charset="0"/>
              </a:rPr>
              <a:t> (</a:t>
            </a:r>
            <a:r>
              <a:rPr lang="en-ID" sz="2800" dirty="0" err="1">
                <a:effectLst/>
                <a:latin typeface="Cambria" panose="02040503050406030204" pitchFamily="18" charset="0"/>
              </a:rPr>
              <a:t>harga</a:t>
            </a:r>
            <a:r>
              <a:rPr lang="en-ID" sz="2800" dirty="0">
                <a:effectLst/>
                <a:latin typeface="Cambria" panose="02040503050406030204" pitchFamily="18" charset="0"/>
              </a:rPr>
              <a:t> </a:t>
            </a:r>
            <a:r>
              <a:rPr lang="en-ID" sz="2800" dirty="0" err="1">
                <a:effectLst/>
                <a:latin typeface="Cambria" panose="02040503050406030204" pitchFamily="18" charset="0"/>
              </a:rPr>
              <a:t>diri</a:t>
            </a:r>
            <a:r>
              <a:rPr lang="en-ID" sz="2800" dirty="0">
                <a:effectLst/>
                <a:latin typeface="Cambria" panose="02040503050406030204" pitchFamily="18" charset="0"/>
              </a:rPr>
              <a:t>)</a:t>
            </a:r>
            <a:endParaRPr lang="en-ID" sz="2800" dirty="0">
              <a:effectLst/>
            </a:endParaRPr>
          </a:p>
          <a:p>
            <a:pPr marL="342900" indent="-342900">
              <a:buFont typeface="Wingdings" panose="05000000000000000000" pitchFamily="2" charset="2"/>
              <a:buChar char="ü"/>
            </a:pPr>
            <a:r>
              <a:rPr lang="en-ID" sz="2800" i="1" dirty="0" err="1">
                <a:effectLst/>
                <a:latin typeface="Cambria" panose="02040503050406030204" pitchFamily="18" charset="0"/>
              </a:rPr>
              <a:t>Waqaar</a:t>
            </a:r>
            <a:r>
              <a:rPr lang="en-ID" sz="2800" dirty="0">
                <a:effectLst/>
                <a:latin typeface="Cambria" panose="02040503050406030204" pitchFamily="18" charset="0"/>
              </a:rPr>
              <a:t> / </a:t>
            </a:r>
            <a:r>
              <a:rPr lang="ar-SA" sz="2800" dirty="0">
                <a:effectLst/>
                <a:latin typeface="Calibri" panose="020F0502020204030204" pitchFamily="34" charset="0"/>
                <a:cs typeface="Calibri" panose="020F0502020204030204" pitchFamily="34" charset="0"/>
              </a:rPr>
              <a:t>الوَقَار</a:t>
            </a:r>
            <a:r>
              <a:rPr lang="en-ID" sz="2800" dirty="0">
                <a:effectLst/>
                <a:latin typeface="Cambria" panose="02040503050406030204" pitchFamily="18" charset="0"/>
              </a:rPr>
              <a:t> (</a:t>
            </a:r>
            <a:r>
              <a:rPr lang="en-ID" sz="2800" dirty="0" err="1">
                <a:effectLst/>
                <a:latin typeface="Cambria" panose="02040503050406030204" pitchFamily="18" charset="0"/>
              </a:rPr>
              <a:t>wibawa</a:t>
            </a:r>
            <a:r>
              <a:rPr lang="en-ID" sz="2800" dirty="0">
                <a:effectLst/>
                <a:latin typeface="Cambria" panose="02040503050406030204" pitchFamily="18" charset="0"/>
              </a:rPr>
              <a:t>)</a:t>
            </a:r>
            <a:endParaRPr lang="en-ID" sz="2800" dirty="0">
              <a:effectLst/>
            </a:endParaRPr>
          </a:p>
          <a:p>
            <a:pPr marL="342900" indent="-342900">
              <a:buFont typeface="Wingdings" panose="05000000000000000000" pitchFamily="2" charset="2"/>
              <a:buChar char="ü"/>
            </a:pPr>
            <a:r>
              <a:rPr lang="en-ID" sz="2800" i="1" dirty="0">
                <a:effectLst/>
                <a:latin typeface="Cambria" panose="02040503050406030204" pitchFamily="18" charset="0"/>
              </a:rPr>
              <a:t>‘</a:t>
            </a:r>
            <a:r>
              <a:rPr lang="en-ID" sz="2800" i="1" dirty="0" err="1">
                <a:effectLst/>
                <a:latin typeface="Cambria" panose="02040503050406030204" pitchFamily="18" charset="0"/>
              </a:rPr>
              <a:t>Aziimah</a:t>
            </a:r>
            <a:r>
              <a:rPr lang="en-ID" sz="2800" dirty="0">
                <a:effectLst/>
                <a:latin typeface="Cambria" panose="02040503050406030204" pitchFamily="18" charset="0"/>
              </a:rPr>
              <a:t> / </a:t>
            </a:r>
            <a:r>
              <a:rPr lang="ar-SA" sz="2800" dirty="0">
                <a:effectLst/>
                <a:latin typeface="Calibri" panose="020F0502020204030204" pitchFamily="34" charset="0"/>
                <a:cs typeface="Calibri" panose="020F0502020204030204" pitchFamily="34" charset="0"/>
              </a:rPr>
              <a:t>العَزِيمَة</a:t>
            </a:r>
            <a:r>
              <a:rPr lang="en-ID" sz="2800" dirty="0">
                <a:effectLst/>
                <a:latin typeface="Cambria" panose="02040503050406030204" pitchFamily="18" charset="0"/>
              </a:rPr>
              <a:t> (</a:t>
            </a:r>
            <a:r>
              <a:rPr lang="en-ID" sz="2800" dirty="0" err="1">
                <a:effectLst/>
                <a:latin typeface="Cambria" panose="02040503050406030204" pitchFamily="18" charset="0"/>
              </a:rPr>
              <a:t>tekad</a:t>
            </a:r>
            <a:r>
              <a:rPr lang="en-ID" sz="2800" dirty="0">
                <a:effectLst/>
                <a:latin typeface="Cambria" panose="02040503050406030204" pitchFamily="18" charset="0"/>
              </a:rPr>
              <a:t>)</a:t>
            </a:r>
            <a:endParaRPr lang="en-ID" sz="2800" dirty="0">
              <a:effectLst/>
            </a:endParaRPr>
          </a:p>
          <a:p>
            <a:pPr marL="342900" indent="-342900">
              <a:buFont typeface="Wingdings" panose="05000000000000000000" pitchFamily="2" charset="2"/>
              <a:buChar char="ü"/>
            </a:pPr>
            <a:r>
              <a:rPr lang="en-ID" sz="2800" i="1" dirty="0" err="1">
                <a:effectLst/>
                <a:latin typeface="Cambria" panose="02040503050406030204" pitchFamily="18" charset="0"/>
              </a:rPr>
              <a:t>Nasyaath</a:t>
            </a:r>
            <a:r>
              <a:rPr lang="en-ID" sz="2800" dirty="0">
                <a:effectLst/>
                <a:latin typeface="Cambria" panose="02040503050406030204" pitchFamily="18" charset="0"/>
              </a:rPr>
              <a:t> / </a:t>
            </a:r>
            <a:r>
              <a:rPr lang="ar-SA" sz="2800" dirty="0">
                <a:effectLst/>
                <a:latin typeface="Calibri" panose="020F0502020204030204" pitchFamily="34" charset="0"/>
                <a:cs typeface="Calibri" panose="020F0502020204030204" pitchFamily="34" charset="0"/>
              </a:rPr>
              <a:t>النَّشَاط</a:t>
            </a:r>
            <a:r>
              <a:rPr lang="en-ID" sz="2800" dirty="0">
                <a:effectLst/>
                <a:latin typeface="Cambria" panose="02040503050406030204" pitchFamily="18" charset="0"/>
              </a:rPr>
              <a:t> (</a:t>
            </a:r>
            <a:r>
              <a:rPr lang="en-ID" sz="2800" dirty="0" err="1">
                <a:effectLst/>
                <a:latin typeface="Cambria" panose="02040503050406030204" pitchFamily="18" charset="0"/>
              </a:rPr>
              <a:t>semangat</a:t>
            </a:r>
            <a:r>
              <a:rPr lang="en-ID" sz="2800" dirty="0">
                <a:effectLst/>
                <a:latin typeface="Cambria" panose="02040503050406030204" pitchFamily="18" charset="0"/>
              </a:rPr>
              <a:t>)</a:t>
            </a:r>
            <a:endParaRPr lang="en-ID" sz="2800" dirty="0">
              <a:effectLst/>
            </a:endParaRPr>
          </a:p>
          <a:p>
            <a:pPr marL="342900" indent="-342900">
              <a:buFont typeface="Wingdings" panose="05000000000000000000" pitchFamily="2" charset="2"/>
              <a:buChar char="ü"/>
            </a:pPr>
            <a:r>
              <a:rPr lang="en-US" sz="2800" i="1" dirty="0" err="1">
                <a:effectLst/>
                <a:latin typeface="Cambria" panose="02040503050406030204" pitchFamily="18" charset="0"/>
              </a:rPr>
              <a:t>Syajaa’ah</a:t>
            </a:r>
            <a:r>
              <a:rPr lang="en-US" sz="2800" dirty="0">
                <a:effectLst/>
                <a:latin typeface="Cambria" panose="02040503050406030204" pitchFamily="18" charset="0"/>
              </a:rPr>
              <a:t> / </a:t>
            </a:r>
            <a:r>
              <a:rPr lang="ar-SA" sz="2800" dirty="0">
                <a:effectLst/>
                <a:latin typeface="Calibri" panose="020F0502020204030204" pitchFamily="34" charset="0"/>
                <a:cs typeface="Calibri" panose="020F0502020204030204" pitchFamily="34" charset="0"/>
              </a:rPr>
              <a:t>الشَّجَاعَة</a:t>
            </a:r>
            <a:r>
              <a:rPr lang="en-US" sz="2800" dirty="0">
                <a:effectLst/>
                <a:latin typeface="Cambria" panose="02040503050406030204" pitchFamily="18" charset="0"/>
              </a:rPr>
              <a:t> (</a:t>
            </a:r>
            <a:r>
              <a:rPr lang="en-US" sz="2800" dirty="0" err="1">
                <a:effectLst/>
                <a:latin typeface="Cambria" panose="02040503050406030204" pitchFamily="18" charset="0"/>
              </a:rPr>
              <a:t>berani</a:t>
            </a:r>
            <a:r>
              <a:rPr lang="en-US" sz="2800" dirty="0">
                <a:effectLst/>
                <a:latin typeface="Cambria" panose="02040503050406030204" pitchFamily="18" charset="0"/>
              </a:rPr>
              <a:t>)</a:t>
            </a:r>
            <a:endParaRPr lang="en-ID" sz="2800" dirty="0">
              <a:effectLst/>
            </a:endParaRPr>
          </a:p>
          <a:p>
            <a:pPr marL="342900" indent="-342900">
              <a:buFont typeface="Wingdings" panose="05000000000000000000" pitchFamily="2" charset="2"/>
              <a:buChar char="ü"/>
            </a:pPr>
            <a:r>
              <a:rPr lang="en-US" sz="2800" i="1" dirty="0" err="1">
                <a:effectLst/>
                <a:latin typeface="Cambria" panose="02040503050406030204" pitchFamily="18" charset="0"/>
              </a:rPr>
              <a:t>Ghairah</a:t>
            </a:r>
            <a:r>
              <a:rPr lang="en-US" sz="2800" dirty="0">
                <a:effectLst/>
                <a:latin typeface="Cambria" panose="02040503050406030204" pitchFamily="18" charset="0"/>
              </a:rPr>
              <a:t> / </a:t>
            </a:r>
            <a:r>
              <a:rPr lang="ar-SA" sz="2800" dirty="0">
                <a:effectLst/>
                <a:latin typeface="Calibri" panose="020F0502020204030204" pitchFamily="34" charset="0"/>
                <a:cs typeface="Calibri" panose="020F0502020204030204" pitchFamily="34" charset="0"/>
              </a:rPr>
              <a:t>الغَيْرَة</a:t>
            </a:r>
            <a:r>
              <a:rPr lang="en-US" sz="2800" dirty="0">
                <a:effectLst/>
                <a:latin typeface="Cambria" panose="02040503050406030204" pitchFamily="18" charset="0"/>
              </a:rPr>
              <a:t> (</a:t>
            </a:r>
            <a:r>
              <a:rPr lang="en-US" sz="2800" dirty="0" err="1">
                <a:effectLst/>
                <a:latin typeface="Cambria" panose="02040503050406030204" pitchFamily="18" charset="0"/>
              </a:rPr>
              <a:t>cemburu</a:t>
            </a:r>
            <a:r>
              <a:rPr lang="en-US" sz="2800" dirty="0">
                <a:effectLst/>
                <a:latin typeface="Cambria" panose="02040503050406030204" pitchFamily="18" charset="0"/>
              </a:rPr>
              <a:t>)</a:t>
            </a:r>
            <a:endParaRPr lang="en-ID" sz="2800" dirty="0">
              <a:effectLst/>
            </a:endParaRPr>
          </a:p>
          <a:p>
            <a:pPr marL="342900" indent="-342900">
              <a:buFont typeface="Wingdings" panose="05000000000000000000" pitchFamily="2" charset="2"/>
              <a:buChar char="ü"/>
            </a:pPr>
            <a:r>
              <a:rPr lang="en-US" sz="2800" i="1" dirty="0" err="1">
                <a:effectLst/>
                <a:latin typeface="Cambria" panose="02040503050406030204" pitchFamily="18" charset="0"/>
              </a:rPr>
              <a:t>Munaafasah</a:t>
            </a:r>
            <a:r>
              <a:rPr lang="en-US" sz="2800" dirty="0">
                <a:effectLst/>
                <a:latin typeface="Cambria" panose="02040503050406030204" pitchFamily="18" charset="0"/>
              </a:rPr>
              <a:t> / </a:t>
            </a:r>
            <a:r>
              <a:rPr lang="ar-SA" sz="2800" dirty="0">
                <a:effectLst/>
                <a:latin typeface="Calibri" panose="020F0502020204030204" pitchFamily="34" charset="0"/>
                <a:cs typeface="Calibri" panose="020F0502020204030204" pitchFamily="34" charset="0"/>
              </a:rPr>
              <a:t>المُنَافَسَة</a:t>
            </a:r>
            <a:r>
              <a:rPr lang="en-US" sz="2800" dirty="0">
                <a:effectLst/>
                <a:latin typeface="Cambria" panose="02040503050406030204" pitchFamily="18" charset="0"/>
              </a:rPr>
              <a:t> (</a:t>
            </a:r>
            <a:r>
              <a:rPr lang="en-US" sz="2800" dirty="0" err="1">
                <a:effectLst/>
                <a:latin typeface="Cambria" panose="02040503050406030204" pitchFamily="18" charset="0"/>
              </a:rPr>
              <a:t>kompetisi</a:t>
            </a:r>
            <a:r>
              <a:rPr lang="en-US" sz="2800" dirty="0">
                <a:effectLst/>
                <a:latin typeface="Cambria" panose="02040503050406030204" pitchFamily="18" charset="0"/>
              </a:rPr>
              <a:t>)</a:t>
            </a:r>
            <a:endParaRPr lang="en-ID" sz="2800" dirty="0">
              <a:effectLst/>
            </a:endParaRPr>
          </a:p>
          <a:p>
            <a:pPr marL="342900" indent="-342900">
              <a:buFont typeface="Wingdings" panose="05000000000000000000" pitchFamily="2" charset="2"/>
              <a:buChar char="ü"/>
            </a:pPr>
            <a:r>
              <a:rPr lang="en-US" sz="2800" i="1" dirty="0" err="1">
                <a:effectLst/>
                <a:latin typeface="Cambria" panose="02040503050406030204" pitchFamily="18" charset="0"/>
              </a:rPr>
              <a:t>Nashiihah</a:t>
            </a:r>
            <a:r>
              <a:rPr lang="en-US" sz="2800" dirty="0">
                <a:effectLst/>
                <a:latin typeface="Cambria" panose="02040503050406030204" pitchFamily="18" charset="0"/>
              </a:rPr>
              <a:t> / </a:t>
            </a:r>
            <a:r>
              <a:rPr lang="ar-SA" sz="2800" dirty="0">
                <a:effectLst/>
                <a:latin typeface="Calibri" panose="020F0502020204030204" pitchFamily="34" charset="0"/>
                <a:cs typeface="Calibri" panose="020F0502020204030204" pitchFamily="34" charset="0"/>
              </a:rPr>
              <a:t>النَّصِيْحَة</a:t>
            </a:r>
            <a:r>
              <a:rPr lang="en-US" sz="2800" dirty="0">
                <a:effectLst/>
                <a:latin typeface="Cambria" panose="02040503050406030204" pitchFamily="18" charset="0"/>
              </a:rPr>
              <a:t> (</a:t>
            </a:r>
            <a:r>
              <a:rPr lang="en-US" sz="2800" dirty="0" err="1">
                <a:effectLst/>
                <a:latin typeface="Cambria" panose="02040503050406030204" pitchFamily="18" charset="0"/>
              </a:rPr>
              <a:t>nasehat</a:t>
            </a:r>
            <a:r>
              <a:rPr lang="en-US" sz="2800" dirty="0">
                <a:effectLst/>
                <a:latin typeface="Cambria" panose="02040503050406030204" pitchFamily="18" charset="0"/>
              </a:rPr>
              <a:t>)</a:t>
            </a:r>
            <a:endParaRPr lang="en-ID" sz="2800" dirty="0">
              <a:effectLst/>
            </a:endParaRPr>
          </a:p>
          <a:p>
            <a:pPr marL="342900" indent="-342900">
              <a:buFont typeface="Wingdings" panose="05000000000000000000" pitchFamily="2" charset="2"/>
              <a:buChar char="ü"/>
            </a:pPr>
            <a:r>
              <a:rPr lang="en-US" sz="2800" i="1" dirty="0" err="1">
                <a:effectLst/>
                <a:latin typeface="Cambria" panose="02040503050406030204" pitchFamily="18" charset="0"/>
              </a:rPr>
              <a:t>Fashaahah</a:t>
            </a:r>
            <a:r>
              <a:rPr lang="en-US" sz="2800" dirty="0">
                <a:effectLst/>
                <a:latin typeface="Cambria" panose="02040503050406030204" pitchFamily="18" charset="0"/>
              </a:rPr>
              <a:t> / </a:t>
            </a:r>
            <a:r>
              <a:rPr lang="ar-SA" sz="2800" dirty="0">
                <a:effectLst/>
                <a:latin typeface="Calibri" panose="020F0502020204030204" pitchFamily="34" charset="0"/>
                <a:cs typeface="Calibri" panose="020F0502020204030204" pitchFamily="34" charset="0"/>
              </a:rPr>
              <a:t>الفَصَاحَة</a:t>
            </a:r>
            <a:r>
              <a:rPr lang="en-US" sz="2800" dirty="0">
                <a:effectLst/>
                <a:latin typeface="Cambria" panose="02040503050406030204" pitchFamily="18" charset="0"/>
              </a:rPr>
              <a:t> (</a:t>
            </a:r>
            <a:r>
              <a:rPr lang="en-US" sz="2800" dirty="0" err="1">
                <a:effectLst/>
                <a:latin typeface="Cambria" panose="02040503050406030204" pitchFamily="18" charset="0"/>
              </a:rPr>
              <a:t>fasih</a:t>
            </a:r>
            <a:r>
              <a:rPr lang="en-US" sz="2800" dirty="0">
                <a:effectLst/>
                <a:latin typeface="Cambria" panose="02040503050406030204" pitchFamily="18" charset="0"/>
              </a:rPr>
              <a:t> </a:t>
            </a:r>
            <a:r>
              <a:rPr lang="en-US" sz="2800" dirty="0" err="1">
                <a:effectLst/>
                <a:latin typeface="Cambria" panose="02040503050406030204" pitchFamily="18" charset="0"/>
              </a:rPr>
              <a:t>bicara</a:t>
            </a:r>
            <a:r>
              <a:rPr lang="en-US" sz="2800" dirty="0">
                <a:effectLst/>
                <a:latin typeface="Cambria" panose="02040503050406030204" pitchFamily="18" charset="0"/>
              </a:rPr>
              <a:t>)</a:t>
            </a:r>
            <a:endParaRPr lang="en-ID" sz="2800" dirty="0">
              <a:effectLst/>
            </a:endParaRPr>
          </a:p>
          <a:p>
            <a:pPr marL="342900" indent="-342900">
              <a:buFont typeface="Wingdings" panose="05000000000000000000" pitchFamily="2" charset="2"/>
              <a:buChar char="ü"/>
            </a:pPr>
            <a:r>
              <a:rPr lang="en-US" sz="2800" i="1" dirty="0" err="1">
                <a:effectLst/>
                <a:latin typeface="Cambria" panose="02040503050406030204" pitchFamily="18" charset="0"/>
              </a:rPr>
              <a:t>Nushrah</a:t>
            </a:r>
            <a:r>
              <a:rPr lang="en-US" sz="2800" i="1" dirty="0">
                <a:effectLst/>
                <a:latin typeface="Cambria" panose="02040503050406030204" pitchFamily="18" charset="0"/>
              </a:rPr>
              <a:t> </a:t>
            </a:r>
            <a:r>
              <a:rPr lang="en-US" sz="2800" dirty="0">
                <a:effectLst/>
                <a:latin typeface="Cambria" panose="02040503050406030204" pitchFamily="18" charset="0"/>
              </a:rPr>
              <a:t>/ </a:t>
            </a:r>
            <a:r>
              <a:rPr lang="ar-SA" sz="2800" dirty="0">
                <a:effectLst/>
                <a:latin typeface="Calibri" panose="020F0502020204030204" pitchFamily="34" charset="0"/>
                <a:cs typeface="Calibri" panose="020F0502020204030204" pitchFamily="34" charset="0"/>
              </a:rPr>
              <a:t>النُّصْرَة</a:t>
            </a:r>
            <a:r>
              <a:rPr lang="en-US" sz="2800" dirty="0">
                <a:effectLst/>
                <a:latin typeface="Cambria" panose="02040503050406030204" pitchFamily="18" charset="0"/>
              </a:rPr>
              <a:t> (</a:t>
            </a:r>
            <a:r>
              <a:rPr lang="en-US" sz="2800" dirty="0" err="1">
                <a:effectLst/>
                <a:latin typeface="Cambria" panose="02040503050406030204" pitchFamily="18" charset="0"/>
              </a:rPr>
              <a:t>menolong</a:t>
            </a:r>
            <a:r>
              <a:rPr lang="en-US" sz="2800" dirty="0">
                <a:effectLst/>
                <a:latin typeface="Cambria" panose="02040503050406030204" pitchFamily="18" charset="0"/>
              </a:rPr>
              <a:t>)</a:t>
            </a:r>
            <a:endParaRPr lang="en-ID" sz="2800" dirty="0">
              <a:effectLst/>
            </a:endParaRPr>
          </a:p>
          <a:p>
            <a:pPr marL="342900" indent="-342900">
              <a:buFont typeface="Wingdings" panose="05000000000000000000" pitchFamily="2" charset="2"/>
              <a:buChar char="ü"/>
            </a:pPr>
            <a:r>
              <a:rPr lang="en-US" sz="2800" i="1" dirty="0" err="1">
                <a:effectLst/>
                <a:latin typeface="Cambria" panose="02040503050406030204" pitchFamily="18" charset="0"/>
                <a:ea typeface="Calibri" panose="020F0502020204030204" pitchFamily="34" charset="0"/>
                <a:cs typeface="Arial" panose="020B0604020202020204" pitchFamily="34" charset="0"/>
              </a:rPr>
              <a:t>Juud</a:t>
            </a:r>
            <a:r>
              <a:rPr lang="en-US" sz="2800" dirty="0">
                <a:effectLst/>
                <a:latin typeface="Cambria" panose="02040503050406030204" pitchFamily="18" charset="0"/>
                <a:ea typeface="Calibri" panose="020F0502020204030204" pitchFamily="34" charset="0"/>
                <a:cs typeface="Arial" panose="020B0604020202020204" pitchFamily="34" charset="0"/>
              </a:rPr>
              <a:t> / </a:t>
            </a:r>
            <a:r>
              <a:rPr lang="ar-SA" sz="2800" dirty="0">
                <a:effectLst/>
                <a:ea typeface="Calibri" panose="020F0502020204030204" pitchFamily="34" charset="0"/>
                <a:cs typeface="Calibri" panose="020F0502020204030204" pitchFamily="34" charset="0"/>
              </a:rPr>
              <a:t>الجُوْد</a:t>
            </a:r>
            <a:r>
              <a:rPr lang="en-US" sz="2800" dirty="0">
                <a:effectLst/>
                <a:latin typeface="Cambria" panose="02040503050406030204" pitchFamily="18" charset="0"/>
                <a:ea typeface="Calibri" panose="020F0502020204030204" pitchFamily="34" charset="0"/>
                <a:cs typeface="Arial" panose="020B0604020202020204" pitchFamily="34" charset="0"/>
              </a:rPr>
              <a:t> (</a:t>
            </a:r>
            <a:r>
              <a:rPr lang="en-US" sz="2800" dirty="0" err="1">
                <a:effectLst/>
                <a:latin typeface="Cambria" panose="02040503050406030204" pitchFamily="18" charset="0"/>
                <a:ea typeface="Calibri" panose="020F0502020204030204" pitchFamily="34" charset="0"/>
                <a:cs typeface="Arial" panose="020B0604020202020204" pitchFamily="34" charset="0"/>
              </a:rPr>
              <a:t>dermawan</a:t>
            </a:r>
            <a:r>
              <a:rPr lang="en-US" sz="2800" dirty="0">
                <a:effectLst/>
                <a:latin typeface="Cambria" panose="02040503050406030204" pitchFamily="18" charset="0"/>
                <a:ea typeface="Calibri" panose="020F0502020204030204" pitchFamily="34" charset="0"/>
                <a:cs typeface="Arial" panose="020B0604020202020204" pitchFamily="34" charset="0"/>
              </a:rPr>
              <a:t>)</a:t>
            </a:r>
            <a:endParaRPr lang="en-ID" sz="2800" dirty="0">
              <a:effectLst/>
            </a:endParaRPr>
          </a:p>
        </p:txBody>
      </p:sp>
      <p:sp>
        <p:nvSpPr>
          <p:cNvPr id="12" name="Rectangle 11">
            <a:extLst>
              <a:ext uri="{FF2B5EF4-FFF2-40B4-BE49-F238E27FC236}">
                <a16:creationId xmlns:a16="http://schemas.microsoft.com/office/drawing/2014/main" id="{B505B351-CB84-4EC6-93C2-0C8FB13E56D4}"/>
              </a:ext>
            </a:extLst>
          </p:cNvPr>
          <p:cNvSpPr/>
          <p:nvPr/>
        </p:nvSpPr>
        <p:spPr>
          <a:xfrm>
            <a:off x="2027168" y="-27384"/>
            <a:ext cx="5089663" cy="954107"/>
          </a:xfrm>
          <a:prstGeom prst="rect">
            <a:avLst/>
          </a:prstGeom>
        </p:spPr>
        <p:txBody>
          <a:bodyPr wrap="none">
            <a:spAutoFit/>
          </a:bodyPr>
          <a:lstStyle/>
          <a:p>
            <a:pPr algn="ctr"/>
            <a:r>
              <a:rPr lang="en-US" sz="2800" dirty="0"/>
              <a:t>P</a:t>
            </a:r>
            <a:r>
              <a:rPr lang="en-ID" sz="2800" dirty="0" err="1"/>
              <a:t>ilar-pilar</a:t>
            </a:r>
            <a:r>
              <a:rPr lang="en-ID" sz="2800" dirty="0"/>
              <a:t> </a:t>
            </a:r>
            <a:r>
              <a:rPr lang="en-ID" sz="2800" dirty="0" err="1"/>
              <a:t>Karakter</a:t>
            </a:r>
            <a:r>
              <a:rPr lang="en-ID" sz="2800" dirty="0"/>
              <a:t> Yang </a:t>
            </a:r>
            <a:r>
              <a:rPr lang="en-ID" sz="2800" dirty="0" err="1"/>
              <a:t>Dikaitkan</a:t>
            </a:r>
            <a:endParaRPr lang="en-ID" sz="2800" dirty="0"/>
          </a:p>
          <a:p>
            <a:pPr algn="ctr"/>
            <a:r>
              <a:rPr lang="en-ID" sz="2800" dirty="0" err="1"/>
              <a:t>Dengan</a:t>
            </a:r>
            <a:r>
              <a:rPr lang="en-ID" sz="2800" dirty="0"/>
              <a:t> </a:t>
            </a:r>
            <a:r>
              <a:rPr lang="en-ID" sz="2800" dirty="0" err="1"/>
              <a:t>Kegiatan</a:t>
            </a:r>
            <a:r>
              <a:rPr lang="en-ID" sz="2800" dirty="0"/>
              <a:t> Dan </a:t>
            </a:r>
            <a:r>
              <a:rPr lang="en-ID" sz="2800" dirty="0" err="1"/>
              <a:t>Peristiwa</a:t>
            </a:r>
            <a:endParaRPr lang="en-ID" sz="2800" dirty="0"/>
          </a:p>
        </p:txBody>
      </p:sp>
      <p:sp>
        <p:nvSpPr>
          <p:cNvPr id="13" name="Content Placeholder 2">
            <a:extLst>
              <a:ext uri="{FF2B5EF4-FFF2-40B4-BE49-F238E27FC236}">
                <a16:creationId xmlns:a16="http://schemas.microsoft.com/office/drawing/2014/main" id="{CB879A1B-457F-4A49-A53D-4D844CF83551}"/>
              </a:ext>
            </a:extLst>
          </p:cNvPr>
          <p:cNvSpPr txBox="1">
            <a:spLocks/>
          </p:cNvSpPr>
          <p:nvPr/>
        </p:nvSpPr>
        <p:spPr>
          <a:xfrm rot="19885689">
            <a:off x="4577407" y="2852936"/>
            <a:ext cx="3816424" cy="1152128"/>
          </a:xfrm>
          <a:prstGeom prst="rect">
            <a:avLst/>
          </a:prstGeom>
          <a:ln w="57150">
            <a:solidFill>
              <a:schemeClr val="bg1"/>
            </a:solidFill>
          </a:ln>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id-ID" sz="6000" dirty="0">
                <a:solidFill>
                  <a:srgbClr val="FF0000"/>
                </a:solidFill>
                <a:effectLst>
                  <a:glow rad="292100">
                    <a:schemeClr val="tx1"/>
                  </a:glow>
                </a:effectLst>
              </a:rPr>
              <a:t>Ego</a:t>
            </a:r>
            <a:r>
              <a:rPr lang="en-US" sz="6000" dirty="0">
                <a:solidFill>
                  <a:srgbClr val="FF0000"/>
                </a:solidFill>
                <a:effectLst>
                  <a:glow rad="292100">
                    <a:schemeClr val="tx1"/>
                  </a:glow>
                </a:effectLst>
              </a:rPr>
              <a:t> Tinggi</a:t>
            </a:r>
            <a:endParaRPr lang="id-ID" sz="6000" dirty="0">
              <a:solidFill>
                <a:srgbClr val="FF0000"/>
              </a:solidFill>
              <a:effectLst>
                <a:glow rad="292100">
                  <a:schemeClr val="tx1"/>
                </a:glow>
              </a:effectLst>
            </a:endParaRPr>
          </a:p>
        </p:txBody>
      </p:sp>
    </p:spTree>
    <p:extLst>
      <p:ext uri="{BB962C8B-B14F-4D97-AF65-F5344CB8AC3E}">
        <p14:creationId xmlns:p14="http://schemas.microsoft.com/office/powerpoint/2010/main" val="626507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505B351-CB84-4EC6-93C2-0C8FB13E56D4}"/>
              </a:ext>
            </a:extLst>
          </p:cNvPr>
          <p:cNvSpPr/>
          <p:nvPr/>
        </p:nvSpPr>
        <p:spPr>
          <a:xfrm>
            <a:off x="156103" y="9068"/>
            <a:ext cx="8831793" cy="954107"/>
          </a:xfrm>
          <a:prstGeom prst="rect">
            <a:avLst/>
          </a:prstGeom>
        </p:spPr>
        <p:txBody>
          <a:bodyPr wrap="square">
            <a:spAutoFit/>
          </a:bodyPr>
          <a:lstStyle/>
          <a:p>
            <a:pPr algn="ctr"/>
            <a:r>
              <a:rPr lang="en-US" sz="2800" dirty="0" err="1"/>
              <a:t>Karakter</a:t>
            </a:r>
            <a:r>
              <a:rPr lang="en-US" sz="2800" dirty="0"/>
              <a:t> </a:t>
            </a:r>
            <a:r>
              <a:rPr lang="en-US" sz="2800" dirty="0" err="1"/>
              <a:t>tercela</a:t>
            </a:r>
            <a:r>
              <a:rPr lang="en-US" sz="2800" dirty="0"/>
              <a:t> </a:t>
            </a:r>
            <a:r>
              <a:rPr lang="en-US" sz="2800" dirty="0" err="1"/>
              <a:t>akibat</a:t>
            </a:r>
            <a:r>
              <a:rPr lang="en-US" sz="2800" dirty="0"/>
              <a:t> </a:t>
            </a:r>
            <a:r>
              <a:rPr lang="en-US" sz="2800" dirty="0" err="1"/>
              <a:t>berlebihan</a:t>
            </a:r>
            <a:r>
              <a:rPr lang="en-US" sz="2800" dirty="0"/>
              <a:t> </a:t>
            </a:r>
            <a:r>
              <a:rPr lang="en-US" sz="2800" dirty="0" err="1"/>
              <a:t>dalam</a:t>
            </a:r>
            <a:r>
              <a:rPr lang="en-US" sz="2800" dirty="0"/>
              <a:t> </a:t>
            </a:r>
            <a:r>
              <a:rPr lang="en-US" sz="2800" dirty="0" err="1"/>
              <a:t>karakter</a:t>
            </a:r>
            <a:r>
              <a:rPr lang="en-US" sz="2800" dirty="0"/>
              <a:t> ego </a:t>
            </a:r>
            <a:r>
              <a:rPr lang="en-US" sz="2800" dirty="0" err="1"/>
              <a:t>tinggi</a:t>
            </a:r>
            <a:r>
              <a:rPr lang="en-US" sz="2800" dirty="0"/>
              <a:t> dan </a:t>
            </a:r>
            <a:r>
              <a:rPr lang="en-US" sz="2800" dirty="0" err="1"/>
              <a:t>melalaikan</a:t>
            </a:r>
            <a:r>
              <a:rPr lang="en-US" sz="2800" dirty="0"/>
              <a:t> </a:t>
            </a:r>
            <a:r>
              <a:rPr lang="en-US" sz="2800" dirty="0" err="1"/>
              <a:t>karakter</a:t>
            </a:r>
            <a:r>
              <a:rPr lang="en-US" sz="2800" dirty="0"/>
              <a:t> ego </a:t>
            </a:r>
            <a:r>
              <a:rPr lang="en-US" sz="2800" dirty="0" err="1"/>
              <a:t>rendah</a:t>
            </a:r>
            <a:endParaRPr lang="en-ID" sz="2800" dirty="0"/>
          </a:p>
        </p:txBody>
      </p:sp>
      <p:sp>
        <p:nvSpPr>
          <p:cNvPr id="5" name="Rectangle 4">
            <a:extLst>
              <a:ext uri="{FF2B5EF4-FFF2-40B4-BE49-F238E27FC236}">
                <a16:creationId xmlns:a16="http://schemas.microsoft.com/office/drawing/2014/main" id="{812CE3D7-4D53-45B7-BC17-20B2345F3511}"/>
              </a:ext>
            </a:extLst>
          </p:cNvPr>
          <p:cNvSpPr/>
          <p:nvPr/>
        </p:nvSpPr>
        <p:spPr>
          <a:xfrm>
            <a:off x="323528" y="979199"/>
            <a:ext cx="4824536" cy="4593565"/>
          </a:xfrm>
          <a:prstGeom prst="rect">
            <a:avLst/>
          </a:prstGeom>
        </p:spPr>
        <p:txBody>
          <a:bodyPr wrap="square">
            <a:spAutoFit/>
          </a:bodyPr>
          <a:lstStyle/>
          <a:p>
            <a:pPr marL="285750" indent="-285750">
              <a:lnSpc>
                <a:spcPts val="2100"/>
              </a:lnSpc>
              <a:spcBef>
                <a:spcPts val="600"/>
              </a:spcBef>
              <a:spcAft>
                <a:spcPts val="600"/>
              </a:spcAft>
              <a:buFont typeface="Arial" panose="020B0604020202020204" pitchFamily="34" charset="0"/>
              <a:buChar char="•"/>
            </a:pPr>
            <a:r>
              <a:rPr lang="en-ID" sz="2000" dirty="0" err="1">
                <a:solidFill>
                  <a:srgbClr val="C00000"/>
                </a:solidFill>
                <a:latin typeface="Calibri" panose="020F0502020204030204" pitchFamily="34" charset="0"/>
                <a:ea typeface="Calibri" panose="020F0502020204030204" pitchFamily="34" charset="0"/>
                <a:cs typeface="Arial" panose="020B0604020202020204" pitchFamily="34" charset="0"/>
              </a:rPr>
              <a:t>Thuulul</a:t>
            </a:r>
            <a:r>
              <a:rPr lang="en-ID" sz="2000" dirty="0">
                <a:solidFill>
                  <a:srgbClr val="C00000"/>
                </a:solidFill>
                <a:latin typeface="Calibri" panose="020F0502020204030204" pitchFamily="34" charset="0"/>
                <a:ea typeface="Calibri" panose="020F0502020204030204" pitchFamily="34" charset="0"/>
                <a:cs typeface="Arial" panose="020B0604020202020204" pitchFamily="34" charset="0"/>
              </a:rPr>
              <a:t> </a:t>
            </a:r>
            <a:r>
              <a:rPr lang="en-ID" sz="2000" dirty="0" err="1">
                <a:solidFill>
                  <a:srgbClr val="C00000"/>
                </a:solidFill>
                <a:latin typeface="Calibri" panose="020F0502020204030204" pitchFamily="34" charset="0"/>
                <a:ea typeface="Calibri" panose="020F0502020204030204" pitchFamily="34" charset="0"/>
                <a:cs typeface="Arial" panose="020B0604020202020204" pitchFamily="34" charset="0"/>
              </a:rPr>
              <a:t>amal</a:t>
            </a:r>
            <a:r>
              <a:rPr lang="en-ID" sz="2000" dirty="0">
                <a:solidFill>
                  <a:srgbClr val="C00000"/>
                </a:solidFill>
                <a:latin typeface="Calibri" panose="020F0502020204030204" pitchFamily="34" charset="0"/>
                <a:ea typeface="Calibri" panose="020F0502020204030204" pitchFamily="34" charset="0"/>
                <a:cs typeface="Arial" panose="020B0604020202020204" pitchFamily="34" charset="0"/>
              </a:rPr>
              <a:t> (</a:t>
            </a:r>
            <a:r>
              <a:rPr lang="ar-SA" sz="2000" dirty="0">
                <a:solidFill>
                  <a:srgbClr val="C00000"/>
                </a:solidFill>
                <a:latin typeface="Calibri" panose="020F0502020204030204" pitchFamily="34" charset="0"/>
                <a:ea typeface="Calibri" panose="020F0502020204030204" pitchFamily="34" charset="0"/>
              </a:rPr>
              <a:t>طُوْلُ الأَمَلِ</a:t>
            </a:r>
            <a:r>
              <a:rPr lang="en-ID" sz="2000" dirty="0">
                <a:solidFill>
                  <a:srgbClr val="C00000"/>
                </a:solidFill>
                <a:latin typeface="Calibri" panose="020F0502020204030204" pitchFamily="34" charset="0"/>
                <a:ea typeface="Calibri" panose="020F0502020204030204" pitchFamily="34" charset="0"/>
                <a:cs typeface="Arial" panose="020B0604020202020204" pitchFamily="34" charset="0"/>
              </a:rPr>
              <a:t>) (</a:t>
            </a:r>
            <a:r>
              <a:rPr lang="en-ID" sz="2000" dirty="0" err="1">
                <a:solidFill>
                  <a:srgbClr val="C00000"/>
                </a:solidFill>
                <a:latin typeface="Calibri" panose="020F0502020204030204" pitchFamily="34" charset="0"/>
                <a:ea typeface="Calibri" panose="020F0502020204030204" pitchFamily="34" charset="0"/>
                <a:cs typeface="Arial" panose="020B0604020202020204" pitchFamily="34" charset="0"/>
              </a:rPr>
              <a:t>panjang</a:t>
            </a:r>
            <a:r>
              <a:rPr lang="en-ID" sz="2000" dirty="0">
                <a:solidFill>
                  <a:srgbClr val="C00000"/>
                </a:solidFill>
                <a:latin typeface="Calibri" panose="020F0502020204030204" pitchFamily="34" charset="0"/>
                <a:ea typeface="Calibri" panose="020F0502020204030204" pitchFamily="34" charset="0"/>
                <a:cs typeface="Arial" panose="020B0604020202020204" pitchFamily="34" charset="0"/>
              </a:rPr>
              <a:t> </a:t>
            </a:r>
            <a:r>
              <a:rPr lang="en-ID" sz="2000" dirty="0" err="1">
                <a:solidFill>
                  <a:srgbClr val="C00000"/>
                </a:solidFill>
                <a:latin typeface="Calibri" panose="020F0502020204030204" pitchFamily="34" charset="0"/>
                <a:ea typeface="Calibri" panose="020F0502020204030204" pitchFamily="34" charset="0"/>
                <a:cs typeface="Arial" panose="020B0604020202020204" pitchFamily="34" charset="0"/>
              </a:rPr>
              <a:t>angan</a:t>
            </a:r>
            <a:r>
              <a:rPr lang="en-ID" sz="2000" dirty="0">
                <a:solidFill>
                  <a:srgbClr val="C00000"/>
                </a:solidFill>
                <a:latin typeface="Calibri" panose="020F0502020204030204" pitchFamily="34" charset="0"/>
                <a:ea typeface="Calibri" panose="020F0502020204030204" pitchFamily="34" charset="0"/>
                <a:cs typeface="Arial" panose="020B0604020202020204" pitchFamily="34" charset="0"/>
              </a:rPr>
              <a:t>)</a:t>
            </a:r>
          </a:p>
          <a:p>
            <a:pPr marL="285750" indent="-285750">
              <a:lnSpc>
                <a:spcPts val="2100"/>
              </a:lnSpc>
              <a:spcBef>
                <a:spcPts val="600"/>
              </a:spcBef>
              <a:spcAft>
                <a:spcPts val="600"/>
              </a:spcAft>
              <a:buFont typeface="Arial" panose="020B0604020202020204" pitchFamily="34" charset="0"/>
              <a:buChar char="•"/>
            </a:pPr>
            <a:r>
              <a:rPr lang="en-ID" sz="2000" dirty="0" err="1">
                <a:solidFill>
                  <a:srgbClr val="C00000"/>
                </a:solidFill>
                <a:latin typeface="Calibri" panose="020F0502020204030204" pitchFamily="34" charset="0"/>
                <a:ea typeface="Calibri" panose="020F0502020204030204" pitchFamily="34" charset="0"/>
                <a:cs typeface="Arial" panose="020B0604020202020204" pitchFamily="34" charset="0"/>
              </a:rPr>
              <a:t>Tabdziir</a:t>
            </a:r>
            <a:r>
              <a:rPr lang="en-ID" sz="2000" dirty="0">
                <a:solidFill>
                  <a:srgbClr val="C00000"/>
                </a:solidFill>
                <a:latin typeface="Calibri" panose="020F0502020204030204" pitchFamily="34" charset="0"/>
                <a:ea typeface="Calibri" panose="020F0502020204030204" pitchFamily="34" charset="0"/>
                <a:cs typeface="Arial" panose="020B0604020202020204" pitchFamily="34" charset="0"/>
              </a:rPr>
              <a:t> (</a:t>
            </a:r>
            <a:r>
              <a:rPr lang="ar-SA" sz="2000" dirty="0">
                <a:solidFill>
                  <a:srgbClr val="C00000"/>
                </a:solidFill>
                <a:latin typeface="Calibri" panose="020F0502020204030204" pitchFamily="34" charset="0"/>
                <a:ea typeface="Calibri" panose="020F0502020204030204" pitchFamily="34" charset="0"/>
              </a:rPr>
              <a:t>التَّبْذِيْر</a:t>
            </a:r>
            <a:r>
              <a:rPr lang="en-ID" sz="2000" dirty="0">
                <a:solidFill>
                  <a:srgbClr val="C00000"/>
                </a:solidFill>
                <a:latin typeface="Calibri" panose="020F0502020204030204" pitchFamily="34" charset="0"/>
                <a:ea typeface="Calibri" panose="020F0502020204030204" pitchFamily="34" charset="0"/>
                <a:cs typeface="Arial" panose="020B0604020202020204" pitchFamily="34" charset="0"/>
              </a:rPr>
              <a:t>) (</a:t>
            </a:r>
            <a:r>
              <a:rPr lang="en-ID" sz="2000" dirty="0" err="1">
                <a:solidFill>
                  <a:srgbClr val="C00000"/>
                </a:solidFill>
                <a:latin typeface="Calibri" panose="020F0502020204030204" pitchFamily="34" charset="0"/>
                <a:ea typeface="Calibri" panose="020F0502020204030204" pitchFamily="34" charset="0"/>
                <a:cs typeface="Arial" panose="020B0604020202020204" pitchFamily="34" charset="0"/>
              </a:rPr>
              <a:t>boros</a:t>
            </a:r>
            <a:r>
              <a:rPr lang="en-ID" sz="2000" dirty="0">
                <a:solidFill>
                  <a:srgbClr val="C00000"/>
                </a:solidFill>
                <a:latin typeface="Calibri" panose="020F0502020204030204" pitchFamily="34" charset="0"/>
                <a:ea typeface="Calibri" panose="020F0502020204030204" pitchFamily="34" charset="0"/>
                <a:cs typeface="Arial" panose="020B0604020202020204" pitchFamily="34" charset="0"/>
              </a:rPr>
              <a:t>)</a:t>
            </a:r>
          </a:p>
          <a:p>
            <a:pPr marL="285750" indent="-285750">
              <a:lnSpc>
                <a:spcPts val="2100"/>
              </a:lnSpc>
              <a:spcBef>
                <a:spcPts val="600"/>
              </a:spcBef>
              <a:spcAft>
                <a:spcPts val="600"/>
              </a:spcAft>
              <a:buFont typeface="Arial" panose="020B0604020202020204" pitchFamily="34" charset="0"/>
              <a:buChar char="•"/>
            </a:pPr>
            <a:r>
              <a:rPr lang="en-ID" sz="2000" dirty="0" err="1">
                <a:solidFill>
                  <a:srgbClr val="C00000"/>
                </a:solidFill>
                <a:latin typeface="Calibri" panose="020F0502020204030204" pitchFamily="34" charset="0"/>
                <a:ea typeface="Calibri" panose="020F0502020204030204" pitchFamily="34" charset="0"/>
                <a:cs typeface="Arial" panose="020B0604020202020204" pitchFamily="34" charset="0"/>
              </a:rPr>
              <a:t>Kibr</a:t>
            </a:r>
            <a:r>
              <a:rPr lang="en-ID" sz="2000" dirty="0">
                <a:solidFill>
                  <a:srgbClr val="C00000"/>
                </a:solidFill>
                <a:latin typeface="Calibri" panose="020F0502020204030204" pitchFamily="34" charset="0"/>
                <a:ea typeface="Calibri" panose="020F0502020204030204" pitchFamily="34" charset="0"/>
                <a:cs typeface="Arial" panose="020B0604020202020204" pitchFamily="34" charset="0"/>
              </a:rPr>
              <a:t> (</a:t>
            </a:r>
            <a:r>
              <a:rPr lang="ar-SA" sz="2000" dirty="0">
                <a:solidFill>
                  <a:srgbClr val="C00000"/>
                </a:solidFill>
                <a:latin typeface="Calibri" panose="020F0502020204030204" pitchFamily="34" charset="0"/>
                <a:ea typeface="Calibri" panose="020F0502020204030204" pitchFamily="34" charset="0"/>
              </a:rPr>
              <a:t>الكِبْر</a:t>
            </a:r>
            <a:r>
              <a:rPr lang="en-ID" sz="2000" dirty="0">
                <a:solidFill>
                  <a:srgbClr val="C00000"/>
                </a:solidFill>
                <a:latin typeface="Calibri" panose="020F0502020204030204" pitchFamily="34" charset="0"/>
                <a:ea typeface="Calibri" panose="020F0502020204030204" pitchFamily="34" charset="0"/>
                <a:cs typeface="Arial" panose="020B0604020202020204" pitchFamily="34" charset="0"/>
              </a:rPr>
              <a:t>) (</a:t>
            </a:r>
            <a:r>
              <a:rPr lang="en-ID" sz="2000" dirty="0" err="1">
                <a:solidFill>
                  <a:srgbClr val="C00000"/>
                </a:solidFill>
                <a:latin typeface="Calibri" panose="020F0502020204030204" pitchFamily="34" charset="0"/>
                <a:ea typeface="Calibri" panose="020F0502020204030204" pitchFamily="34" charset="0"/>
                <a:cs typeface="Arial" panose="020B0604020202020204" pitchFamily="34" charset="0"/>
              </a:rPr>
              <a:t>sombong</a:t>
            </a:r>
            <a:r>
              <a:rPr lang="en-ID" sz="2000" dirty="0">
                <a:solidFill>
                  <a:srgbClr val="C00000"/>
                </a:solidFill>
                <a:latin typeface="Calibri" panose="020F0502020204030204" pitchFamily="34" charset="0"/>
                <a:ea typeface="Calibri" panose="020F0502020204030204" pitchFamily="34" charset="0"/>
                <a:cs typeface="Arial" panose="020B0604020202020204" pitchFamily="34" charset="0"/>
              </a:rPr>
              <a:t>)</a:t>
            </a:r>
          </a:p>
          <a:p>
            <a:pPr marL="285750" indent="-285750">
              <a:lnSpc>
                <a:spcPts val="2100"/>
              </a:lnSpc>
              <a:spcBef>
                <a:spcPts val="600"/>
              </a:spcBef>
              <a:spcAft>
                <a:spcPts val="600"/>
              </a:spcAft>
              <a:buFont typeface="Arial" panose="020B0604020202020204" pitchFamily="34" charset="0"/>
              <a:buChar char="•"/>
            </a:pPr>
            <a:r>
              <a:rPr lang="en-ID" sz="2000" dirty="0" err="1">
                <a:solidFill>
                  <a:srgbClr val="C00000"/>
                </a:solidFill>
                <a:latin typeface="Calibri" panose="020F0502020204030204" pitchFamily="34" charset="0"/>
                <a:ea typeface="Calibri" panose="020F0502020204030204" pitchFamily="34" charset="0"/>
                <a:cs typeface="Arial" panose="020B0604020202020204" pitchFamily="34" charset="0"/>
              </a:rPr>
              <a:t>Ujb</a:t>
            </a:r>
            <a:r>
              <a:rPr lang="en-ID" sz="2000" dirty="0">
                <a:solidFill>
                  <a:srgbClr val="C00000"/>
                </a:solidFill>
                <a:latin typeface="Calibri" panose="020F0502020204030204" pitchFamily="34" charset="0"/>
                <a:ea typeface="Calibri" panose="020F0502020204030204" pitchFamily="34" charset="0"/>
                <a:cs typeface="Arial" panose="020B0604020202020204" pitchFamily="34" charset="0"/>
              </a:rPr>
              <a:t> (</a:t>
            </a:r>
            <a:r>
              <a:rPr lang="ar-SA" sz="2000" dirty="0">
                <a:solidFill>
                  <a:srgbClr val="C00000"/>
                </a:solidFill>
                <a:latin typeface="Calibri" panose="020F0502020204030204" pitchFamily="34" charset="0"/>
                <a:ea typeface="Calibri" panose="020F0502020204030204" pitchFamily="34" charset="0"/>
              </a:rPr>
              <a:t>العُجْب</a:t>
            </a:r>
            <a:r>
              <a:rPr lang="en-ID" sz="2000" dirty="0">
                <a:solidFill>
                  <a:srgbClr val="C00000"/>
                </a:solidFill>
                <a:latin typeface="Calibri" panose="020F0502020204030204" pitchFamily="34" charset="0"/>
                <a:ea typeface="Calibri" panose="020F0502020204030204" pitchFamily="34" charset="0"/>
                <a:cs typeface="Arial" panose="020B0604020202020204" pitchFamily="34" charset="0"/>
              </a:rPr>
              <a:t>) (</a:t>
            </a:r>
            <a:r>
              <a:rPr lang="en-ID" sz="2000" dirty="0" err="1">
                <a:solidFill>
                  <a:srgbClr val="C00000"/>
                </a:solidFill>
                <a:latin typeface="Calibri" panose="020F0502020204030204" pitchFamily="34" charset="0"/>
                <a:ea typeface="Calibri" panose="020F0502020204030204" pitchFamily="34" charset="0"/>
                <a:cs typeface="Arial" panose="020B0604020202020204" pitchFamily="34" charset="0"/>
              </a:rPr>
              <a:t>bangga</a:t>
            </a:r>
            <a:r>
              <a:rPr lang="en-ID" sz="2000" dirty="0">
                <a:solidFill>
                  <a:srgbClr val="C00000"/>
                </a:solidFill>
                <a:latin typeface="Calibri" panose="020F0502020204030204" pitchFamily="34" charset="0"/>
                <a:ea typeface="Calibri" panose="020F0502020204030204" pitchFamily="34" charset="0"/>
                <a:cs typeface="Arial" panose="020B0604020202020204" pitchFamily="34" charset="0"/>
              </a:rPr>
              <a:t> </a:t>
            </a:r>
            <a:r>
              <a:rPr lang="en-ID" sz="2000" dirty="0" err="1">
                <a:solidFill>
                  <a:srgbClr val="C00000"/>
                </a:solidFill>
                <a:latin typeface="Calibri" panose="020F0502020204030204" pitchFamily="34" charset="0"/>
                <a:ea typeface="Calibri" panose="020F0502020204030204" pitchFamily="34" charset="0"/>
                <a:cs typeface="Arial" panose="020B0604020202020204" pitchFamily="34" charset="0"/>
              </a:rPr>
              <a:t>diri</a:t>
            </a:r>
            <a:r>
              <a:rPr lang="en-ID" sz="2000" dirty="0">
                <a:solidFill>
                  <a:srgbClr val="C00000"/>
                </a:solidFill>
                <a:latin typeface="Calibri" panose="020F0502020204030204" pitchFamily="34" charset="0"/>
                <a:ea typeface="Calibri" panose="020F0502020204030204" pitchFamily="34" charset="0"/>
                <a:cs typeface="Arial" panose="020B0604020202020204" pitchFamily="34" charset="0"/>
              </a:rPr>
              <a:t>)</a:t>
            </a:r>
          </a:p>
          <a:p>
            <a:pPr marL="285750" indent="-285750">
              <a:lnSpc>
                <a:spcPts val="2100"/>
              </a:lnSpc>
              <a:spcBef>
                <a:spcPts val="600"/>
              </a:spcBef>
              <a:spcAft>
                <a:spcPts val="600"/>
              </a:spcAft>
              <a:buFont typeface="Arial" panose="020B0604020202020204" pitchFamily="34" charset="0"/>
              <a:buChar char="•"/>
            </a:pPr>
            <a:r>
              <a:rPr lang="en-ID" sz="2000" dirty="0" err="1">
                <a:solidFill>
                  <a:srgbClr val="C00000"/>
                </a:solidFill>
                <a:latin typeface="Calibri" panose="020F0502020204030204" pitchFamily="34" charset="0"/>
                <a:ea typeface="Calibri" panose="020F0502020204030204" pitchFamily="34" charset="0"/>
                <a:cs typeface="Arial" panose="020B0604020202020204" pitchFamily="34" charset="0"/>
              </a:rPr>
              <a:t>Thama</a:t>
            </a:r>
            <a:r>
              <a:rPr lang="en-ID" sz="2000" dirty="0">
                <a:solidFill>
                  <a:srgbClr val="C00000"/>
                </a:solidFill>
                <a:latin typeface="Calibri" panose="020F0502020204030204" pitchFamily="34" charset="0"/>
                <a:ea typeface="Calibri" panose="020F0502020204030204" pitchFamily="34" charset="0"/>
                <a:cs typeface="Arial" panose="020B0604020202020204" pitchFamily="34" charset="0"/>
              </a:rPr>
              <a:t>’ (</a:t>
            </a:r>
            <a:r>
              <a:rPr lang="ar-SA" sz="2000" dirty="0">
                <a:solidFill>
                  <a:srgbClr val="C00000"/>
                </a:solidFill>
                <a:latin typeface="Calibri" panose="020F0502020204030204" pitchFamily="34" charset="0"/>
                <a:ea typeface="Calibri" panose="020F0502020204030204" pitchFamily="34" charset="0"/>
              </a:rPr>
              <a:t>الطَّمَع</a:t>
            </a:r>
            <a:r>
              <a:rPr lang="en-ID" sz="2000" dirty="0">
                <a:solidFill>
                  <a:srgbClr val="C00000"/>
                </a:solidFill>
                <a:latin typeface="Calibri" panose="020F0502020204030204" pitchFamily="34" charset="0"/>
                <a:ea typeface="Calibri" panose="020F0502020204030204" pitchFamily="34" charset="0"/>
                <a:cs typeface="Arial" panose="020B0604020202020204" pitchFamily="34" charset="0"/>
              </a:rPr>
              <a:t>) (</a:t>
            </a:r>
            <a:r>
              <a:rPr lang="en-ID" sz="2000" dirty="0" err="1">
                <a:solidFill>
                  <a:srgbClr val="C00000"/>
                </a:solidFill>
                <a:latin typeface="Calibri" panose="020F0502020204030204" pitchFamily="34" charset="0"/>
                <a:ea typeface="Calibri" panose="020F0502020204030204" pitchFamily="34" charset="0"/>
                <a:cs typeface="Arial" panose="020B0604020202020204" pitchFamily="34" charset="0"/>
              </a:rPr>
              <a:t>Serakah</a:t>
            </a:r>
            <a:r>
              <a:rPr lang="en-ID" sz="2000" dirty="0">
                <a:solidFill>
                  <a:srgbClr val="C00000"/>
                </a:solidFill>
                <a:latin typeface="Calibri" panose="020F0502020204030204" pitchFamily="34" charset="0"/>
                <a:ea typeface="Calibri" panose="020F0502020204030204" pitchFamily="34" charset="0"/>
                <a:cs typeface="Arial" panose="020B0604020202020204" pitchFamily="34" charset="0"/>
              </a:rPr>
              <a:t>)</a:t>
            </a:r>
          </a:p>
          <a:p>
            <a:pPr marL="285750" indent="-285750">
              <a:lnSpc>
                <a:spcPts val="2100"/>
              </a:lnSpc>
              <a:spcBef>
                <a:spcPts val="600"/>
              </a:spcBef>
              <a:spcAft>
                <a:spcPts val="600"/>
              </a:spcAft>
              <a:buFont typeface="Arial" panose="020B0604020202020204" pitchFamily="34" charset="0"/>
              <a:buChar char="•"/>
            </a:pPr>
            <a:r>
              <a:rPr lang="en-ID" sz="2000" dirty="0" err="1">
                <a:solidFill>
                  <a:srgbClr val="C00000"/>
                </a:solidFill>
                <a:latin typeface="Calibri" panose="020F0502020204030204" pitchFamily="34" charset="0"/>
                <a:ea typeface="Calibri" panose="020F0502020204030204" pitchFamily="34" charset="0"/>
                <a:cs typeface="Arial" panose="020B0604020202020204" pitchFamily="34" charset="0"/>
              </a:rPr>
              <a:t>Tahawwur</a:t>
            </a:r>
            <a:r>
              <a:rPr lang="en-ID" sz="2000" dirty="0">
                <a:solidFill>
                  <a:srgbClr val="C00000"/>
                </a:solidFill>
                <a:latin typeface="Calibri" panose="020F0502020204030204" pitchFamily="34" charset="0"/>
                <a:ea typeface="Calibri" panose="020F0502020204030204" pitchFamily="34" charset="0"/>
                <a:cs typeface="Arial" panose="020B0604020202020204" pitchFamily="34" charset="0"/>
              </a:rPr>
              <a:t> (</a:t>
            </a:r>
            <a:r>
              <a:rPr lang="ar-SA" sz="2000" dirty="0">
                <a:solidFill>
                  <a:srgbClr val="C00000"/>
                </a:solidFill>
                <a:latin typeface="Calibri" panose="020F0502020204030204" pitchFamily="34" charset="0"/>
                <a:ea typeface="Calibri" panose="020F0502020204030204" pitchFamily="34" charset="0"/>
              </a:rPr>
              <a:t>التَّهَوُّر</a:t>
            </a:r>
            <a:r>
              <a:rPr lang="en-ID" sz="2000" dirty="0">
                <a:solidFill>
                  <a:srgbClr val="C00000"/>
                </a:solidFill>
                <a:latin typeface="Calibri" panose="020F0502020204030204" pitchFamily="34" charset="0"/>
                <a:ea typeface="Calibri" panose="020F0502020204030204" pitchFamily="34" charset="0"/>
                <a:cs typeface="Arial" panose="020B0604020202020204" pitchFamily="34" charset="0"/>
              </a:rPr>
              <a:t>) (</a:t>
            </a:r>
            <a:r>
              <a:rPr lang="en-ID" sz="2000" dirty="0" err="1">
                <a:solidFill>
                  <a:srgbClr val="C00000"/>
                </a:solidFill>
                <a:latin typeface="Calibri" panose="020F0502020204030204" pitchFamily="34" charset="0"/>
                <a:ea typeface="Calibri" panose="020F0502020204030204" pitchFamily="34" charset="0"/>
                <a:cs typeface="Arial" panose="020B0604020202020204" pitchFamily="34" charset="0"/>
              </a:rPr>
              <a:t>ceroboh</a:t>
            </a:r>
            <a:r>
              <a:rPr lang="en-ID" sz="2000" dirty="0">
                <a:solidFill>
                  <a:srgbClr val="C00000"/>
                </a:solidFill>
                <a:latin typeface="Calibri" panose="020F0502020204030204" pitchFamily="34" charset="0"/>
                <a:ea typeface="Calibri" panose="020F0502020204030204" pitchFamily="34" charset="0"/>
                <a:cs typeface="Arial" panose="020B0604020202020204" pitchFamily="34" charset="0"/>
              </a:rPr>
              <a:t>)</a:t>
            </a:r>
          </a:p>
          <a:p>
            <a:pPr marL="285750" indent="-285750">
              <a:lnSpc>
                <a:spcPts val="2100"/>
              </a:lnSpc>
              <a:spcBef>
                <a:spcPts val="600"/>
              </a:spcBef>
              <a:spcAft>
                <a:spcPts val="600"/>
              </a:spcAft>
              <a:buFont typeface="Arial" panose="020B0604020202020204" pitchFamily="34" charset="0"/>
              <a:buChar char="•"/>
            </a:pPr>
            <a:r>
              <a:rPr lang="en-ID" sz="2000" dirty="0" err="1">
                <a:solidFill>
                  <a:srgbClr val="C00000"/>
                </a:solidFill>
                <a:latin typeface="Calibri" panose="020F0502020204030204" pitchFamily="34" charset="0"/>
                <a:ea typeface="Calibri" panose="020F0502020204030204" pitchFamily="34" charset="0"/>
                <a:cs typeface="Arial" panose="020B0604020202020204" pitchFamily="34" charset="0"/>
              </a:rPr>
              <a:t>Hasad</a:t>
            </a:r>
            <a:r>
              <a:rPr lang="en-ID" sz="2000" dirty="0">
                <a:solidFill>
                  <a:srgbClr val="C00000"/>
                </a:solidFill>
                <a:latin typeface="Calibri" panose="020F0502020204030204" pitchFamily="34" charset="0"/>
                <a:ea typeface="Calibri" panose="020F0502020204030204" pitchFamily="34" charset="0"/>
                <a:cs typeface="Arial" panose="020B0604020202020204" pitchFamily="34" charset="0"/>
              </a:rPr>
              <a:t> (</a:t>
            </a:r>
            <a:r>
              <a:rPr lang="ar-SA" sz="2000" dirty="0">
                <a:solidFill>
                  <a:srgbClr val="C00000"/>
                </a:solidFill>
                <a:latin typeface="Calibri" panose="020F0502020204030204" pitchFamily="34" charset="0"/>
                <a:ea typeface="Calibri" panose="020F0502020204030204" pitchFamily="34" charset="0"/>
              </a:rPr>
              <a:t>الحَسَد</a:t>
            </a:r>
            <a:r>
              <a:rPr lang="en-ID" sz="2000" dirty="0">
                <a:solidFill>
                  <a:srgbClr val="C00000"/>
                </a:solidFill>
                <a:latin typeface="Calibri" panose="020F0502020204030204" pitchFamily="34" charset="0"/>
                <a:ea typeface="Calibri" panose="020F0502020204030204" pitchFamily="34" charset="0"/>
                <a:cs typeface="Arial" panose="020B0604020202020204" pitchFamily="34" charset="0"/>
              </a:rPr>
              <a:t>) (</a:t>
            </a:r>
            <a:r>
              <a:rPr lang="en-ID" sz="2000" dirty="0" err="1">
                <a:solidFill>
                  <a:srgbClr val="C00000"/>
                </a:solidFill>
                <a:latin typeface="Calibri" panose="020F0502020204030204" pitchFamily="34" charset="0"/>
                <a:ea typeface="Calibri" panose="020F0502020204030204" pitchFamily="34" charset="0"/>
                <a:cs typeface="Arial" panose="020B0604020202020204" pitchFamily="34" charset="0"/>
              </a:rPr>
              <a:t>iri</a:t>
            </a:r>
            <a:r>
              <a:rPr lang="en-ID" sz="2000" dirty="0">
                <a:solidFill>
                  <a:srgbClr val="C00000"/>
                </a:solidFill>
                <a:latin typeface="Calibri" panose="020F0502020204030204" pitchFamily="34" charset="0"/>
                <a:ea typeface="Calibri" panose="020F0502020204030204" pitchFamily="34" charset="0"/>
                <a:cs typeface="Arial" panose="020B0604020202020204" pitchFamily="34" charset="0"/>
              </a:rPr>
              <a:t> </a:t>
            </a:r>
            <a:r>
              <a:rPr lang="en-ID" sz="2000" dirty="0" err="1">
                <a:solidFill>
                  <a:srgbClr val="C00000"/>
                </a:solidFill>
                <a:latin typeface="Calibri" panose="020F0502020204030204" pitchFamily="34" charset="0"/>
                <a:ea typeface="Calibri" panose="020F0502020204030204" pitchFamily="34" charset="0"/>
                <a:cs typeface="Arial" panose="020B0604020202020204" pitchFamily="34" charset="0"/>
              </a:rPr>
              <a:t>hati</a:t>
            </a:r>
            <a:r>
              <a:rPr lang="en-ID" sz="2000" dirty="0">
                <a:solidFill>
                  <a:srgbClr val="C00000"/>
                </a:solidFill>
                <a:latin typeface="Calibri" panose="020F0502020204030204" pitchFamily="34" charset="0"/>
                <a:ea typeface="Calibri" panose="020F0502020204030204" pitchFamily="34" charset="0"/>
                <a:cs typeface="Arial" panose="020B0604020202020204" pitchFamily="34" charset="0"/>
              </a:rPr>
              <a:t>)</a:t>
            </a:r>
          </a:p>
          <a:p>
            <a:pPr marL="285750" indent="-285750">
              <a:lnSpc>
                <a:spcPts val="2100"/>
              </a:lnSpc>
              <a:spcBef>
                <a:spcPts val="600"/>
              </a:spcBef>
              <a:spcAft>
                <a:spcPts val="600"/>
              </a:spcAft>
              <a:buFont typeface="Arial" panose="020B0604020202020204" pitchFamily="34" charset="0"/>
              <a:buChar char="•"/>
            </a:pPr>
            <a:r>
              <a:rPr lang="en-ID" sz="2000" dirty="0" err="1">
                <a:solidFill>
                  <a:srgbClr val="C00000"/>
                </a:solidFill>
                <a:latin typeface="Calibri" panose="020F0502020204030204" pitchFamily="34" charset="0"/>
                <a:ea typeface="Calibri" panose="020F0502020204030204" pitchFamily="34" charset="0"/>
                <a:cs typeface="Arial" panose="020B0604020202020204" pitchFamily="34" charset="0"/>
              </a:rPr>
              <a:t>Tanfiir</a:t>
            </a:r>
            <a:r>
              <a:rPr lang="en-ID" sz="2000" dirty="0">
                <a:solidFill>
                  <a:srgbClr val="C00000"/>
                </a:solidFill>
                <a:latin typeface="Calibri" panose="020F0502020204030204" pitchFamily="34" charset="0"/>
                <a:ea typeface="Calibri" panose="020F0502020204030204" pitchFamily="34" charset="0"/>
                <a:cs typeface="Arial" panose="020B0604020202020204" pitchFamily="34" charset="0"/>
              </a:rPr>
              <a:t> (</a:t>
            </a:r>
            <a:r>
              <a:rPr lang="ar-SA" sz="2000" dirty="0">
                <a:solidFill>
                  <a:srgbClr val="C00000"/>
                </a:solidFill>
                <a:latin typeface="Calibri" panose="020F0502020204030204" pitchFamily="34" charset="0"/>
                <a:ea typeface="Calibri" panose="020F0502020204030204" pitchFamily="34" charset="0"/>
              </a:rPr>
              <a:t>التَّنْفِير</a:t>
            </a:r>
            <a:r>
              <a:rPr lang="en-ID" sz="2000" dirty="0">
                <a:solidFill>
                  <a:srgbClr val="C00000"/>
                </a:solidFill>
                <a:latin typeface="Calibri" panose="020F0502020204030204" pitchFamily="34" charset="0"/>
                <a:ea typeface="Calibri" panose="020F0502020204030204" pitchFamily="34" charset="0"/>
                <a:cs typeface="Arial" panose="020B0604020202020204" pitchFamily="34" charset="0"/>
              </a:rPr>
              <a:t>) (</a:t>
            </a:r>
            <a:r>
              <a:rPr lang="en-ID" sz="2000" dirty="0" err="1">
                <a:solidFill>
                  <a:srgbClr val="C00000"/>
                </a:solidFill>
                <a:latin typeface="Calibri" panose="020F0502020204030204" pitchFamily="34" charset="0"/>
                <a:ea typeface="Calibri" panose="020F0502020204030204" pitchFamily="34" charset="0"/>
                <a:cs typeface="Arial" panose="020B0604020202020204" pitchFamily="34" charset="0"/>
              </a:rPr>
              <a:t>menakut-nakuti</a:t>
            </a:r>
            <a:r>
              <a:rPr lang="en-ID" sz="2000" dirty="0">
                <a:solidFill>
                  <a:srgbClr val="C00000"/>
                </a:solidFill>
                <a:latin typeface="Calibri" panose="020F0502020204030204" pitchFamily="34" charset="0"/>
                <a:ea typeface="Calibri" panose="020F0502020204030204" pitchFamily="34" charset="0"/>
                <a:cs typeface="Arial" panose="020B0604020202020204" pitchFamily="34" charset="0"/>
              </a:rPr>
              <a:t>)</a:t>
            </a:r>
          </a:p>
          <a:p>
            <a:pPr marL="285750" indent="-285750">
              <a:lnSpc>
                <a:spcPts val="2100"/>
              </a:lnSpc>
              <a:spcBef>
                <a:spcPts val="600"/>
              </a:spcBef>
              <a:spcAft>
                <a:spcPts val="600"/>
              </a:spcAft>
              <a:buFont typeface="Arial" panose="020B0604020202020204" pitchFamily="34" charset="0"/>
              <a:buChar char="•"/>
            </a:pPr>
            <a:r>
              <a:rPr lang="en-ID" sz="2000" dirty="0" err="1">
                <a:solidFill>
                  <a:srgbClr val="C00000"/>
                </a:solidFill>
                <a:latin typeface="Calibri" panose="020F0502020204030204" pitchFamily="34" charset="0"/>
                <a:ea typeface="Calibri" panose="020F0502020204030204" pitchFamily="34" charset="0"/>
                <a:cs typeface="Arial" panose="020B0604020202020204" pitchFamily="34" charset="0"/>
              </a:rPr>
              <a:t>Jidaal</a:t>
            </a:r>
            <a:r>
              <a:rPr lang="en-ID" sz="2000" dirty="0">
                <a:solidFill>
                  <a:srgbClr val="C00000"/>
                </a:solidFill>
                <a:latin typeface="Calibri" panose="020F0502020204030204" pitchFamily="34" charset="0"/>
                <a:ea typeface="Calibri" panose="020F0502020204030204" pitchFamily="34" charset="0"/>
                <a:cs typeface="Arial" panose="020B0604020202020204" pitchFamily="34" charset="0"/>
              </a:rPr>
              <a:t> (</a:t>
            </a:r>
            <a:r>
              <a:rPr lang="ar-SA" sz="2000" dirty="0">
                <a:solidFill>
                  <a:srgbClr val="C00000"/>
                </a:solidFill>
                <a:latin typeface="Calibri" panose="020F0502020204030204" pitchFamily="34" charset="0"/>
                <a:ea typeface="Calibri" panose="020F0502020204030204" pitchFamily="34" charset="0"/>
              </a:rPr>
              <a:t>الجِدَال</a:t>
            </a:r>
            <a:r>
              <a:rPr lang="en-ID" sz="2000" dirty="0">
                <a:solidFill>
                  <a:srgbClr val="C00000"/>
                </a:solidFill>
                <a:latin typeface="Calibri" panose="020F0502020204030204" pitchFamily="34" charset="0"/>
                <a:ea typeface="Calibri" panose="020F0502020204030204" pitchFamily="34" charset="0"/>
                <a:cs typeface="Arial" panose="020B0604020202020204" pitchFamily="34" charset="0"/>
              </a:rPr>
              <a:t>) (</a:t>
            </a:r>
            <a:r>
              <a:rPr lang="en-ID" sz="2000" dirty="0" err="1">
                <a:solidFill>
                  <a:srgbClr val="C00000"/>
                </a:solidFill>
                <a:latin typeface="Calibri" panose="020F0502020204030204" pitchFamily="34" charset="0"/>
                <a:ea typeface="Calibri" panose="020F0502020204030204" pitchFamily="34" charset="0"/>
                <a:cs typeface="Arial" panose="020B0604020202020204" pitchFamily="34" charset="0"/>
              </a:rPr>
              <a:t>berdebat</a:t>
            </a:r>
            <a:r>
              <a:rPr lang="en-ID" sz="2000" dirty="0">
                <a:solidFill>
                  <a:srgbClr val="C00000"/>
                </a:solidFill>
                <a:latin typeface="Calibri" panose="020F0502020204030204" pitchFamily="34" charset="0"/>
                <a:ea typeface="Calibri" panose="020F0502020204030204" pitchFamily="34" charset="0"/>
                <a:cs typeface="Arial" panose="020B0604020202020204" pitchFamily="34" charset="0"/>
              </a:rPr>
              <a:t>/tantrum)</a:t>
            </a:r>
          </a:p>
          <a:p>
            <a:pPr marL="285750" indent="-285750">
              <a:lnSpc>
                <a:spcPts val="2100"/>
              </a:lnSpc>
              <a:spcBef>
                <a:spcPts val="600"/>
              </a:spcBef>
              <a:spcAft>
                <a:spcPts val="600"/>
              </a:spcAft>
              <a:buFont typeface="Arial" panose="020B0604020202020204" pitchFamily="34" charset="0"/>
              <a:buChar char="•"/>
            </a:pPr>
            <a:r>
              <a:rPr lang="en-ID" sz="2000" dirty="0" err="1">
                <a:solidFill>
                  <a:srgbClr val="C00000"/>
                </a:solidFill>
                <a:latin typeface="Calibri" panose="020F0502020204030204" pitchFamily="34" charset="0"/>
                <a:ea typeface="Calibri" panose="020F0502020204030204" pitchFamily="34" charset="0"/>
                <a:cs typeface="Arial" panose="020B0604020202020204" pitchFamily="34" charset="0"/>
              </a:rPr>
              <a:t>Zhulm</a:t>
            </a:r>
            <a:r>
              <a:rPr lang="en-ID" sz="2000" dirty="0">
                <a:solidFill>
                  <a:srgbClr val="C00000"/>
                </a:solidFill>
                <a:latin typeface="Calibri" panose="020F0502020204030204" pitchFamily="34" charset="0"/>
                <a:ea typeface="Calibri" panose="020F0502020204030204" pitchFamily="34" charset="0"/>
                <a:cs typeface="Arial" panose="020B0604020202020204" pitchFamily="34" charset="0"/>
              </a:rPr>
              <a:t> (</a:t>
            </a:r>
            <a:r>
              <a:rPr lang="ar-SA" sz="2000" dirty="0">
                <a:solidFill>
                  <a:srgbClr val="C00000"/>
                </a:solidFill>
                <a:latin typeface="Calibri" panose="020F0502020204030204" pitchFamily="34" charset="0"/>
                <a:ea typeface="Calibri" panose="020F0502020204030204" pitchFamily="34" charset="0"/>
              </a:rPr>
              <a:t>الظُّلْم</a:t>
            </a:r>
            <a:r>
              <a:rPr lang="en-ID" sz="2000" dirty="0">
                <a:solidFill>
                  <a:srgbClr val="C00000"/>
                </a:solidFill>
                <a:latin typeface="Calibri" panose="020F0502020204030204" pitchFamily="34" charset="0"/>
                <a:ea typeface="Calibri" panose="020F0502020204030204" pitchFamily="34" charset="0"/>
                <a:cs typeface="Arial" panose="020B0604020202020204" pitchFamily="34" charset="0"/>
              </a:rPr>
              <a:t>) (</a:t>
            </a:r>
            <a:r>
              <a:rPr lang="en-ID" sz="2000" dirty="0" err="1">
                <a:solidFill>
                  <a:srgbClr val="C00000"/>
                </a:solidFill>
                <a:latin typeface="Calibri" panose="020F0502020204030204" pitchFamily="34" charset="0"/>
                <a:ea typeface="Calibri" panose="020F0502020204030204" pitchFamily="34" charset="0"/>
                <a:cs typeface="Arial" panose="020B0604020202020204" pitchFamily="34" charset="0"/>
              </a:rPr>
              <a:t>zhalim</a:t>
            </a:r>
            <a:r>
              <a:rPr lang="en-ID" sz="2000" dirty="0">
                <a:solidFill>
                  <a:srgbClr val="C00000"/>
                </a:solidFill>
                <a:latin typeface="Calibri" panose="020F0502020204030204" pitchFamily="34" charset="0"/>
                <a:ea typeface="Calibri" panose="020F0502020204030204" pitchFamily="34" charset="0"/>
                <a:cs typeface="Arial" panose="020B0604020202020204" pitchFamily="34" charset="0"/>
              </a:rPr>
              <a:t>/</a:t>
            </a:r>
            <a:r>
              <a:rPr lang="en-ID" sz="2000" dirty="0" err="1">
                <a:solidFill>
                  <a:srgbClr val="C00000"/>
                </a:solidFill>
                <a:latin typeface="Calibri" panose="020F0502020204030204" pitchFamily="34" charset="0"/>
                <a:ea typeface="Calibri" panose="020F0502020204030204" pitchFamily="34" charset="0"/>
                <a:cs typeface="Arial" panose="020B0604020202020204" pitchFamily="34" charset="0"/>
              </a:rPr>
              <a:t>memaksa</a:t>
            </a:r>
            <a:r>
              <a:rPr lang="en-ID" sz="2000" dirty="0">
                <a:solidFill>
                  <a:srgbClr val="C00000"/>
                </a:solidFill>
                <a:latin typeface="Calibri" panose="020F0502020204030204" pitchFamily="34" charset="0"/>
                <a:ea typeface="Calibri" panose="020F0502020204030204" pitchFamily="34" charset="0"/>
                <a:cs typeface="Arial" panose="020B0604020202020204" pitchFamily="34" charset="0"/>
              </a:rPr>
              <a:t>)</a:t>
            </a:r>
          </a:p>
          <a:p>
            <a:pPr marL="285750" indent="-285750">
              <a:lnSpc>
                <a:spcPts val="2100"/>
              </a:lnSpc>
              <a:spcBef>
                <a:spcPts val="600"/>
              </a:spcBef>
              <a:spcAft>
                <a:spcPts val="600"/>
              </a:spcAft>
              <a:buFont typeface="Arial" panose="020B0604020202020204" pitchFamily="34" charset="0"/>
              <a:buChar char="•"/>
            </a:pPr>
            <a:r>
              <a:rPr lang="en-ID" sz="2000" dirty="0" err="1">
                <a:solidFill>
                  <a:srgbClr val="C00000"/>
                </a:solidFill>
                <a:latin typeface="Calibri" panose="020F0502020204030204" pitchFamily="34" charset="0"/>
                <a:ea typeface="Calibri" panose="020F0502020204030204" pitchFamily="34" charset="0"/>
                <a:cs typeface="Arial" panose="020B0604020202020204" pitchFamily="34" charset="0"/>
              </a:rPr>
              <a:t>Tabdzir</a:t>
            </a:r>
            <a:r>
              <a:rPr lang="en-ID" sz="2000" dirty="0">
                <a:solidFill>
                  <a:srgbClr val="C00000"/>
                </a:solidFill>
                <a:latin typeface="Calibri" panose="020F0502020204030204" pitchFamily="34" charset="0"/>
                <a:ea typeface="Calibri" panose="020F0502020204030204" pitchFamily="34" charset="0"/>
                <a:cs typeface="Arial" panose="020B0604020202020204" pitchFamily="34" charset="0"/>
              </a:rPr>
              <a:t> (</a:t>
            </a:r>
            <a:r>
              <a:rPr lang="ar-SA" sz="2000" dirty="0">
                <a:solidFill>
                  <a:srgbClr val="C00000"/>
                </a:solidFill>
                <a:latin typeface="Calibri" panose="020F0502020204030204" pitchFamily="34" charset="0"/>
                <a:ea typeface="Calibri" panose="020F0502020204030204" pitchFamily="34" charset="0"/>
              </a:rPr>
              <a:t>التَّبْذِيْر</a:t>
            </a:r>
            <a:r>
              <a:rPr lang="en-ID" sz="2000" dirty="0">
                <a:solidFill>
                  <a:srgbClr val="C00000"/>
                </a:solidFill>
                <a:latin typeface="Calibri" panose="020F0502020204030204" pitchFamily="34" charset="0"/>
                <a:ea typeface="Calibri" panose="020F0502020204030204" pitchFamily="34" charset="0"/>
                <a:cs typeface="Arial" panose="020B0604020202020204" pitchFamily="34" charset="0"/>
              </a:rPr>
              <a:t>) (</a:t>
            </a:r>
            <a:r>
              <a:rPr lang="en-ID" sz="2000" dirty="0" err="1">
                <a:solidFill>
                  <a:srgbClr val="C00000"/>
                </a:solidFill>
                <a:latin typeface="Calibri" panose="020F0502020204030204" pitchFamily="34" charset="0"/>
                <a:ea typeface="Calibri" panose="020F0502020204030204" pitchFamily="34" charset="0"/>
                <a:cs typeface="Arial" panose="020B0604020202020204" pitchFamily="34" charset="0"/>
              </a:rPr>
              <a:t>boros</a:t>
            </a:r>
            <a:r>
              <a:rPr lang="en-ID" sz="2000" dirty="0">
                <a:solidFill>
                  <a:srgbClr val="C00000"/>
                </a:solidFill>
                <a:latin typeface="Calibri" panose="020F0502020204030204" pitchFamily="34" charset="0"/>
                <a:ea typeface="Calibri" panose="020F0502020204030204" pitchFamily="34" charset="0"/>
                <a:cs typeface="Arial" panose="020B0604020202020204" pitchFamily="34" charset="0"/>
              </a:rPr>
              <a:t>)</a:t>
            </a:r>
          </a:p>
        </p:txBody>
      </p:sp>
      <p:sp>
        <p:nvSpPr>
          <p:cNvPr id="6" name="Rectangle 5">
            <a:extLst>
              <a:ext uri="{FF2B5EF4-FFF2-40B4-BE49-F238E27FC236}">
                <a16:creationId xmlns:a16="http://schemas.microsoft.com/office/drawing/2014/main" id="{274339CE-B1A9-4DD7-9451-9274545F5900}"/>
              </a:ext>
            </a:extLst>
          </p:cNvPr>
          <p:cNvSpPr/>
          <p:nvPr/>
        </p:nvSpPr>
        <p:spPr>
          <a:xfrm>
            <a:off x="4255358" y="1422195"/>
            <a:ext cx="4539145" cy="5440335"/>
          </a:xfrm>
          <a:prstGeom prst="rect">
            <a:avLst/>
          </a:prstGeom>
        </p:spPr>
        <p:txBody>
          <a:bodyPr wrap="square">
            <a:spAutoFit/>
          </a:bodyPr>
          <a:lstStyle/>
          <a:p>
            <a:pPr marL="285750" indent="-285750" algn="just">
              <a:lnSpc>
                <a:spcPts val="2100"/>
              </a:lnSpc>
              <a:spcBef>
                <a:spcPts val="600"/>
              </a:spcBef>
              <a:spcAft>
                <a:spcPts val="600"/>
              </a:spcAft>
              <a:buFont typeface="Arial" panose="020B0604020202020204" pitchFamily="34" charset="0"/>
              <a:buChar char="•"/>
            </a:pPr>
            <a:r>
              <a:rPr lang="en-ID" sz="2000" dirty="0" err="1">
                <a:solidFill>
                  <a:srgbClr val="00B050"/>
                </a:solidFill>
                <a:latin typeface="Calibri" panose="020F0502020204030204" pitchFamily="34" charset="0"/>
                <a:ea typeface="Calibri" panose="020F0502020204030204" pitchFamily="34" charset="0"/>
                <a:cs typeface="Calibri" panose="020F0502020204030204" pitchFamily="34" charset="0"/>
              </a:rPr>
              <a:t>Kadzib</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 (</a:t>
            </a:r>
            <a:r>
              <a:rPr lang="ar-SA" sz="2000" dirty="0">
                <a:solidFill>
                  <a:srgbClr val="00B050"/>
                </a:solidFill>
                <a:latin typeface="Calibri" panose="020F0502020204030204" pitchFamily="34" charset="0"/>
                <a:ea typeface="Calibri" panose="020F0502020204030204" pitchFamily="34" charset="0"/>
                <a:cs typeface="Calibri" panose="020F0502020204030204" pitchFamily="34" charset="0"/>
              </a:rPr>
              <a:t>الكَذِب</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 (</a:t>
            </a:r>
            <a:r>
              <a:rPr lang="en-ID" sz="2000" dirty="0" err="1">
                <a:solidFill>
                  <a:srgbClr val="00B050"/>
                </a:solidFill>
                <a:latin typeface="Calibri" panose="020F0502020204030204" pitchFamily="34" charset="0"/>
                <a:ea typeface="Calibri" panose="020F0502020204030204" pitchFamily="34" charset="0"/>
                <a:cs typeface="Calibri" panose="020F0502020204030204" pitchFamily="34" charset="0"/>
              </a:rPr>
              <a:t>dusta</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a:t>
            </a:r>
          </a:p>
          <a:p>
            <a:pPr marL="285750" indent="-285750" algn="just">
              <a:lnSpc>
                <a:spcPts val="2100"/>
              </a:lnSpc>
              <a:spcBef>
                <a:spcPts val="600"/>
              </a:spcBef>
              <a:spcAft>
                <a:spcPts val="600"/>
              </a:spcAft>
              <a:buFont typeface="Arial" panose="020B0604020202020204" pitchFamily="34" charset="0"/>
              <a:buChar char="•"/>
            </a:pPr>
            <a:r>
              <a:rPr lang="en-ID" sz="2000" dirty="0" err="1">
                <a:solidFill>
                  <a:srgbClr val="00B050"/>
                </a:solidFill>
                <a:latin typeface="Calibri" panose="020F0502020204030204" pitchFamily="34" charset="0"/>
                <a:ea typeface="Calibri" panose="020F0502020204030204" pitchFamily="34" charset="0"/>
                <a:cs typeface="Calibri" panose="020F0502020204030204" pitchFamily="34" charset="0"/>
              </a:rPr>
              <a:t>Ifsyaa’us</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 </a:t>
            </a:r>
            <a:r>
              <a:rPr lang="en-ID" sz="2000" dirty="0" err="1">
                <a:solidFill>
                  <a:srgbClr val="00B050"/>
                </a:solidFill>
                <a:latin typeface="Calibri" panose="020F0502020204030204" pitchFamily="34" charset="0"/>
                <a:ea typeface="Calibri" panose="020F0502020204030204" pitchFamily="34" charset="0"/>
                <a:cs typeface="Calibri" panose="020F0502020204030204" pitchFamily="34" charset="0"/>
              </a:rPr>
              <a:t>sirr</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  (</a:t>
            </a:r>
            <a:r>
              <a:rPr lang="ar-SA" sz="2000" dirty="0">
                <a:solidFill>
                  <a:srgbClr val="00B050"/>
                </a:solidFill>
                <a:latin typeface="Calibri" panose="020F0502020204030204" pitchFamily="34" charset="0"/>
                <a:ea typeface="Calibri" panose="020F0502020204030204" pitchFamily="34" charset="0"/>
                <a:cs typeface="Calibri" panose="020F0502020204030204" pitchFamily="34" charset="0"/>
              </a:rPr>
              <a:t>إِفْشَاءُ السِّرّ</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 (bocor </a:t>
            </a:r>
            <a:r>
              <a:rPr lang="en-ID" sz="2000" dirty="0" err="1">
                <a:solidFill>
                  <a:srgbClr val="00B050"/>
                </a:solidFill>
                <a:latin typeface="Calibri" panose="020F0502020204030204" pitchFamily="34" charset="0"/>
                <a:ea typeface="Calibri" panose="020F0502020204030204" pitchFamily="34" charset="0"/>
                <a:cs typeface="Calibri" panose="020F0502020204030204" pitchFamily="34" charset="0"/>
              </a:rPr>
              <a:t>rahasia</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a:t>
            </a:r>
          </a:p>
          <a:p>
            <a:pPr marL="285750" indent="-285750" algn="just">
              <a:lnSpc>
                <a:spcPts val="2100"/>
              </a:lnSpc>
              <a:spcBef>
                <a:spcPts val="600"/>
              </a:spcBef>
              <a:spcAft>
                <a:spcPts val="600"/>
              </a:spcAft>
              <a:buFont typeface="Arial" panose="020B0604020202020204" pitchFamily="34" charset="0"/>
              <a:buChar char="•"/>
            </a:pPr>
            <a:r>
              <a:rPr lang="en-ID" sz="2000" dirty="0" err="1">
                <a:solidFill>
                  <a:srgbClr val="00B050"/>
                </a:solidFill>
                <a:latin typeface="Calibri" panose="020F0502020204030204" pitchFamily="34" charset="0"/>
                <a:ea typeface="Calibri" panose="020F0502020204030204" pitchFamily="34" charset="0"/>
                <a:cs typeface="Calibri" panose="020F0502020204030204" pitchFamily="34" charset="0"/>
              </a:rPr>
              <a:t>Ghiibah</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 (</a:t>
            </a:r>
            <a:r>
              <a:rPr lang="ar-SA" sz="2000" dirty="0">
                <a:solidFill>
                  <a:srgbClr val="00B050"/>
                </a:solidFill>
                <a:latin typeface="Calibri" panose="020F0502020204030204" pitchFamily="34" charset="0"/>
                <a:ea typeface="Calibri" panose="020F0502020204030204" pitchFamily="34" charset="0"/>
                <a:cs typeface="Calibri" panose="020F0502020204030204" pitchFamily="34" charset="0"/>
              </a:rPr>
              <a:t>الغِيْبَة</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 (</a:t>
            </a:r>
            <a:r>
              <a:rPr lang="en-ID" sz="2000" dirty="0" err="1">
                <a:solidFill>
                  <a:srgbClr val="00B050"/>
                </a:solidFill>
                <a:latin typeface="Calibri" panose="020F0502020204030204" pitchFamily="34" charset="0"/>
                <a:ea typeface="Calibri" panose="020F0502020204030204" pitchFamily="34" charset="0"/>
                <a:cs typeface="Calibri" panose="020F0502020204030204" pitchFamily="34" charset="0"/>
              </a:rPr>
              <a:t>menggunjing</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a:t>
            </a:r>
          </a:p>
          <a:p>
            <a:pPr marL="285750" indent="-285750" algn="just">
              <a:lnSpc>
                <a:spcPts val="2100"/>
              </a:lnSpc>
              <a:spcBef>
                <a:spcPts val="600"/>
              </a:spcBef>
              <a:spcAft>
                <a:spcPts val="600"/>
              </a:spcAft>
              <a:buFont typeface="Arial" panose="020B0604020202020204" pitchFamily="34" charset="0"/>
              <a:buChar char="•"/>
            </a:pPr>
            <a:r>
              <a:rPr lang="en-ID" sz="2000" dirty="0" err="1">
                <a:solidFill>
                  <a:srgbClr val="00B050"/>
                </a:solidFill>
                <a:latin typeface="Calibri" panose="020F0502020204030204" pitchFamily="34" charset="0"/>
                <a:ea typeface="Calibri" panose="020F0502020204030204" pitchFamily="34" charset="0"/>
                <a:cs typeface="Calibri" panose="020F0502020204030204" pitchFamily="34" charset="0"/>
              </a:rPr>
              <a:t>Waqaahah</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a:t>
            </a:r>
            <a:r>
              <a:rPr lang="ar-SA" sz="2000" dirty="0">
                <a:solidFill>
                  <a:srgbClr val="00B050"/>
                </a:solidFill>
                <a:latin typeface="Calibri" panose="020F0502020204030204" pitchFamily="34" charset="0"/>
                <a:ea typeface="Calibri" panose="020F0502020204030204" pitchFamily="34" charset="0"/>
                <a:cs typeface="Calibri" panose="020F0502020204030204" pitchFamily="34" charset="0"/>
              </a:rPr>
              <a:t>الوَقَاحَة</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 (</a:t>
            </a:r>
            <a:r>
              <a:rPr lang="en-ID" sz="2000" dirty="0" err="1">
                <a:solidFill>
                  <a:srgbClr val="00B050"/>
                </a:solidFill>
                <a:latin typeface="Calibri" panose="020F0502020204030204" pitchFamily="34" charset="0"/>
                <a:ea typeface="Calibri" panose="020F0502020204030204" pitchFamily="34" charset="0"/>
                <a:cs typeface="Calibri" panose="020F0502020204030204" pitchFamily="34" charset="0"/>
              </a:rPr>
              <a:t>tidak</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 </a:t>
            </a:r>
            <a:r>
              <a:rPr lang="en-ID" sz="2000" dirty="0" err="1">
                <a:solidFill>
                  <a:srgbClr val="00B050"/>
                </a:solidFill>
                <a:latin typeface="Calibri" panose="020F0502020204030204" pitchFamily="34" charset="0"/>
                <a:ea typeface="Calibri" panose="020F0502020204030204" pitchFamily="34" charset="0"/>
                <a:cs typeface="Calibri" panose="020F0502020204030204" pitchFamily="34" charset="0"/>
              </a:rPr>
              <a:t>tahu</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 </a:t>
            </a:r>
            <a:r>
              <a:rPr lang="en-ID" sz="2000" dirty="0" err="1">
                <a:solidFill>
                  <a:srgbClr val="00B050"/>
                </a:solidFill>
                <a:latin typeface="Calibri" panose="020F0502020204030204" pitchFamily="34" charset="0"/>
                <a:ea typeface="Calibri" panose="020F0502020204030204" pitchFamily="34" charset="0"/>
                <a:cs typeface="Calibri" panose="020F0502020204030204" pitchFamily="34" charset="0"/>
              </a:rPr>
              <a:t>malu</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a:t>
            </a:r>
          </a:p>
          <a:p>
            <a:pPr marL="285750" indent="-285750" algn="just">
              <a:lnSpc>
                <a:spcPts val="2100"/>
              </a:lnSpc>
              <a:spcBef>
                <a:spcPts val="600"/>
              </a:spcBef>
              <a:spcAft>
                <a:spcPts val="600"/>
              </a:spcAft>
              <a:buFont typeface="Arial" panose="020B0604020202020204" pitchFamily="34" charset="0"/>
              <a:buChar char="•"/>
            </a:pPr>
            <a:r>
              <a:rPr lang="en-ID" sz="2000" dirty="0" err="1">
                <a:solidFill>
                  <a:srgbClr val="00B050"/>
                </a:solidFill>
                <a:latin typeface="Calibri" panose="020F0502020204030204" pitchFamily="34" charset="0"/>
                <a:ea typeface="Calibri" panose="020F0502020204030204" pitchFamily="34" charset="0"/>
                <a:cs typeface="Calibri" panose="020F0502020204030204" pitchFamily="34" charset="0"/>
              </a:rPr>
              <a:t>Karaahiyah</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 (</a:t>
            </a:r>
            <a:r>
              <a:rPr lang="ar-SA" sz="2000" dirty="0">
                <a:solidFill>
                  <a:srgbClr val="00B050"/>
                </a:solidFill>
                <a:latin typeface="Calibri" panose="020F0502020204030204" pitchFamily="34" charset="0"/>
                <a:ea typeface="Calibri" panose="020F0502020204030204" pitchFamily="34" charset="0"/>
                <a:cs typeface="Calibri" panose="020F0502020204030204" pitchFamily="34" charset="0"/>
              </a:rPr>
              <a:t>الكَرَاهِيَة</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 (</a:t>
            </a:r>
            <a:r>
              <a:rPr lang="en-ID" sz="2000" dirty="0" err="1">
                <a:solidFill>
                  <a:srgbClr val="00B050"/>
                </a:solidFill>
                <a:latin typeface="Calibri" panose="020F0502020204030204" pitchFamily="34" charset="0"/>
                <a:ea typeface="Calibri" panose="020F0502020204030204" pitchFamily="34" charset="0"/>
                <a:cs typeface="Calibri" panose="020F0502020204030204" pitchFamily="34" charset="0"/>
              </a:rPr>
              <a:t>kebencian</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a:t>
            </a:r>
          </a:p>
          <a:p>
            <a:pPr marL="285750" indent="-285750" algn="just">
              <a:lnSpc>
                <a:spcPts val="2100"/>
              </a:lnSpc>
              <a:spcBef>
                <a:spcPts val="600"/>
              </a:spcBef>
              <a:spcAft>
                <a:spcPts val="600"/>
              </a:spcAft>
              <a:buFont typeface="Arial" panose="020B0604020202020204" pitchFamily="34" charset="0"/>
              <a:buChar char="•"/>
            </a:pPr>
            <a:r>
              <a:rPr lang="en-ID" sz="2000" dirty="0" err="1">
                <a:solidFill>
                  <a:srgbClr val="00B050"/>
                </a:solidFill>
                <a:latin typeface="Calibri" panose="020F0502020204030204" pitchFamily="34" charset="0"/>
                <a:ea typeface="Calibri" panose="020F0502020204030204" pitchFamily="34" charset="0"/>
                <a:cs typeface="Calibri" panose="020F0502020204030204" pitchFamily="34" charset="0"/>
              </a:rPr>
              <a:t>Ghilzhah</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 (</a:t>
            </a:r>
            <a:r>
              <a:rPr lang="ar-SA" sz="2000" dirty="0">
                <a:solidFill>
                  <a:srgbClr val="00B050"/>
                </a:solidFill>
                <a:latin typeface="Calibri" panose="020F0502020204030204" pitchFamily="34" charset="0"/>
                <a:ea typeface="Calibri" panose="020F0502020204030204" pitchFamily="34" charset="0"/>
                <a:cs typeface="Calibri" panose="020F0502020204030204" pitchFamily="34" charset="0"/>
              </a:rPr>
              <a:t>الغِلْظَة</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   (</a:t>
            </a:r>
            <a:r>
              <a:rPr lang="en-ID" sz="2000" dirty="0" err="1">
                <a:solidFill>
                  <a:srgbClr val="00B050"/>
                </a:solidFill>
                <a:latin typeface="Calibri" panose="020F0502020204030204" pitchFamily="34" charset="0"/>
                <a:ea typeface="Calibri" panose="020F0502020204030204" pitchFamily="34" charset="0"/>
                <a:cs typeface="Calibri" panose="020F0502020204030204" pitchFamily="34" charset="0"/>
              </a:rPr>
              <a:t>kasar</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a:t>
            </a:r>
          </a:p>
          <a:p>
            <a:pPr marL="285750" indent="-285750" algn="just">
              <a:lnSpc>
                <a:spcPts val="2100"/>
              </a:lnSpc>
              <a:spcBef>
                <a:spcPts val="600"/>
              </a:spcBef>
              <a:spcAft>
                <a:spcPts val="600"/>
              </a:spcAft>
              <a:buFont typeface="Arial" panose="020B0604020202020204" pitchFamily="34" charset="0"/>
              <a:buChar char="•"/>
            </a:pPr>
            <a:r>
              <a:rPr lang="en-ID" sz="2000" dirty="0" err="1">
                <a:solidFill>
                  <a:srgbClr val="00B050"/>
                </a:solidFill>
                <a:latin typeface="Calibri" panose="020F0502020204030204" pitchFamily="34" charset="0"/>
                <a:ea typeface="Calibri" panose="020F0502020204030204" pitchFamily="34" charset="0"/>
                <a:cs typeface="Calibri" panose="020F0502020204030204" pitchFamily="34" charset="0"/>
              </a:rPr>
              <a:t>Bakhil</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 (</a:t>
            </a:r>
            <a:r>
              <a:rPr lang="ar-SA" sz="2000" dirty="0">
                <a:solidFill>
                  <a:srgbClr val="00B050"/>
                </a:solidFill>
                <a:latin typeface="Calibri" panose="020F0502020204030204" pitchFamily="34" charset="0"/>
                <a:ea typeface="Calibri" panose="020F0502020204030204" pitchFamily="34" charset="0"/>
                <a:cs typeface="Calibri" panose="020F0502020204030204" pitchFamily="34" charset="0"/>
              </a:rPr>
              <a:t>البُخْل</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 (</a:t>
            </a:r>
            <a:r>
              <a:rPr lang="en-ID" sz="2000" dirty="0" err="1">
                <a:solidFill>
                  <a:srgbClr val="00B050"/>
                </a:solidFill>
                <a:latin typeface="Calibri" panose="020F0502020204030204" pitchFamily="34" charset="0"/>
                <a:ea typeface="Calibri" panose="020F0502020204030204" pitchFamily="34" charset="0"/>
                <a:cs typeface="Calibri" panose="020F0502020204030204" pitchFamily="34" charset="0"/>
              </a:rPr>
              <a:t>bakhil</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a:t>
            </a:r>
          </a:p>
          <a:p>
            <a:pPr marL="285750" indent="-285750" algn="just">
              <a:lnSpc>
                <a:spcPts val="2100"/>
              </a:lnSpc>
              <a:spcBef>
                <a:spcPts val="600"/>
              </a:spcBef>
              <a:spcAft>
                <a:spcPts val="600"/>
              </a:spcAft>
              <a:buFont typeface="Arial" panose="020B0604020202020204" pitchFamily="34" charset="0"/>
              <a:buChar char="•"/>
            </a:pPr>
            <a:r>
              <a:rPr lang="en-ID" sz="2000" dirty="0" err="1">
                <a:solidFill>
                  <a:srgbClr val="00B050"/>
                </a:solidFill>
                <a:latin typeface="Calibri" panose="020F0502020204030204" pitchFamily="34" charset="0"/>
                <a:ea typeface="Calibri" panose="020F0502020204030204" pitchFamily="34" charset="0"/>
                <a:cs typeface="Calibri" panose="020F0502020204030204" pitchFamily="34" charset="0"/>
              </a:rPr>
              <a:t>Ghiibah</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 (</a:t>
            </a:r>
            <a:r>
              <a:rPr lang="ar-SA" sz="2000" dirty="0">
                <a:solidFill>
                  <a:srgbClr val="00B050"/>
                </a:solidFill>
                <a:latin typeface="Calibri" panose="020F0502020204030204" pitchFamily="34" charset="0"/>
                <a:ea typeface="Calibri" panose="020F0502020204030204" pitchFamily="34" charset="0"/>
                <a:cs typeface="Calibri" panose="020F0502020204030204" pitchFamily="34" charset="0"/>
              </a:rPr>
              <a:t>الغِيْبَة</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 (</a:t>
            </a:r>
            <a:r>
              <a:rPr lang="en-ID" sz="2000" dirty="0" err="1">
                <a:solidFill>
                  <a:srgbClr val="00B050"/>
                </a:solidFill>
                <a:latin typeface="Calibri" panose="020F0502020204030204" pitchFamily="34" charset="0"/>
                <a:ea typeface="Calibri" panose="020F0502020204030204" pitchFamily="34" charset="0"/>
                <a:cs typeface="Calibri" panose="020F0502020204030204" pitchFamily="34" charset="0"/>
              </a:rPr>
              <a:t>menggunjing</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a:t>
            </a:r>
          </a:p>
          <a:p>
            <a:pPr marL="285750" indent="-285750" algn="just">
              <a:lnSpc>
                <a:spcPts val="2100"/>
              </a:lnSpc>
              <a:spcBef>
                <a:spcPts val="600"/>
              </a:spcBef>
              <a:spcAft>
                <a:spcPts val="600"/>
              </a:spcAft>
              <a:buFont typeface="Arial" panose="020B0604020202020204" pitchFamily="34" charset="0"/>
              <a:buChar char="•"/>
            </a:pPr>
            <a:r>
              <a:rPr lang="en-ID" sz="2000" dirty="0" err="1">
                <a:solidFill>
                  <a:srgbClr val="00B050"/>
                </a:solidFill>
                <a:latin typeface="Calibri" panose="020F0502020204030204" pitchFamily="34" charset="0"/>
                <a:ea typeface="Calibri" panose="020F0502020204030204" pitchFamily="34" charset="0"/>
                <a:cs typeface="Calibri" panose="020F0502020204030204" pitchFamily="34" charset="0"/>
              </a:rPr>
              <a:t>Fahsy</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 (</a:t>
            </a:r>
            <a:r>
              <a:rPr lang="ar-SA" sz="2000" dirty="0">
                <a:solidFill>
                  <a:srgbClr val="00B050"/>
                </a:solidFill>
                <a:latin typeface="Calibri" panose="020F0502020204030204" pitchFamily="34" charset="0"/>
                <a:ea typeface="Calibri" panose="020F0502020204030204" pitchFamily="34" charset="0"/>
                <a:cs typeface="Calibri" panose="020F0502020204030204" pitchFamily="34" charset="0"/>
              </a:rPr>
              <a:t>الفَحْش</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 (</a:t>
            </a:r>
            <a:r>
              <a:rPr lang="en-ID" sz="2000" dirty="0" err="1">
                <a:solidFill>
                  <a:srgbClr val="00B050"/>
                </a:solidFill>
                <a:latin typeface="Calibri" panose="020F0502020204030204" pitchFamily="34" charset="0"/>
                <a:ea typeface="Calibri" panose="020F0502020204030204" pitchFamily="34" charset="0"/>
                <a:cs typeface="Calibri" panose="020F0502020204030204" pitchFamily="34" charset="0"/>
              </a:rPr>
              <a:t>keji</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a:t>
            </a:r>
          </a:p>
          <a:p>
            <a:pPr marL="285750" indent="-285750" algn="just">
              <a:lnSpc>
                <a:spcPts val="2100"/>
              </a:lnSpc>
              <a:spcBef>
                <a:spcPts val="600"/>
              </a:spcBef>
              <a:spcAft>
                <a:spcPts val="600"/>
              </a:spcAft>
              <a:buFont typeface="Arial" panose="020B0604020202020204" pitchFamily="34" charset="0"/>
              <a:buChar char="•"/>
            </a:pPr>
            <a:r>
              <a:rPr lang="en-ID" sz="2000" dirty="0" err="1">
                <a:solidFill>
                  <a:srgbClr val="00B050"/>
                </a:solidFill>
                <a:latin typeface="Calibri" panose="020F0502020204030204" pitchFamily="34" charset="0"/>
                <a:ea typeface="Calibri" panose="020F0502020204030204" pitchFamily="34" charset="0"/>
                <a:cs typeface="Calibri" panose="020F0502020204030204" pitchFamily="34" charset="0"/>
              </a:rPr>
              <a:t>Khiaanah</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 (</a:t>
            </a:r>
            <a:r>
              <a:rPr lang="ar-SA" sz="2000" dirty="0">
                <a:solidFill>
                  <a:srgbClr val="00B050"/>
                </a:solidFill>
                <a:latin typeface="Calibri" panose="020F0502020204030204" pitchFamily="34" charset="0"/>
                <a:ea typeface="Calibri" panose="020F0502020204030204" pitchFamily="34" charset="0"/>
                <a:cs typeface="Calibri" panose="020F0502020204030204" pitchFamily="34" charset="0"/>
              </a:rPr>
              <a:t>الخِيَانَة</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 (</a:t>
            </a:r>
            <a:r>
              <a:rPr lang="en-ID" sz="2000" dirty="0" err="1">
                <a:solidFill>
                  <a:srgbClr val="00B050"/>
                </a:solidFill>
                <a:latin typeface="Calibri" panose="020F0502020204030204" pitchFamily="34" charset="0"/>
                <a:ea typeface="Calibri" panose="020F0502020204030204" pitchFamily="34" charset="0"/>
                <a:cs typeface="Calibri" panose="020F0502020204030204" pitchFamily="34" charset="0"/>
              </a:rPr>
              <a:t>penghianatan</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a:t>
            </a:r>
          </a:p>
          <a:p>
            <a:pPr marL="285750" indent="-285750" algn="just">
              <a:lnSpc>
                <a:spcPts val="2100"/>
              </a:lnSpc>
              <a:spcBef>
                <a:spcPts val="600"/>
              </a:spcBef>
              <a:spcAft>
                <a:spcPts val="600"/>
              </a:spcAft>
              <a:buFont typeface="Arial" panose="020B0604020202020204" pitchFamily="34" charset="0"/>
              <a:buChar char="•"/>
            </a:pP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a:t>
            </a:r>
            <a:r>
              <a:rPr lang="en-ID" sz="2000" dirty="0" err="1">
                <a:solidFill>
                  <a:srgbClr val="00B050"/>
                </a:solidFill>
                <a:latin typeface="Calibri" panose="020F0502020204030204" pitchFamily="34" charset="0"/>
                <a:ea typeface="Calibri" panose="020F0502020204030204" pitchFamily="34" charset="0"/>
                <a:cs typeface="Calibri" panose="020F0502020204030204" pitchFamily="34" charset="0"/>
              </a:rPr>
              <a:t>ajalah</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 (</a:t>
            </a:r>
            <a:r>
              <a:rPr lang="ar-SA" sz="2000" dirty="0">
                <a:solidFill>
                  <a:srgbClr val="00B050"/>
                </a:solidFill>
                <a:latin typeface="Calibri" panose="020F0502020204030204" pitchFamily="34" charset="0"/>
                <a:ea typeface="Calibri" panose="020F0502020204030204" pitchFamily="34" charset="0"/>
                <a:cs typeface="Calibri" panose="020F0502020204030204" pitchFamily="34" charset="0"/>
              </a:rPr>
              <a:t>العَجَلَة</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 (</a:t>
            </a:r>
            <a:r>
              <a:rPr lang="en-ID" sz="2000" dirty="0" err="1">
                <a:solidFill>
                  <a:srgbClr val="00B050"/>
                </a:solidFill>
                <a:latin typeface="Calibri" panose="020F0502020204030204" pitchFamily="34" charset="0"/>
                <a:ea typeface="Calibri" panose="020F0502020204030204" pitchFamily="34" charset="0"/>
                <a:cs typeface="Calibri" panose="020F0502020204030204" pitchFamily="34" charset="0"/>
              </a:rPr>
              <a:t>tergesa-gesa</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a:t>
            </a:r>
          </a:p>
          <a:p>
            <a:pPr marL="285750" indent="-285750" algn="just">
              <a:lnSpc>
                <a:spcPts val="2100"/>
              </a:lnSpc>
              <a:spcBef>
                <a:spcPts val="600"/>
              </a:spcBef>
              <a:spcAft>
                <a:spcPts val="600"/>
              </a:spcAft>
              <a:buFont typeface="Arial" panose="020B0604020202020204" pitchFamily="34" charset="0"/>
              <a:buChar char="•"/>
            </a:pPr>
            <a:r>
              <a:rPr lang="en-ID" sz="2000" dirty="0" err="1">
                <a:solidFill>
                  <a:srgbClr val="00B050"/>
                </a:solidFill>
                <a:latin typeface="Calibri" panose="020F0502020204030204" pitchFamily="34" charset="0"/>
                <a:ea typeface="Calibri" panose="020F0502020204030204" pitchFamily="34" charset="0"/>
                <a:cs typeface="Calibri" panose="020F0502020204030204" pitchFamily="34" charset="0"/>
              </a:rPr>
              <a:t>Ghadhab</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 (</a:t>
            </a:r>
            <a:r>
              <a:rPr lang="ar-SA" sz="2000" dirty="0">
                <a:solidFill>
                  <a:srgbClr val="00B050"/>
                </a:solidFill>
                <a:latin typeface="Calibri" panose="020F0502020204030204" pitchFamily="34" charset="0"/>
                <a:ea typeface="Calibri" panose="020F0502020204030204" pitchFamily="34" charset="0"/>
                <a:cs typeface="Calibri" panose="020F0502020204030204" pitchFamily="34" charset="0"/>
              </a:rPr>
              <a:t>الغَضَب</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 (</a:t>
            </a:r>
            <a:r>
              <a:rPr lang="en-ID" sz="2000" dirty="0" err="1">
                <a:solidFill>
                  <a:srgbClr val="00B050"/>
                </a:solidFill>
                <a:latin typeface="Calibri" panose="020F0502020204030204" pitchFamily="34" charset="0"/>
                <a:ea typeface="Calibri" panose="020F0502020204030204" pitchFamily="34" charset="0"/>
                <a:cs typeface="Calibri" panose="020F0502020204030204" pitchFamily="34" charset="0"/>
              </a:rPr>
              <a:t>marah</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a:t>
            </a:r>
          </a:p>
          <a:p>
            <a:pPr marL="285750" indent="-285750" algn="just">
              <a:lnSpc>
                <a:spcPts val="2100"/>
              </a:lnSpc>
              <a:spcBef>
                <a:spcPts val="600"/>
              </a:spcBef>
              <a:spcAft>
                <a:spcPts val="600"/>
              </a:spcAft>
              <a:buFont typeface="Arial" panose="020B0604020202020204" pitchFamily="34" charset="0"/>
              <a:buChar char="•"/>
            </a:pPr>
            <a:r>
              <a:rPr lang="en-ID" sz="2000" dirty="0" err="1">
                <a:solidFill>
                  <a:srgbClr val="00B050"/>
                </a:solidFill>
                <a:latin typeface="Calibri" panose="020F0502020204030204" pitchFamily="34" charset="0"/>
                <a:ea typeface="Calibri" panose="020F0502020204030204" pitchFamily="34" charset="0"/>
                <a:cs typeface="Calibri" panose="020F0502020204030204" pitchFamily="34" charset="0"/>
              </a:rPr>
              <a:t>Jaza</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 (</a:t>
            </a:r>
            <a:r>
              <a:rPr lang="ar-SA" sz="2000" dirty="0">
                <a:solidFill>
                  <a:srgbClr val="00B050"/>
                </a:solidFill>
                <a:latin typeface="Calibri" panose="020F0502020204030204" pitchFamily="34" charset="0"/>
                <a:ea typeface="Calibri" panose="020F0502020204030204" pitchFamily="34" charset="0"/>
                <a:cs typeface="Calibri" panose="020F0502020204030204" pitchFamily="34" charset="0"/>
              </a:rPr>
              <a:t>الجَزَع</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 (</a:t>
            </a:r>
            <a:r>
              <a:rPr lang="en-ID" sz="2000" dirty="0" err="1">
                <a:solidFill>
                  <a:srgbClr val="00B050"/>
                </a:solidFill>
                <a:latin typeface="Calibri" panose="020F0502020204030204" pitchFamily="34" charset="0"/>
                <a:ea typeface="Calibri" panose="020F0502020204030204" pitchFamily="34" charset="0"/>
                <a:cs typeface="Calibri" panose="020F0502020204030204" pitchFamily="34" charset="0"/>
              </a:rPr>
              <a:t>tidak</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 </a:t>
            </a:r>
            <a:r>
              <a:rPr lang="en-ID" sz="2000" dirty="0" err="1">
                <a:solidFill>
                  <a:srgbClr val="00B050"/>
                </a:solidFill>
                <a:latin typeface="Calibri" panose="020F0502020204030204" pitchFamily="34" charset="0"/>
                <a:ea typeface="Calibri" panose="020F0502020204030204" pitchFamily="34" charset="0"/>
                <a:cs typeface="Calibri" panose="020F0502020204030204" pitchFamily="34" charset="0"/>
              </a:rPr>
              <a:t>sabar</a:t>
            </a:r>
            <a:r>
              <a:rPr lang="en-ID" sz="2000" dirty="0">
                <a:solidFill>
                  <a:srgbClr val="00B050"/>
                </a:solidFill>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808542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326EA-78AF-42A3-A40E-B12E0626EBEE}"/>
              </a:ext>
            </a:extLst>
          </p:cNvPr>
          <p:cNvSpPr>
            <a:spLocks noGrp="1"/>
          </p:cNvSpPr>
          <p:nvPr>
            <p:ph type="title"/>
          </p:nvPr>
        </p:nvSpPr>
        <p:spPr>
          <a:xfrm>
            <a:off x="457200" y="2708920"/>
            <a:ext cx="8229600" cy="1143000"/>
          </a:xfrm>
        </p:spPr>
        <p:txBody>
          <a:bodyPr>
            <a:noAutofit/>
          </a:bodyPr>
          <a:lstStyle/>
          <a:p>
            <a:r>
              <a:rPr lang="en-US" sz="3600" dirty="0" err="1"/>
              <a:t>Jenis</a:t>
            </a:r>
            <a:r>
              <a:rPr lang="en-US" sz="3600" dirty="0"/>
              <a:t> </a:t>
            </a:r>
            <a:r>
              <a:rPr lang="en-US" sz="3600" dirty="0" err="1"/>
              <a:t>kegiatan</a:t>
            </a:r>
            <a:r>
              <a:rPr lang="en-US" sz="3600" dirty="0"/>
              <a:t> </a:t>
            </a:r>
            <a:r>
              <a:rPr lang="en-US" sz="3600" dirty="0" err="1"/>
              <a:t>atau</a:t>
            </a:r>
            <a:r>
              <a:rPr lang="en-US" sz="3600" dirty="0"/>
              <a:t> </a:t>
            </a:r>
            <a:r>
              <a:rPr lang="en-US" sz="3600" dirty="0" err="1"/>
              <a:t>peristiwa</a:t>
            </a:r>
            <a:r>
              <a:rPr lang="en-US" sz="3600" dirty="0"/>
              <a:t> yang </a:t>
            </a:r>
            <a:r>
              <a:rPr lang="en-US" sz="3600" dirty="0" err="1"/>
              <a:t>dimanfaatkan</a:t>
            </a:r>
            <a:r>
              <a:rPr lang="en-US" sz="3600" dirty="0"/>
              <a:t> </a:t>
            </a:r>
            <a:r>
              <a:rPr lang="en-US" sz="3600" dirty="0" err="1"/>
              <a:t>untuk</a:t>
            </a:r>
            <a:r>
              <a:rPr lang="en-US" sz="3600" dirty="0"/>
              <a:t> </a:t>
            </a:r>
            <a:r>
              <a:rPr lang="en-US" sz="3600" dirty="0" err="1"/>
              <a:t>pembelajaran</a:t>
            </a:r>
            <a:r>
              <a:rPr lang="en-US" sz="3600" dirty="0"/>
              <a:t> </a:t>
            </a:r>
            <a:r>
              <a:rPr lang="en-US" sz="3600" dirty="0" err="1"/>
              <a:t>adalah</a:t>
            </a:r>
            <a:r>
              <a:rPr lang="en-US" sz="3600" dirty="0"/>
              <a:t> yang </a:t>
            </a:r>
            <a:r>
              <a:rPr lang="en-US" sz="3600" dirty="0" err="1"/>
              <a:t>terkait</a:t>
            </a:r>
            <a:r>
              <a:rPr lang="en-US" sz="3600" dirty="0"/>
              <a:t> </a:t>
            </a:r>
            <a:r>
              <a:rPr lang="en-US" sz="3600" dirty="0" err="1"/>
              <a:t>dengan</a:t>
            </a:r>
            <a:r>
              <a:rPr lang="en-US" sz="3600" dirty="0"/>
              <a:t> </a:t>
            </a:r>
            <a:r>
              <a:rPr lang="en-US" sz="3600" dirty="0" err="1"/>
              <a:t>penuntasan</a:t>
            </a:r>
            <a:r>
              <a:rPr lang="en-US" sz="3600" dirty="0"/>
              <a:t>:</a:t>
            </a:r>
            <a:br>
              <a:rPr lang="en-US" sz="3600" dirty="0"/>
            </a:br>
            <a:br>
              <a:rPr lang="en-US" sz="3600" dirty="0"/>
            </a:br>
            <a:r>
              <a:rPr lang="en-US" sz="3600" b="1" dirty="0" err="1"/>
              <a:t>egosentris</a:t>
            </a:r>
            <a:r>
              <a:rPr lang="en-US" sz="3600" b="1" dirty="0"/>
              <a:t>, </a:t>
            </a:r>
            <a:r>
              <a:rPr lang="en-US" sz="3600" b="1" dirty="0" err="1"/>
              <a:t>imajinasi</a:t>
            </a:r>
            <a:r>
              <a:rPr lang="en-US" sz="3600" b="1" dirty="0"/>
              <a:t>, dan </a:t>
            </a:r>
            <a:r>
              <a:rPr lang="en-US" sz="3600" b="1" dirty="0" err="1"/>
              <a:t>sensitifitas</a:t>
            </a:r>
            <a:r>
              <a:rPr lang="en-US" sz="3600" b="1" dirty="0"/>
              <a:t> </a:t>
            </a:r>
            <a:r>
              <a:rPr lang="en-US" sz="3600" dirty="0" err="1"/>
              <a:t>santri</a:t>
            </a:r>
            <a:r>
              <a:rPr lang="en-US" sz="3600" dirty="0"/>
              <a:t>.</a:t>
            </a:r>
            <a:endParaRPr lang="en-ID" sz="3600" dirty="0"/>
          </a:p>
        </p:txBody>
      </p:sp>
    </p:spTree>
    <p:extLst>
      <p:ext uri="{BB962C8B-B14F-4D97-AF65-F5344CB8AC3E}">
        <p14:creationId xmlns:p14="http://schemas.microsoft.com/office/powerpoint/2010/main" val="42113809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326EA-78AF-42A3-A40E-B12E0626EBEE}"/>
              </a:ext>
            </a:extLst>
          </p:cNvPr>
          <p:cNvSpPr>
            <a:spLocks noGrp="1"/>
          </p:cNvSpPr>
          <p:nvPr>
            <p:ph type="title"/>
          </p:nvPr>
        </p:nvSpPr>
        <p:spPr>
          <a:xfrm>
            <a:off x="457200" y="2708920"/>
            <a:ext cx="8229600" cy="1143000"/>
          </a:xfrm>
        </p:spPr>
        <p:txBody>
          <a:bodyPr>
            <a:noAutofit/>
          </a:bodyPr>
          <a:lstStyle/>
          <a:p>
            <a:pPr algn="l"/>
            <a:r>
              <a:rPr lang="en-US" sz="3200" dirty="0" err="1"/>
              <a:t>Fase</a:t>
            </a:r>
            <a:r>
              <a:rPr lang="en-US" sz="3200" dirty="0"/>
              <a:t> </a:t>
            </a:r>
            <a:r>
              <a:rPr lang="en-US" sz="3200" dirty="0" err="1"/>
              <a:t>thufulah</a:t>
            </a:r>
            <a:r>
              <a:rPr lang="en-US" sz="3200" dirty="0"/>
              <a:t> </a:t>
            </a:r>
            <a:r>
              <a:rPr lang="en-US" sz="3200" dirty="0" err="1"/>
              <a:t>adalah</a:t>
            </a:r>
            <a:r>
              <a:rPr lang="en-US" sz="3200" dirty="0"/>
              <a:t> </a:t>
            </a:r>
            <a:r>
              <a:rPr lang="en-US" sz="3200" dirty="0" err="1"/>
              <a:t>fase</a:t>
            </a:r>
            <a:r>
              <a:rPr lang="en-US" sz="3200" dirty="0"/>
              <a:t> </a:t>
            </a:r>
            <a:r>
              <a:rPr lang="en-US" sz="3200" dirty="0" err="1"/>
              <a:t>sebelum</a:t>
            </a:r>
            <a:r>
              <a:rPr lang="en-US" sz="3200" dirty="0"/>
              <a:t> </a:t>
            </a:r>
            <a:r>
              <a:rPr lang="en-US" sz="3200" dirty="0" err="1"/>
              <a:t>tamyiz</a:t>
            </a:r>
            <a:r>
              <a:rPr lang="en-US" sz="3200" dirty="0"/>
              <a:t>, </a:t>
            </a:r>
            <a:r>
              <a:rPr lang="en-US" sz="3200" dirty="0" err="1"/>
              <a:t>yaitu</a:t>
            </a:r>
            <a:r>
              <a:rPr lang="en-US" sz="3200" dirty="0"/>
              <a:t> </a:t>
            </a:r>
            <a:r>
              <a:rPr lang="en-US" sz="3200" dirty="0" err="1"/>
              <a:t>santri</a:t>
            </a:r>
            <a:r>
              <a:rPr lang="en-US" sz="3200" dirty="0"/>
              <a:t> </a:t>
            </a:r>
            <a:r>
              <a:rPr lang="en-US" sz="3200" dirty="0" err="1"/>
              <a:t>belum</a:t>
            </a:r>
            <a:r>
              <a:rPr lang="en-US" sz="3200" dirty="0"/>
              <a:t> </a:t>
            </a:r>
            <a:r>
              <a:rPr lang="en-US" sz="3200" dirty="0" err="1"/>
              <a:t>mempu</a:t>
            </a:r>
            <a:r>
              <a:rPr lang="en-US" sz="3200" dirty="0"/>
              <a:t> </a:t>
            </a:r>
            <a:r>
              <a:rPr lang="en-US" sz="3200" dirty="0" err="1"/>
              <a:t>membedakan</a:t>
            </a:r>
            <a:r>
              <a:rPr lang="en-US" sz="3200" dirty="0"/>
              <a:t> yang </a:t>
            </a:r>
            <a:r>
              <a:rPr lang="en-US" sz="3200" dirty="0" err="1"/>
              <a:t>benar</a:t>
            </a:r>
            <a:r>
              <a:rPr lang="en-US" sz="3200" dirty="0"/>
              <a:t> dan yang salah.</a:t>
            </a:r>
            <a:br>
              <a:rPr lang="en-US" sz="3200" dirty="0"/>
            </a:br>
            <a:r>
              <a:rPr lang="en-US" sz="3200" dirty="0"/>
              <a:t>Oleh </a:t>
            </a:r>
            <a:r>
              <a:rPr lang="en-US" sz="3200" dirty="0" err="1"/>
              <a:t>karena</a:t>
            </a:r>
            <a:r>
              <a:rPr lang="en-US" sz="3200" dirty="0"/>
              <a:t> </a:t>
            </a:r>
            <a:r>
              <a:rPr lang="en-US" sz="3200" dirty="0" err="1"/>
              <a:t>itu</a:t>
            </a:r>
            <a:r>
              <a:rPr lang="en-US" sz="3200" dirty="0"/>
              <a:t> </a:t>
            </a:r>
            <a:r>
              <a:rPr lang="en-US" sz="3200" dirty="0" err="1"/>
              <a:t>nasehat</a:t>
            </a:r>
            <a:r>
              <a:rPr lang="en-US" sz="3200" dirty="0"/>
              <a:t> </a:t>
            </a:r>
            <a:r>
              <a:rPr lang="en-US" sz="3200" dirty="0" err="1"/>
              <a:t>lisan</a:t>
            </a:r>
            <a:r>
              <a:rPr lang="en-US" sz="3200" dirty="0"/>
              <a:t>, </a:t>
            </a:r>
            <a:r>
              <a:rPr lang="en-US" sz="3200" dirty="0" err="1"/>
              <a:t>teguran</a:t>
            </a:r>
            <a:r>
              <a:rPr lang="en-US" sz="3200" dirty="0"/>
              <a:t>, </a:t>
            </a:r>
            <a:r>
              <a:rPr lang="en-US" sz="3200" dirty="0" err="1"/>
              <a:t>atau</a:t>
            </a:r>
            <a:r>
              <a:rPr lang="en-US" sz="3200" dirty="0"/>
              <a:t> </a:t>
            </a:r>
            <a:r>
              <a:rPr lang="en-US" sz="3200" dirty="0" err="1"/>
              <a:t>hukuman</a:t>
            </a:r>
            <a:r>
              <a:rPr lang="en-US" sz="3200" dirty="0"/>
              <a:t>, </a:t>
            </a:r>
            <a:r>
              <a:rPr lang="en-US" sz="3200" dirty="0" err="1"/>
              <a:t>tidak</a:t>
            </a:r>
            <a:r>
              <a:rPr lang="en-US" sz="3200" dirty="0"/>
              <a:t> </a:t>
            </a:r>
            <a:r>
              <a:rPr lang="en-US" sz="3200" dirty="0" err="1"/>
              <a:t>efektif</a:t>
            </a:r>
            <a:r>
              <a:rPr lang="en-US" sz="3200" dirty="0"/>
              <a:t> </a:t>
            </a:r>
            <a:r>
              <a:rPr lang="en-US" sz="3200" dirty="0" err="1"/>
              <a:t>untuk</a:t>
            </a:r>
            <a:r>
              <a:rPr lang="en-US" sz="3200" dirty="0"/>
              <a:t> Pendidikan </a:t>
            </a:r>
            <a:r>
              <a:rPr lang="en-US" sz="3200" dirty="0" err="1"/>
              <a:t>santri</a:t>
            </a:r>
            <a:r>
              <a:rPr lang="en-US" sz="3200" dirty="0"/>
              <a:t> pada </a:t>
            </a:r>
            <a:r>
              <a:rPr lang="en-US" sz="3200" dirty="0" err="1"/>
              <a:t>fase</a:t>
            </a:r>
            <a:r>
              <a:rPr lang="en-US" sz="3200" dirty="0"/>
              <a:t> </a:t>
            </a:r>
            <a:r>
              <a:rPr lang="en-US" sz="3200" dirty="0" err="1"/>
              <a:t>ini</a:t>
            </a:r>
            <a:r>
              <a:rPr lang="en-US" sz="3200" dirty="0"/>
              <a:t>.</a:t>
            </a:r>
            <a:endParaRPr lang="en-ID" sz="3200" dirty="0"/>
          </a:p>
        </p:txBody>
      </p:sp>
    </p:spTree>
    <p:extLst>
      <p:ext uri="{BB962C8B-B14F-4D97-AF65-F5344CB8AC3E}">
        <p14:creationId xmlns:p14="http://schemas.microsoft.com/office/powerpoint/2010/main" val="25789099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EE633-D0B7-4E2C-85B6-71DDE419E474}"/>
              </a:ext>
            </a:extLst>
          </p:cNvPr>
          <p:cNvSpPr>
            <a:spLocks noGrp="1"/>
          </p:cNvSpPr>
          <p:nvPr>
            <p:ph type="title"/>
          </p:nvPr>
        </p:nvSpPr>
        <p:spPr>
          <a:xfrm>
            <a:off x="323528" y="2492896"/>
            <a:ext cx="8229600" cy="1143000"/>
          </a:xfrm>
        </p:spPr>
        <p:txBody>
          <a:bodyPr>
            <a:normAutofit fontScale="90000"/>
          </a:bodyPr>
          <a:lstStyle/>
          <a:p>
            <a:pPr algn="l"/>
            <a:r>
              <a:rPr lang="en-US" dirty="0" err="1"/>
              <a:t>Jika</a:t>
            </a:r>
            <a:r>
              <a:rPr lang="en-US" dirty="0"/>
              <a:t> </a:t>
            </a:r>
            <a:r>
              <a:rPr lang="en-US" dirty="0" err="1"/>
              <a:t>santri</a:t>
            </a:r>
            <a:r>
              <a:rPr lang="en-US" dirty="0"/>
              <a:t> </a:t>
            </a:r>
            <a:r>
              <a:rPr lang="en-US" dirty="0" err="1"/>
              <a:t>melanggar</a:t>
            </a:r>
            <a:r>
              <a:rPr lang="en-US" dirty="0"/>
              <a:t>, </a:t>
            </a:r>
            <a:r>
              <a:rPr lang="en-US" dirty="0" err="1"/>
              <a:t>maka</a:t>
            </a:r>
            <a:r>
              <a:rPr lang="en-US" dirty="0"/>
              <a:t> </a:t>
            </a:r>
            <a:r>
              <a:rPr lang="en-US" dirty="0" err="1"/>
              <a:t>belum</a:t>
            </a:r>
            <a:r>
              <a:rPr lang="en-US" dirty="0"/>
              <a:t> </a:t>
            </a:r>
            <a:r>
              <a:rPr lang="en-US" dirty="0" err="1"/>
              <a:t>ada</a:t>
            </a:r>
            <a:r>
              <a:rPr lang="en-US" dirty="0"/>
              <a:t> </a:t>
            </a:r>
            <a:r>
              <a:rPr lang="en-US" dirty="0" err="1"/>
              <a:t>teguran</a:t>
            </a:r>
            <a:r>
              <a:rPr lang="en-US" dirty="0"/>
              <a:t>, dan </a:t>
            </a:r>
            <a:r>
              <a:rPr lang="en-US" dirty="0" err="1"/>
              <a:t>jaga</a:t>
            </a:r>
            <a:r>
              <a:rPr lang="en-US" dirty="0"/>
              <a:t> </a:t>
            </a:r>
            <a:r>
              <a:rPr lang="en-US" dirty="0" err="1"/>
              <a:t>kegiatan</a:t>
            </a:r>
            <a:r>
              <a:rPr lang="en-US" dirty="0"/>
              <a:t> </a:t>
            </a:r>
            <a:r>
              <a:rPr lang="en-US" dirty="0" err="1"/>
              <a:t>anak</a:t>
            </a:r>
            <a:r>
              <a:rPr lang="en-US" dirty="0"/>
              <a:t> </a:t>
            </a:r>
            <a:r>
              <a:rPr lang="en-US" dirty="0" err="1"/>
              <a:t>selama</a:t>
            </a:r>
            <a:r>
              <a:rPr lang="en-US" dirty="0"/>
              <a:t>:</a:t>
            </a:r>
            <a:br>
              <a:rPr lang="en-US" dirty="0"/>
            </a:br>
            <a:r>
              <a:rPr lang="en-US" dirty="0"/>
              <a:t>- </a:t>
            </a:r>
            <a:r>
              <a:rPr lang="en-US" dirty="0" err="1"/>
              <a:t>Tidak</a:t>
            </a:r>
            <a:r>
              <a:rPr lang="en-US" dirty="0"/>
              <a:t> </a:t>
            </a:r>
            <a:r>
              <a:rPr lang="en-US" dirty="0" err="1"/>
              <a:t>membahayakan</a:t>
            </a:r>
            <a:r>
              <a:rPr lang="en-US" dirty="0"/>
              <a:t> </a:t>
            </a:r>
            <a:r>
              <a:rPr lang="en-US" dirty="0" err="1"/>
              <a:t>diri</a:t>
            </a:r>
            <a:r>
              <a:rPr lang="en-US" dirty="0"/>
              <a:t> </a:t>
            </a:r>
            <a:r>
              <a:rPr lang="en-US" dirty="0" err="1"/>
              <a:t>santri</a:t>
            </a:r>
            <a:br>
              <a:rPr lang="en-US" dirty="0"/>
            </a:br>
            <a:r>
              <a:rPr lang="en-US" dirty="0"/>
              <a:t>- </a:t>
            </a:r>
            <a:r>
              <a:rPr lang="en-US" dirty="0" err="1"/>
              <a:t>Tidak</a:t>
            </a:r>
            <a:r>
              <a:rPr lang="en-US" dirty="0"/>
              <a:t> </a:t>
            </a:r>
            <a:r>
              <a:rPr lang="en-US" dirty="0" err="1"/>
              <a:t>membahayakan</a:t>
            </a:r>
            <a:r>
              <a:rPr lang="en-US" dirty="0"/>
              <a:t> orang lain</a:t>
            </a:r>
            <a:br>
              <a:rPr lang="en-US" dirty="0"/>
            </a:br>
            <a:r>
              <a:rPr lang="en-US" dirty="0"/>
              <a:t>- </a:t>
            </a:r>
            <a:r>
              <a:rPr lang="en-US" dirty="0" err="1"/>
              <a:t>Tidak</a:t>
            </a:r>
            <a:r>
              <a:rPr lang="en-US" dirty="0"/>
              <a:t> </a:t>
            </a:r>
            <a:r>
              <a:rPr lang="en-US" dirty="0" err="1"/>
              <a:t>melanggar</a:t>
            </a:r>
            <a:r>
              <a:rPr lang="en-US" dirty="0"/>
              <a:t> </a:t>
            </a:r>
            <a:r>
              <a:rPr lang="en-US" dirty="0" err="1"/>
              <a:t>norma</a:t>
            </a:r>
            <a:r>
              <a:rPr lang="en-US" dirty="0"/>
              <a:t> </a:t>
            </a:r>
            <a:r>
              <a:rPr lang="en-US" dirty="0" err="1"/>
              <a:t>masyarakat</a:t>
            </a:r>
            <a:br>
              <a:rPr lang="en-US" dirty="0"/>
            </a:br>
            <a:r>
              <a:rPr lang="en-US" dirty="0"/>
              <a:t>- Guru </a:t>
            </a:r>
            <a:r>
              <a:rPr lang="en-US" dirty="0" err="1"/>
              <a:t>mampu</a:t>
            </a:r>
            <a:r>
              <a:rPr lang="en-US" dirty="0"/>
              <a:t> </a:t>
            </a:r>
            <a:r>
              <a:rPr lang="en-US" dirty="0" err="1"/>
              <a:t>mendampingi</a:t>
            </a:r>
            <a:endParaRPr lang="en-ID" dirty="0"/>
          </a:p>
        </p:txBody>
      </p:sp>
    </p:spTree>
    <p:extLst>
      <p:ext uri="{BB962C8B-B14F-4D97-AF65-F5344CB8AC3E}">
        <p14:creationId xmlns:p14="http://schemas.microsoft.com/office/powerpoint/2010/main" val="2715704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457200" y="142852"/>
            <a:ext cx="8229600" cy="1143000"/>
          </a:xfrm>
        </p:spPr>
        <p:txBody>
          <a:bodyPr>
            <a:normAutofit/>
          </a:bodyPr>
          <a:lstStyle/>
          <a:p>
            <a:pPr marL="536575" indent="-536575"/>
            <a:r>
              <a:rPr lang="en-US" dirty="0"/>
              <a:t>2. </a:t>
            </a:r>
            <a:r>
              <a:rPr lang="en-US" dirty="0" err="1"/>
              <a:t>Pembelajaran</a:t>
            </a:r>
            <a:r>
              <a:rPr lang="en-US" dirty="0"/>
              <a:t> </a:t>
            </a:r>
            <a:r>
              <a:rPr lang="en-US" dirty="0" err="1"/>
              <a:t>kelas</a:t>
            </a:r>
            <a:r>
              <a:rPr lang="en-US" dirty="0"/>
              <a:t> 1,2,3 SD</a:t>
            </a:r>
          </a:p>
        </p:txBody>
      </p:sp>
      <p:grpSp>
        <p:nvGrpSpPr>
          <p:cNvPr id="7" name="Group 6"/>
          <p:cNvGrpSpPr/>
          <p:nvPr/>
        </p:nvGrpSpPr>
        <p:grpSpPr>
          <a:xfrm>
            <a:off x="1090911" y="1665273"/>
            <a:ext cx="7368446" cy="4764123"/>
            <a:chOff x="1090911" y="1665273"/>
            <a:chExt cx="7368446" cy="4764123"/>
          </a:xfrm>
        </p:grpSpPr>
        <p:pic>
          <p:nvPicPr>
            <p:cNvPr id="4" name="Picture 3" descr="Gambar terkait"/>
            <p:cNvPicPr>
              <a:picLocks noChangeAspect="1" noChangeArrowheads="1"/>
            </p:cNvPicPr>
            <p:nvPr/>
          </p:nvPicPr>
          <p:blipFill>
            <a:blip r:embed="rId2"/>
            <a:srcRect/>
            <a:stretch>
              <a:fillRect/>
            </a:stretch>
          </p:blipFill>
          <p:spPr bwMode="auto">
            <a:xfrm>
              <a:off x="1090911" y="1665273"/>
              <a:ext cx="7267303" cy="4764123"/>
            </a:xfrm>
            <a:prstGeom prst="rect">
              <a:avLst/>
            </a:prstGeom>
            <a:noFill/>
          </p:spPr>
        </p:pic>
        <p:sp>
          <p:nvSpPr>
            <p:cNvPr id="5" name="TextBox 4"/>
            <p:cNvSpPr txBox="1"/>
            <p:nvPr/>
          </p:nvSpPr>
          <p:spPr>
            <a:xfrm rot="21315678">
              <a:off x="2709608" y="2621796"/>
              <a:ext cx="4591814" cy="1446550"/>
            </a:xfrm>
            <a:prstGeom prst="rect">
              <a:avLst/>
            </a:prstGeom>
            <a:noFill/>
            <a:scene3d>
              <a:camera prst="isometricOffAxis2Top">
                <a:rot lat="19500000" lon="3000000" rev="18000000"/>
              </a:camera>
              <a:lightRig rig="threePt" dir="t"/>
            </a:scene3d>
          </p:spPr>
          <p:txBody>
            <a:bodyPr wrap="square" rtlCol="0">
              <a:spAutoFit/>
            </a:bodyPr>
            <a:lstStyle/>
            <a:p>
              <a:pPr algn="ctr"/>
              <a:r>
                <a:rPr lang="en-US" sz="6000" b="1" dirty="0">
                  <a:solidFill>
                    <a:schemeClr val="bg1"/>
                  </a:solidFill>
                  <a:effectLst>
                    <a:glow rad="228600">
                      <a:schemeClr val="tx1">
                        <a:alpha val="40000"/>
                      </a:schemeClr>
                    </a:glow>
                  </a:effectLst>
                </a:rPr>
                <a:t>SD</a:t>
              </a:r>
            </a:p>
            <a:p>
              <a:pPr algn="ctr"/>
              <a:r>
                <a:rPr lang="en-US" sz="2800" b="1" dirty="0">
                  <a:solidFill>
                    <a:schemeClr val="bg1"/>
                  </a:solidFill>
                  <a:effectLst>
                    <a:glow rad="228600">
                      <a:schemeClr val="tx1">
                        <a:alpha val="40000"/>
                      </a:schemeClr>
                    </a:glow>
                  </a:effectLst>
                </a:rPr>
                <a:t>KELAS 1,2,3</a:t>
              </a:r>
            </a:p>
          </p:txBody>
        </p:sp>
        <p:sp>
          <p:nvSpPr>
            <p:cNvPr id="6" name="TextBox 5"/>
            <p:cNvSpPr txBox="1"/>
            <p:nvPr/>
          </p:nvSpPr>
          <p:spPr>
            <a:xfrm rot="21315678">
              <a:off x="3867543" y="1898177"/>
              <a:ext cx="4591814" cy="1200329"/>
            </a:xfrm>
            <a:prstGeom prst="rect">
              <a:avLst/>
            </a:prstGeom>
            <a:noFill/>
            <a:scene3d>
              <a:camera prst="isometricOffAxis2Top">
                <a:rot lat="19200000" lon="3000000" rev="18000000"/>
              </a:camera>
              <a:lightRig rig="threePt" dir="t"/>
            </a:scene3d>
          </p:spPr>
          <p:txBody>
            <a:bodyPr wrap="square" rtlCol="0">
              <a:spAutoFit/>
            </a:bodyPr>
            <a:lstStyle/>
            <a:p>
              <a:pPr algn="ctr"/>
              <a:r>
                <a:rPr lang="en-US" sz="3600" b="1" dirty="0">
                  <a:solidFill>
                    <a:schemeClr val="bg1"/>
                  </a:solidFill>
                  <a:effectLst>
                    <a:glow rad="228600">
                      <a:schemeClr val="tx1">
                        <a:alpha val="40000"/>
                      </a:schemeClr>
                    </a:glow>
                  </a:effectLst>
                </a:rPr>
                <a:t>LEMBAR PEMBELAJARAN</a:t>
              </a:r>
              <a:endParaRPr lang="en-US" sz="2800" b="1" dirty="0">
                <a:solidFill>
                  <a:schemeClr val="bg1"/>
                </a:solidFill>
                <a:effectLst>
                  <a:glow rad="228600">
                    <a:schemeClr val="tx1">
                      <a:alpha val="40000"/>
                    </a:schemeClr>
                  </a:glow>
                </a:effectLst>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 name="Rectangle 5"/>
          <p:cNvSpPr/>
          <p:nvPr/>
        </p:nvSpPr>
        <p:spPr>
          <a:xfrm>
            <a:off x="1714480" y="797085"/>
            <a:ext cx="7286644" cy="5755422"/>
          </a:xfrm>
          <a:prstGeom prst="rect">
            <a:avLst/>
          </a:prstGeom>
        </p:spPr>
        <p:txBody>
          <a:bodyPr wrap="square">
            <a:spAutoFit/>
          </a:bodyPr>
          <a:lstStyle/>
          <a:p>
            <a:pPr marL="266700" indent="-266700" defTabSz="0"/>
            <a:r>
              <a:rPr lang="en-US" sz="2400" dirty="0">
                <a:solidFill>
                  <a:schemeClr val="bg1"/>
                </a:solidFill>
                <a:ea typeface="Times New Roman" pitchFamily="18" charset="0"/>
                <a:cs typeface="Traditional Arabic" pitchFamily="2" charset="-78"/>
              </a:rPr>
              <a:t>KONDISI ANAK:</a:t>
            </a:r>
            <a:endParaRPr lang="id-ID" sz="2400" dirty="0">
              <a:solidFill>
                <a:schemeClr val="bg1"/>
              </a:solidFill>
              <a:ea typeface="Times New Roman" pitchFamily="18" charset="0"/>
              <a:cs typeface="Traditional Arabic" pitchFamily="2" charset="-78"/>
            </a:endParaRPr>
          </a:p>
          <a:p>
            <a:pPr marL="449263" indent="-449263">
              <a:buFont typeface="Wingdings" pitchFamily="2" charset="2"/>
              <a:buChar char="ü"/>
            </a:pPr>
            <a:r>
              <a:rPr lang="en-US" sz="2400" dirty="0" err="1">
                <a:solidFill>
                  <a:srgbClr val="FFFF00"/>
                </a:solidFill>
              </a:rPr>
              <a:t>Sosiosentris</a:t>
            </a:r>
            <a:endParaRPr lang="id-ID" sz="2400" dirty="0">
              <a:solidFill>
                <a:srgbClr val="FFFF00"/>
              </a:solidFill>
            </a:endParaRPr>
          </a:p>
          <a:p>
            <a:pPr marL="449263" lvl="0" indent="-449263">
              <a:buFont typeface="Wingdings" pitchFamily="2" charset="2"/>
              <a:buChar char="ü"/>
            </a:pPr>
            <a:r>
              <a:rPr lang="en-US" sz="2400" dirty="0" err="1">
                <a:solidFill>
                  <a:srgbClr val="FFFF00"/>
                </a:solidFill>
              </a:rPr>
              <a:t>Nalar</a:t>
            </a:r>
            <a:r>
              <a:rPr lang="en-US" sz="2400" dirty="0">
                <a:solidFill>
                  <a:srgbClr val="FFFF00"/>
                </a:solidFill>
              </a:rPr>
              <a:t> </a:t>
            </a:r>
            <a:r>
              <a:rPr lang="en-US" sz="2400" dirty="0" err="1">
                <a:solidFill>
                  <a:srgbClr val="FFFF00"/>
                </a:solidFill>
              </a:rPr>
              <a:t>tumbuh</a:t>
            </a:r>
            <a:r>
              <a:rPr lang="en-US" sz="2400" dirty="0">
                <a:solidFill>
                  <a:srgbClr val="FFFF00"/>
                </a:solidFill>
              </a:rPr>
              <a:t> </a:t>
            </a:r>
            <a:r>
              <a:rPr lang="en-US" sz="2400" dirty="0" err="1">
                <a:solidFill>
                  <a:srgbClr val="FFFF00"/>
                </a:solidFill>
              </a:rPr>
              <a:t>pesat</a:t>
            </a:r>
            <a:endParaRPr lang="en-US" sz="2400" dirty="0">
              <a:solidFill>
                <a:srgbClr val="FFFF00"/>
              </a:solidFill>
            </a:endParaRPr>
          </a:p>
          <a:p>
            <a:pPr marL="449263" lvl="0" indent="-449263">
              <a:buFont typeface="Wingdings" pitchFamily="2" charset="2"/>
              <a:buChar char="ü"/>
            </a:pPr>
            <a:r>
              <a:rPr lang="en-US" sz="2400" dirty="0">
                <a:solidFill>
                  <a:srgbClr val="FFFF00"/>
                </a:solidFill>
              </a:rPr>
              <a:t>Rasa </a:t>
            </a:r>
            <a:r>
              <a:rPr lang="en-US" sz="2400" dirty="0" err="1">
                <a:solidFill>
                  <a:srgbClr val="FFFF00"/>
                </a:solidFill>
              </a:rPr>
              <a:t>ingin</a:t>
            </a:r>
            <a:r>
              <a:rPr lang="en-US" sz="2400" dirty="0">
                <a:solidFill>
                  <a:srgbClr val="FFFF00"/>
                </a:solidFill>
              </a:rPr>
              <a:t> </a:t>
            </a:r>
            <a:r>
              <a:rPr lang="en-US" sz="2400" dirty="0" err="1">
                <a:solidFill>
                  <a:srgbClr val="FFFF00"/>
                </a:solidFill>
              </a:rPr>
              <a:t>tahu</a:t>
            </a:r>
            <a:r>
              <a:rPr lang="en-US" sz="2400" dirty="0">
                <a:solidFill>
                  <a:srgbClr val="FFFF00"/>
                </a:solidFill>
              </a:rPr>
              <a:t> </a:t>
            </a:r>
            <a:r>
              <a:rPr lang="en-US" sz="2400" dirty="0" err="1">
                <a:solidFill>
                  <a:srgbClr val="FFFF00"/>
                </a:solidFill>
              </a:rPr>
              <a:t>meningkat</a:t>
            </a:r>
            <a:r>
              <a:rPr lang="en-US" sz="2400" dirty="0">
                <a:solidFill>
                  <a:srgbClr val="FFFF00"/>
                </a:solidFill>
              </a:rPr>
              <a:t> </a:t>
            </a:r>
            <a:r>
              <a:rPr lang="en-US" sz="2400" dirty="0" err="1">
                <a:solidFill>
                  <a:srgbClr val="FFFF00"/>
                </a:solidFill>
              </a:rPr>
              <a:t>pesat</a:t>
            </a:r>
            <a:endParaRPr lang="en-US" sz="2400" dirty="0">
              <a:solidFill>
                <a:srgbClr val="FFFF00"/>
              </a:solidFill>
            </a:endParaRPr>
          </a:p>
          <a:p>
            <a:pPr marL="449263" lvl="0" indent="-449263"/>
            <a:endParaRPr lang="en-US" sz="800" i="1" dirty="0">
              <a:solidFill>
                <a:srgbClr val="FFFF00"/>
              </a:solidFill>
            </a:endParaRPr>
          </a:p>
          <a:p>
            <a:pPr marL="449263" lvl="0" indent="-449263"/>
            <a:r>
              <a:rPr lang="en-US" sz="2400" dirty="0">
                <a:solidFill>
                  <a:schemeClr val="bg1"/>
                </a:solidFill>
              </a:rPr>
              <a:t>DASAR PEMBELAJARAN:</a:t>
            </a:r>
          </a:p>
          <a:p>
            <a:pPr fontAlgn="t">
              <a:buFont typeface="Wingdings" pitchFamily="2" charset="2"/>
              <a:buChar char="ü"/>
            </a:pPr>
            <a:r>
              <a:rPr lang="en-US" sz="2400" dirty="0" err="1">
                <a:solidFill>
                  <a:srgbClr val="FFFF00"/>
                </a:solidFill>
              </a:rPr>
              <a:t>Melatih</a:t>
            </a:r>
            <a:r>
              <a:rPr lang="en-US" sz="2400" dirty="0">
                <a:solidFill>
                  <a:srgbClr val="FFFF00"/>
                </a:solidFill>
              </a:rPr>
              <a:t> </a:t>
            </a:r>
            <a:r>
              <a:rPr lang="en-US" sz="2400" dirty="0" err="1">
                <a:solidFill>
                  <a:srgbClr val="FFFF00"/>
                </a:solidFill>
              </a:rPr>
              <a:t>adab</a:t>
            </a:r>
            <a:r>
              <a:rPr lang="en-US" sz="2400" dirty="0">
                <a:solidFill>
                  <a:srgbClr val="FFFF00"/>
                </a:solidFill>
              </a:rPr>
              <a:t> </a:t>
            </a:r>
            <a:r>
              <a:rPr lang="en-US" sz="2400" dirty="0" err="1">
                <a:solidFill>
                  <a:srgbClr val="FFFF00"/>
                </a:solidFill>
              </a:rPr>
              <a:t>dan</a:t>
            </a:r>
            <a:r>
              <a:rPr lang="en-US" sz="2400" dirty="0">
                <a:solidFill>
                  <a:srgbClr val="FFFF00"/>
                </a:solidFill>
              </a:rPr>
              <a:t> </a:t>
            </a:r>
            <a:r>
              <a:rPr lang="en-US" sz="2400" dirty="0" err="1">
                <a:solidFill>
                  <a:srgbClr val="FFFF00"/>
                </a:solidFill>
              </a:rPr>
              <a:t>akhlaq</a:t>
            </a:r>
            <a:r>
              <a:rPr lang="en-US" sz="2400" dirty="0">
                <a:solidFill>
                  <a:srgbClr val="FFFF00"/>
                </a:solidFill>
              </a:rPr>
              <a:t> </a:t>
            </a:r>
            <a:r>
              <a:rPr lang="en-US" sz="2400" dirty="0" err="1">
                <a:solidFill>
                  <a:srgbClr val="FFFF00"/>
                </a:solidFill>
              </a:rPr>
              <a:t>dengan</a:t>
            </a:r>
            <a:r>
              <a:rPr lang="en-US" sz="2400" dirty="0">
                <a:solidFill>
                  <a:srgbClr val="FFFF00"/>
                </a:solidFill>
              </a:rPr>
              <a:t> </a:t>
            </a:r>
            <a:r>
              <a:rPr lang="en-US" sz="2400" dirty="0" err="1">
                <a:solidFill>
                  <a:srgbClr val="FFFF00"/>
                </a:solidFill>
              </a:rPr>
              <a:t>beraktifitas</a:t>
            </a:r>
            <a:endParaRPr lang="en-US" sz="2400" dirty="0">
              <a:solidFill>
                <a:srgbClr val="FFFF00"/>
              </a:solidFill>
            </a:endParaRPr>
          </a:p>
          <a:p>
            <a:pPr fontAlgn="t">
              <a:buFont typeface="Wingdings" pitchFamily="2" charset="2"/>
              <a:buChar char="ü"/>
            </a:pPr>
            <a:r>
              <a:rPr lang="en-US" sz="2400" dirty="0" err="1">
                <a:solidFill>
                  <a:srgbClr val="FFFF00"/>
                </a:solidFill>
              </a:rPr>
              <a:t>Menumbuhkan</a:t>
            </a:r>
            <a:r>
              <a:rPr lang="en-US" sz="2400" dirty="0">
                <a:solidFill>
                  <a:srgbClr val="FFFF00"/>
                </a:solidFill>
              </a:rPr>
              <a:t> </a:t>
            </a:r>
            <a:r>
              <a:rPr lang="en-US" sz="2400" dirty="0" err="1">
                <a:solidFill>
                  <a:srgbClr val="FFFF00"/>
                </a:solidFill>
              </a:rPr>
              <a:t>pikiran</a:t>
            </a:r>
            <a:r>
              <a:rPr lang="en-US" sz="2400" dirty="0">
                <a:solidFill>
                  <a:srgbClr val="FFFF00"/>
                </a:solidFill>
              </a:rPr>
              <a:t> </a:t>
            </a:r>
            <a:r>
              <a:rPr lang="en-US" sz="2400" dirty="0" err="1">
                <a:solidFill>
                  <a:srgbClr val="FFFF00"/>
                </a:solidFill>
              </a:rPr>
              <a:t>untuk</a:t>
            </a:r>
            <a:r>
              <a:rPr lang="en-US" sz="2400" dirty="0">
                <a:solidFill>
                  <a:srgbClr val="FFFF00"/>
                </a:solidFill>
              </a:rPr>
              <a:t> </a:t>
            </a:r>
            <a:r>
              <a:rPr lang="en-US" sz="2400" dirty="0" err="1">
                <a:solidFill>
                  <a:srgbClr val="FFFF00"/>
                </a:solidFill>
              </a:rPr>
              <a:t>bernalar</a:t>
            </a:r>
            <a:endParaRPr lang="en-US" sz="2400" dirty="0">
              <a:solidFill>
                <a:srgbClr val="FFFF00"/>
              </a:solidFill>
            </a:endParaRPr>
          </a:p>
          <a:p>
            <a:pPr fontAlgn="t">
              <a:buFont typeface="Wingdings" pitchFamily="2" charset="2"/>
              <a:buChar char="ü"/>
            </a:pPr>
            <a:r>
              <a:rPr lang="en-US" sz="2400" dirty="0" err="1">
                <a:solidFill>
                  <a:srgbClr val="FFFF00"/>
                </a:solidFill>
              </a:rPr>
              <a:t>Menuntaskan</a:t>
            </a:r>
            <a:r>
              <a:rPr lang="en-US" sz="2400" dirty="0">
                <a:solidFill>
                  <a:srgbClr val="FFFF00"/>
                </a:solidFill>
              </a:rPr>
              <a:t> rasa </a:t>
            </a:r>
            <a:r>
              <a:rPr lang="en-US" sz="2400" dirty="0" err="1">
                <a:solidFill>
                  <a:srgbClr val="FFFF00"/>
                </a:solidFill>
              </a:rPr>
              <a:t>ingin</a:t>
            </a:r>
            <a:r>
              <a:rPr lang="en-US" sz="2400" dirty="0">
                <a:solidFill>
                  <a:srgbClr val="FFFF00"/>
                </a:solidFill>
              </a:rPr>
              <a:t> </a:t>
            </a:r>
            <a:r>
              <a:rPr lang="en-US" sz="2400" dirty="0" err="1">
                <a:solidFill>
                  <a:srgbClr val="FFFF00"/>
                </a:solidFill>
              </a:rPr>
              <a:t>tahu</a:t>
            </a:r>
            <a:endParaRPr lang="en-US" sz="2400" dirty="0">
              <a:solidFill>
                <a:srgbClr val="FFFF00"/>
              </a:solidFill>
            </a:endParaRPr>
          </a:p>
          <a:p>
            <a:pPr marL="449263" lvl="0" indent="-449263">
              <a:buFont typeface="Wingdings" pitchFamily="2" charset="2"/>
              <a:buChar char="ü"/>
            </a:pPr>
            <a:endParaRPr lang="en-US" sz="800" dirty="0">
              <a:solidFill>
                <a:srgbClr val="FFFF00"/>
              </a:solidFill>
            </a:endParaRPr>
          </a:p>
          <a:p>
            <a:r>
              <a:rPr lang="en-US" sz="2400" dirty="0">
                <a:solidFill>
                  <a:schemeClr val="bg1"/>
                </a:solidFill>
              </a:rPr>
              <a:t>CARA BELAJAR ANAK:</a:t>
            </a:r>
          </a:p>
          <a:p>
            <a:pPr>
              <a:buFont typeface="Wingdings" pitchFamily="2" charset="2"/>
              <a:buChar char="ü"/>
            </a:pPr>
            <a:r>
              <a:rPr lang="en-US" sz="2400" dirty="0" err="1">
                <a:solidFill>
                  <a:srgbClr val="FFFF00"/>
                </a:solidFill>
              </a:rPr>
              <a:t>eksperimen</a:t>
            </a:r>
            <a:r>
              <a:rPr lang="en-US" sz="2400" dirty="0">
                <a:solidFill>
                  <a:srgbClr val="FFFF00"/>
                </a:solidFill>
              </a:rPr>
              <a:t> </a:t>
            </a:r>
            <a:r>
              <a:rPr lang="en-US" sz="2400" i="1" dirty="0">
                <a:solidFill>
                  <a:srgbClr val="FFFF00"/>
                </a:solidFill>
              </a:rPr>
              <a:t>(Trial and Error)</a:t>
            </a:r>
          </a:p>
          <a:p>
            <a:pPr marL="449263" lvl="0" indent="-449263"/>
            <a:endParaRPr lang="en-US" sz="800" dirty="0">
              <a:solidFill>
                <a:schemeClr val="bg1"/>
              </a:solidFill>
            </a:endParaRPr>
          </a:p>
          <a:p>
            <a:pPr marL="449263" lvl="0" indent="-449263"/>
            <a:r>
              <a:rPr lang="en-US" sz="2400" dirty="0">
                <a:solidFill>
                  <a:schemeClr val="bg1"/>
                </a:solidFill>
              </a:rPr>
              <a:t>CARA PEMBELAJARAN:</a:t>
            </a:r>
          </a:p>
          <a:p>
            <a:pPr>
              <a:buFont typeface="Wingdings" pitchFamily="2" charset="2"/>
              <a:buChar char="ü"/>
            </a:pPr>
            <a:r>
              <a:rPr lang="en-US" sz="2400" dirty="0" err="1">
                <a:solidFill>
                  <a:srgbClr val="FFFF00"/>
                </a:solidFill>
              </a:rPr>
              <a:t>pelatihan</a:t>
            </a:r>
            <a:r>
              <a:rPr lang="en-US" sz="2400" dirty="0">
                <a:solidFill>
                  <a:srgbClr val="FFFF00"/>
                </a:solidFill>
              </a:rPr>
              <a:t> </a:t>
            </a:r>
            <a:r>
              <a:rPr lang="en-US" sz="2400" dirty="0" err="1">
                <a:solidFill>
                  <a:srgbClr val="FFFF00"/>
                </a:solidFill>
              </a:rPr>
              <a:t>adab</a:t>
            </a:r>
            <a:r>
              <a:rPr lang="en-US" sz="2400" dirty="0">
                <a:solidFill>
                  <a:srgbClr val="FFFF00"/>
                </a:solidFill>
              </a:rPr>
              <a:t> </a:t>
            </a:r>
            <a:r>
              <a:rPr lang="en-US" sz="2400" dirty="0" err="1">
                <a:solidFill>
                  <a:srgbClr val="FFFF00"/>
                </a:solidFill>
              </a:rPr>
              <a:t>dan</a:t>
            </a:r>
            <a:r>
              <a:rPr lang="en-US" sz="2400" dirty="0">
                <a:solidFill>
                  <a:srgbClr val="FFFF00"/>
                </a:solidFill>
              </a:rPr>
              <a:t> </a:t>
            </a:r>
            <a:r>
              <a:rPr lang="en-US" sz="2400" dirty="0" err="1">
                <a:solidFill>
                  <a:srgbClr val="FFFF00"/>
                </a:solidFill>
              </a:rPr>
              <a:t>akhlaq</a:t>
            </a:r>
            <a:endParaRPr lang="en-US" sz="2400" dirty="0">
              <a:solidFill>
                <a:srgbClr val="FFFF00"/>
              </a:solidFill>
            </a:endParaRPr>
          </a:p>
          <a:p>
            <a:pPr>
              <a:buFont typeface="Wingdings" pitchFamily="2" charset="2"/>
              <a:buChar char="ü"/>
            </a:pPr>
            <a:r>
              <a:rPr lang="en-US" sz="2400" dirty="0" err="1">
                <a:solidFill>
                  <a:srgbClr val="FFFF00"/>
                </a:solidFill>
              </a:rPr>
              <a:t>Penjelasan</a:t>
            </a:r>
            <a:r>
              <a:rPr lang="en-US" sz="2400" dirty="0">
                <a:solidFill>
                  <a:srgbClr val="FFFF00"/>
                </a:solidFill>
              </a:rPr>
              <a:t> </a:t>
            </a:r>
            <a:r>
              <a:rPr lang="en-US" sz="2400" dirty="0" err="1">
                <a:solidFill>
                  <a:srgbClr val="FFFF00"/>
                </a:solidFill>
              </a:rPr>
              <a:t>dengan</a:t>
            </a:r>
            <a:r>
              <a:rPr lang="en-US" sz="2400" dirty="0">
                <a:solidFill>
                  <a:srgbClr val="FFFF00"/>
                </a:solidFill>
              </a:rPr>
              <a:t> </a:t>
            </a:r>
            <a:r>
              <a:rPr lang="en-US" sz="2400" dirty="0" err="1">
                <a:solidFill>
                  <a:srgbClr val="FFFF00"/>
                </a:solidFill>
              </a:rPr>
              <a:t>lugas</a:t>
            </a:r>
            <a:r>
              <a:rPr lang="en-US" sz="2400" dirty="0">
                <a:solidFill>
                  <a:srgbClr val="FFFF00"/>
                </a:solidFill>
              </a:rPr>
              <a:t> </a:t>
            </a:r>
            <a:r>
              <a:rPr lang="en-US" sz="2400" dirty="0" err="1">
                <a:solidFill>
                  <a:srgbClr val="FFFF00"/>
                </a:solidFill>
              </a:rPr>
              <a:t>dan</a:t>
            </a:r>
            <a:r>
              <a:rPr lang="en-US" sz="2400" dirty="0">
                <a:solidFill>
                  <a:srgbClr val="FFFF00"/>
                </a:solidFill>
              </a:rPr>
              <a:t> </a:t>
            </a:r>
            <a:r>
              <a:rPr lang="en-US" sz="2400" dirty="0" err="1">
                <a:solidFill>
                  <a:srgbClr val="FFFF00"/>
                </a:solidFill>
              </a:rPr>
              <a:t>bernalar</a:t>
            </a:r>
            <a:endParaRPr lang="en-US" sz="2400" dirty="0">
              <a:solidFill>
                <a:srgbClr val="FFFF00"/>
              </a:solidFill>
            </a:endParaRPr>
          </a:p>
          <a:p>
            <a:pPr>
              <a:buFont typeface="Wingdings" pitchFamily="2" charset="2"/>
              <a:buChar char="ü"/>
            </a:pPr>
            <a:r>
              <a:rPr lang="en-US" sz="2400" dirty="0" err="1">
                <a:solidFill>
                  <a:srgbClr val="FFFF00"/>
                </a:solidFill>
              </a:rPr>
              <a:t>Belajar</a:t>
            </a:r>
            <a:r>
              <a:rPr lang="en-US" sz="2400" dirty="0">
                <a:solidFill>
                  <a:srgbClr val="FFFF00"/>
                </a:solidFill>
              </a:rPr>
              <a:t> </a:t>
            </a:r>
            <a:r>
              <a:rPr lang="en-US" sz="2400" dirty="0" err="1">
                <a:solidFill>
                  <a:srgbClr val="FFFF00"/>
                </a:solidFill>
              </a:rPr>
              <a:t>dengan</a:t>
            </a:r>
            <a:r>
              <a:rPr lang="en-US" sz="2400" dirty="0">
                <a:solidFill>
                  <a:srgbClr val="FFFF00"/>
                </a:solidFill>
              </a:rPr>
              <a:t> </a:t>
            </a:r>
            <a:r>
              <a:rPr lang="en-US" sz="2400" dirty="0" err="1">
                <a:solidFill>
                  <a:srgbClr val="FFFF00"/>
                </a:solidFill>
              </a:rPr>
              <a:t>beraktifitas</a:t>
            </a:r>
            <a:r>
              <a:rPr lang="en-US" sz="2400" dirty="0">
                <a:solidFill>
                  <a:srgbClr val="FFFF00"/>
                </a:solidFill>
              </a:rPr>
              <a:t> </a:t>
            </a:r>
          </a:p>
          <a:p>
            <a:pPr>
              <a:buFont typeface="Wingdings" pitchFamily="2" charset="2"/>
              <a:buChar char="ü"/>
            </a:pPr>
            <a:endParaRPr lang="en-US" sz="800" dirty="0">
              <a:solidFill>
                <a:srgbClr val="FFFF00"/>
              </a:solidFill>
            </a:endParaRPr>
          </a:p>
        </p:txBody>
      </p:sp>
      <p:sp>
        <p:nvSpPr>
          <p:cNvPr id="4" name="TextBox 3"/>
          <p:cNvSpPr txBox="1"/>
          <p:nvPr/>
        </p:nvSpPr>
        <p:spPr>
          <a:xfrm>
            <a:off x="5786478" y="-24"/>
            <a:ext cx="3357554" cy="461665"/>
          </a:xfrm>
          <a:prstGeom prst="rect">
            <a:avLst/>
          </a:prstGeom>
          <a:solidFill>
            <a:srgbClr val="00B050"/>
          </a:solidFill>
        </p:spPr>
        <p:txBody>
          <a:bodyPr wrap="square" rtlCol="0">
            <a:spAutoFit/>
          </a:bodyPr>
          <a:lstStyle/>
          <a:p>
            <a:pPr algn="ctr"/>
            <a:r>
              <a:rPr lang="en-US" sz="2400" dirty="0">
                <a:solidFill>
                  <a:schemeClr val="bg1"/>
                </a:solidFill>
              </a:rPr>
              <a:t>KELAS 1,2,3 SD</a:t>
            </a:r>
          </a:p>
        </p:txBody>
      </p:sp>
      <p:sp>
        <p:nvSpPr>
          <p:cNvPr id="7" name="TextBox 6"/>
          <p:cNvSpPr txBox="1"/>
          <p:nvPr/>
        </p:nvSpPr>
        <p:spPr>
          <a:xfrm>
            <a:off x="950272" y="785794"/>
            <a:ext cx="513410" cy="5643602"/>
          </a:xfrm>
          <a:prstGeom prst="rect">
            <a:avLst/>
          </a:prstGeom>
          <a:solidFill>
            <a:srgbClr val="FFFF00"/>
          </a:solidFill>
        </p:spPr>
        <p:txBody>
          <a:bodyPr vert="wordArtVert" wrap="square" rtlCol="0">
            <a:spAutoFit/>
          </a:bodyPr>
          <a:lstStyle/>
          <a:p>
            <a:pPr algn="ctr"/>
            <a:r>
              <a:rPr lang="en-US" b="1" dirty="0"/>
              <a:t>PENDIDIKAN NALAR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Effect transition="in" filter="fade">
                                      <p:cBhvr>
                                        <p:cTn id="14" dur="1000"/>
                                        <p:tgtEl>
                                          <p:spTgt spid="6">
                                            <p:txEl>
                                              <p:pRg st="1" end="1"/>
                                            </p:txEl>
                                          </p:spTgt>
                                        </p:tgtEl>
                                      </p:cBhvr>
                                    </p:animEffect>
                                    <p:anim calcmode="lin" valueType="num">
                                      <p:cBhvr>
                                        <p:cTn id="15"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Effect transition="in" filter="fade">
                                      <p:cBhvr>
                                        <p:cTn id="21" dur="1000"/>
                                        <p:tgtEl>
                                          <p:spTgt spid="6">
                                            <p:txEl>
                                              <p:pRg st="2" end="2"/>
                                            </p:txEl>
                                          </p:spTgt>
                                        </p:tgtEl>
                                      </p:cBhvr>
                                    </p:animEffect>
                                    <p:anim calcmode="lin" valueType="num">
                                      <p:cBhvr>
                                        <p:cTn id="22"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xEl>
                                              <p:pRg st="3" end="3"/>
                                            </p:txEl>
                                          </p:spTgt>
                                        </p:tgtEl>
                                        <p:attrNameLst>
                                          <p:attrName>style.visibility</p:attrName>
                                        </p:attrNameLst>
                                      </p:cBhvr>
                                      <p:to>
                                        <p:strVal val="visible"/>
                                      </p:to>
                                    </p:set>
                                    <p:animEffect transition="in" filter="fade">
                                      <p:cBhvr>
                                        <p:cTn id="28" dur="1000"/>
                                        <p:tgtEl>
                                          <p:spTgt spid="6">
                                            <p:txEl>
                                              <p:pRg st="3" end="3"/>
                                            </p:txEl>
                                          </p:spTgt>
                                        </p:tgtEl>
                                      </p:cBhvr>
                                    </p:animEffect>
                                    <p:anim calcmode="lin" valueType="num">
                                      <p:cBhvr>
                                        <p:cTn id="29"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6">
                                            <p:txEl>
                                              <p:pRg st="5" end="5"/>
                                            </p:txEl>
                                          </p:spTgt>
                                        </p:tgtEl>
                                        <p:attrNameLst>
                                          <p:attrName>style.visibility</p:attrName>
                                        </p:attrNameLst>
                                      </p:cBhvr>
                                      <p:to>
                                        <p:strVal val="visible"/>
                                      </p:to>
                                    </p:set>
                                    <p:animEffect transition="in" filter="fade">
                                      <p:cBhvr>
                                        <p:cTn id="35" dur="1000"/>
                                        <p:tgtEl>
                                          <p:spTgt spid="6">
                                            <p:txEl>
                                              <p:pRg st="5" end="5"/>
                                            </p:txEl>
                                          </p:spTgt>
                                        </p:tgtEl>
                                      </p:cBhvr>
                                    </p:animEffect>
                                    <p:anim calcmode="lin" valueType="num">
                                      <p:cBhvr>
                                        <p:cTn id="36"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6">
                                            <p:txEl>
                                              <p:pRg st="6" end="6"/>
                                            </p:txEl>
                                          </p:spTgt>
                                        </p:tgtEl>
                                        <p:attrNameLst>
                                          <p:attrName>style.visibility</p:attrName>
                                        </p:attrNameLst>
                                      </p:cBhvr>
                                      <p:to>
                                        <p:strVal val="visible"/>
                                      </p:to>
                                    </p:set>
                                    <p:animEffect transition="in" filter="fade">
                                      <p:cBhvr>
                                        <p:cTn id="42" dur="1000"/>
                                        <p:tgtEl>
                                          <p:spTgt spid="6">
                                            <p:txEl>
                                              <p:pRg st="6" end="6"/>
                                            </p:txEl>
                                          </p:spTgt>
                                        </p:tgtEl>
                                      </p:cBhvr>
                                    </p:animEffect>
                                    <p:anim calcmode="lin" valueType="num">
                                      <p:cBhvr>
                                        <p:cTn id="43"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6">
                                            <p:txEl>
                                              <p:pRg st="7" end="7"/>
                                            </p:txEl>
                                          </p:spTgt>
                                        </p:tgtEl>
                                        <p:attrNameLst>
                                          <p:attrName>style.visibility</p:attrName>
                                        </p:attrNameLst>
                                      </p:cBhvr>
                                      <p:to>
                                        <p:strVal val="visible"/>
                                      </p:to>
                                    </p:set>
                                    <p:animEffect transition="in" filter="fade">
                                      <p:cBhvr>
                                        <p:cTn id="49" dur="1000"/>
                                        <p:tgtEl>
                                          <p:spTgt spid="6">
                                            <p:txEl>
                                              <p:pRg st="7" end="7"/>
                                            </p:txEl>
                                          </p:spTgt>
                                        </p:tgtEl>
                                      </p:cBhvr>
                                    </p:animEffect>
                                    <p:anim calcmode="lin" valueType="num">
                                      <p:cBhvr>
                                        <p:cTn id="50"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6">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6">
                                            <p:txEl>
                                              <p:pRg st="8" end="8"/>
                                            </p:txEl>
                                          </p:spTgt>
                                        </p:tgtEl>
                                        <p:attrNameLst>
                                          <p:attrName>style.visibility</p:attrName>
                                        </p:attrNameLst>
                                      </p:cBhvr>
                                      <p:to>
                                        <p:strVal val="visible"/>
                                      </p:to>
                                    </p:set>
                                    <p:animEffect transition="in" filter="fade">
                                      <p:cBhvr>
                                        <p:cTn id="56" dur="1000"/>
                                        <p:tgtEl>
                                          <p:spTgt spid="6">
                                            <p:txEl>
                                              <p:pRg st="8" end="8"/>
                                            </p:txEl>
                                          </p:spTgt>
                                        </p:tgtEl>
                                      </p:cBhvr>
                                    </p:animEffect>
                                    <p:anim calcmode="lin" valueType="num">
                                      <p:cBhvr>
                                        <p:cTn id="57"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58"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6">
                                            <p:txEl>
                                              <p:pRg st="10" end="10"/>
                                            </p:txEl>
                                          </p:spTgt>
                                        </p:tgtEl>
                                        <p:attrNameLst>
                                          <p:attrName>style.visibility</p:attrName>
                                        </p:attrNameLst>
                                      </p:cBhvr>
                                      <p:to>
                                        <p:strVal val="visible"/>
                                      </p:to>
                                    </p:set>
                                    <p:animEffect transition="in" filter="fade">
                                      <p:cBhvr>
                                        <p:cTn id="63" dur="1000"/>
                                        <p:tgtEl>
                                          <p:spTgt spid="6">
                                            <p:txEl>
                                              <p:pRg st="10" end="10"/>
                                            </p:txEl>
                                          </p:spTgt>
                                        </p:tgtEl>
                                      </p:cBhvr>
                                    </p:animEffect>
                                    <p:anim calcmode="lin" valueType="num">
                                      <p:cBhvr>
                                        <p:cTn id="64" dur="1000" fill="hold"/>
                                        <p:tgtEl>
                                          <p:spTgt spid="6">
                                            <p:txEl>
                                              <p:pRg st="10" end="10"/>
                                            </p:txEl>
                                          </p:spTgt>
                                        </p:tgtEl>
                                        <p:attrNameLst>
                                          <p:attrName>ppt_x</p:attrName>
                                        </p:attrNameLst>
                                      </p:cBhvr>
                                      <p:tavLst>
                                        <p:tav tm="0">
                                          <p:val>
                                            <p:strVal val="#ppt_x"/>
                                          </p:val>
                                        </p:tav>
                                        <p:tav tm="100000">
                                          <p:val>
                                            <p:strVal val="#ppt_x"/>
                                          </p:val>
                                        </p:tav>
                                      </p:tavLst>
                                    </p:anim>
                                    <p:anim calcmode="lin" valueType="num">
                                      <p:cBhvr>
                                        <p:cTn id="65" dur="1000" fill="hold"/>
                                        <p:tgtEl>
                                          <p:spTgt spid="6">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6">
                                            <p:txEl>
                                              <p:pRg st="11" end="11"/>
                                            </p:txEl>
                                          </p:spTgt>
                                        </p:tgtEl>
                                        <p:attrNameLst>
                                          <p:attrName>style.visibility</p:attrName>
                                        </p:attrNameLst>
                                      </p:cBhvr>
                                      <p:to>
                                        <p:strVal val="visible"/>
                                      </p:to>
                                    </p:set>
                                    <p:animEffect transition="in" filter="fade">
                                      <p:cBhvr>
                                        <p:cTn id="70" dur="1000"/>
                                        <p:tgtEl>
                                          <p:spTgt spid="6">
                                            <p:txEl>
                                              <p:pRg st="11" end="11"/>
                                            </p:txEl>
                                          </p:spTgt>
                                        </p:tgtEl>
                                      </p:cBhvr>
                                    </p:animEffect>
                                    <p:anim calcmode="lin" valueType="num">
                                      <p:cBhvr>
                                        <p:cTn id="71" dur="1000" fill="hold"/>
                                        <p:tgtEl>
                                          <p:spTgt spid="6">
                                            <p:txEl>
                                              <p:pRg st="11" end="11"/>
                                            </p:txEl>
                                          </p:spTgt>
                                        </p:tgtEl>
                                        <p:attrNameLst>
                                          <p:attrName>ppt_x</p:attrName>
                                        </p:attrNameLst>
                                      </p:cBhvr>
                                      <p:tavLst>
                                        <p:tav tm="0">
                                          <p:val>
                                            <p:strVal val="#ppt_x"/>
                                          </p:val>
                                        </p:tav>
                                        <p:tav tm="100000">
                                          <p:val>
                                            <p:strVal val="#ppt_x"/>
                                          </p:val>
                                        </p:tav>
                                      </p:tavLst>
                                    </p:anim>
                                    <p:anim calcmode="lin" valueType="num">
                                      <p:cBhvr>
                                        <p:cTn id="72" dur="1000" fill="hold"/>
                                        <p:tgtEl>
                                          <p:spTgt spid="6">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6">
                                            <p:txEl>
                                              <p:pRg st="13" end="13"/>
                                            </p:txEl>
                                          </p:spTgt>
                                        </p:tgtEl>
                                        <p:attrNameLst>
                                          <p:attrName>style.visibility</p:attrName>
                                        </p:attrNameLst>
                                      </p:cBhvr>
                                      <p:to>
                                        <p:strVal val="visible"/>
                                      </p:to>
                                    </p:set>
                                    <p:animEffect transition="in" filter="fade">
                                      <p:cBhvr>
                                        <p:cTn id="77" dur="1000"/>
                                        <p:tgtEl>
                                          <p:spTgt spid="6">
                                            <p:txEl>
                                              <p:pRg st="13" end="13"/>
                                            </p:txEl>
                                          </p:spTgt>
                                        </p:tgtEl>
                                      </p:cBhvr>
                                    </p:animEffect>
                                    <p:anim calcmode="lin" valueType="num">
                                      <p:cBhvr>
                                        <p:cTn id="78" dur="1000" fill="hold"/>
                                        <p:tgtEl>
                                          <p:spTgt spid="6">
                                            <p:txEl>
                                              <p:pRg st="13" end="13"/>
                                            </p:txEl>
                                          </p:spTgt>
                                        </p:tgtEl>
                                        <p:attrNameLst>
                                          <p:attrName>ppt_x</p:attrName>
                                        </p:attrNameLst>
                                      </p:cBhvr>
                                      <p:tavLst>
                                        <p:tav tm="0">
                                          <p:val>
                                            <p:strVal val="#ppt_x"/>
                                          </p:val>
                                        </p:tav>
                                        <p:tav tm="100000">
                                          <p:val>
                                            <p:strVal val="#ppt_x"/>
                                          </p:val>
                                        </p:tav>
                                      </p:tavLst>
                                    </p:anim>
                                    <p:anim calcmode="lin" valueType="num">
                                      <p:cBhvr>
                                        <p:cTn id="79" dur="1000" fill="hold"/>
                                        <p:tgtEl>
                                          <p:spTgt spid="6">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6">
                                            <p:txEl>
                                              <p:pRg st="14" end="14"/>
                                            </p:txEl>
                                          </p:spTgt>
                                        </p:tgtEl>
                                        <p:attrNameLst>
                                          <p:attrName>style.visibility</p:attrName>
                                        </p:attrNameLst>
                                      </p:cBhvr>
                                      <p:to>
                                        <p:strVal val="visible"/>
                                      </p:to>
                                    </p:set>
                                    <p:animEffect transition="in" filter="fade">
                                      <p:cBhvr>
                                        <p:cTn id="84" dur="1000"/>
                                        <p:tgtEl>
                                          <p:spTgt spid="6">
                                            <p:txEl>
                                              <p:pRg st="14" end="14"/>
                                            </p:txEl>
                                          </p:spTgt>
                                        </p:tgtEl>
                                      </p:cBhvr>
                                    </p:animEffect>
                                    <p:anim calcmode="lin" valueType="num">
                                      <p:cBhvr>
                                        <p:cTn id="85" dur="1000" fill="hold"/>
                                        <p:tgtEl>
                                          <p:spTgt spid="6">
                                            <p:txEl>
                                              <p:pRg st="14" end="14"/>
                                            </p:txEl>
                                          </p:spTgt>
                                        </p:tgtEl>
                                        <p:attrNameLst>
                                          <p:attrName>ppt_x</p:attrName>
                                        </p:attrNameLst>
                                      </p:cBhvr>
                                      <p:tavLst>
                                        <p:tav tm="0">
                                          <p:val>
                                            <p:strVal val="#ppt_x"/>
                                          </p:val>
                                        </p:tav>
                                        <p:tav tm="100000">
                                          <p:val>
                                            <p:strVal val="#ppt_x"/>
                                          </p:val>
                                        </p:tav>
                                      </p:tavLst>
                                    </p:anim>
                                    <p:anim calcmode="lin" valueType="num">
                                      <p:cBhvr>
                                        <p:cTn id="86" dur="1000" fill="hold"/>
                                        <p:tgtEl>
                                          <p:spTgt spid="6">
                                            <p:txEl>
                                              <p:pRg st="14" end="14"/>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6">
                                            <p:txEl>
                                              <p:pRg st="15" end="15"/>
                                            </p:txEl>
                                          </p:spTgt>
                                        </p:tgtEl>
                                        <p:attrNameLst>
                                          <p:attrName>style.visibility</p:attrName>
                                        </p:attrNameLst>
                                      </p:cBhvr>
                                      <p:to>
                                        <p:strVal val="visible"/>
                                      </p:to>
                                    </p:set>
                                    <p:animEffect transition="in" filter="fade">
                                      <p:cBhvr>
                                        <p:cTn id="91" dur="1000"/>
                                        <p:tgtEl>
                                          <p:spTgt spid="6">
                                            <p:txEl>
                                              <p:pRg st="15" end="15"/>
                                            </p:txEl>
                                          </p:spTgt>
                                        </p:tgtEl>
                                      </p:cBhvr>
                                    </p:animEffect>
                                    <p:anim calcmode="lin" valueType="num">
                                      <p:cBhvr>
                                        <p:cTn id="92" dur="1000" fill="hold"/>
                                        <p:tgtEl>
                                          <p:spTgt spid="6">
                                            <p:txEl>
                                              <p:pRg st="15" end="15"/>
                                            </p:txEl>
                                          </p:spTgt>
                                        </p:tgtEl>
                                        <p:attrNameLst>
                                          <p:attrName>ppt_x</p:attrName>
                                        </p:attrNameLst>
                                      </p:cBhvr>
                                      <p:tavLst>
                                        <p:tav tm="0">
                                          <p:val>
                                            <p:strVal val="#ppt_x"/>
                                          </p:val>
                                        </p:tav>
                                        <p:tav tm="100000">
                                          <p:val>
                                            <p:strVal val="#ppt_x"/>
                                          </p:val>
                                        </p:tav>
                                      </p:tavLst>
                                    </p:anim>
                                    <p:anim calcmode="lin" valueType="num">
                                      <p:cBhvr>
                                        <p:cTn id="93" dur="1000" fill="hold"/>
                                        <p:tgtEl>
                                          <p:spTgt spid="6">
                                            <p:txEl>
                                              <p:pRg st="15" end="15"/>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6">
                                            <p:txEl>
                                              <p:pRg st="16" end="16"/>
                                            </p:txEl>
                                          </p:spTgt>
                                        </p:tgtEl>
                                        <p:attrNameLst>
                                          <p:attrName>style.visibility</p:attrName>
                                        </p:attrNameLst>
                                      </p:cBhvr>
                                      <p:to>
                                        <p:strVal val="visible"/>
                                      </p:to>
                                    </p:set>
                                    <p:animEffect transition="in" filter="fade">
                                      <p:cBhvr>
                                        <p:cTn id="98" dur="1000"/>
                                        <p:tgtEl>
                                          <p:spTgt spid="6">
                                            <p:txEl>
                                              <p:pRg st="16" end="16"/>
                                            </p:txEl>
                                          </p:spTgt>
                                        </p:tgtEl>
                                      </p:cBhvr>
                                    </p:animEffect>
                                    <p:anim calcmode="lin" valueType="num">
                                      <p:cBhvr>
                                        <p:cTn id="99" dur="1000" fill="hold"/>
                                        <p:tgtEl>
                                          <p:spTgt spid="6">
                                            <p:txEl>
                                              <p:pRg st="16" end="16"/>
                                            </p:txEl>
                                          </p:spTgt>
                                        </p:tgtEl>
                                        <p:attrNameLst>
                                          <p:attrName>ppt_x</p:attrName>
                                        </p:attrNameLst>
                                      </p:cBhvr>
                                      <p:tavLst>
                                        <p:tav tm="0">
                                          <p:val>
                                            <p:strVal val="#ppt_x"/>
                                          </p:val>
                                        </p:tav>
                                        <p:tav tm="100000">
                                          <p:val>
                                            <p:strVal val="#ppt_x"/>
                                          </p:val>
                                        </p:tav>
                                      </p:tavLst>
                                    </p:anim>
                                    <p:anim calcmode="lin" valueType="num">
                                      <p:cBhvr>
                                        <p:cTn id="100" dur="1000" fill="hold"/>
                                        <p:tgtEl>
                                          <p:spTgt spid="6">
                                            <p:txEl>
                                              <p:pRg st="16" end="16"/>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9" presetClass="entr" presetSubtype="0" fill="hold" grpId="0" nodeType="clickEffect">
                                  <p:stCondLst>
                                    <p:cond delay="0"/>
                                  </p:stCondLst>
                                  <p:childTnLst>
                                    <p:set>
                                      <p:cBhvr>
                                        <p:cTn id="104" dur="1" fill="hold">
                                          <p:stCondLst>
                                            <p:cond delay="0"/>
                                          </p:stCondLst>
                                        </p:cTn>
                                        <p:tgtEl>
                                          <p:spTgt spid="7"/>
                                        </p:tgtEl>
                                        <p:attrNameLst>
                                          <p:attrName>style.visibility</p:attrName>
                                        </p:attrNameLst>
                                      </p:cBhvr>
                                      <p:to>
                                        <p:strVal val="visible"/>
                                      </p:to>
                                    </p:set>
                                    <p:animEffect transition="in" filter="dissolve">
                                      <p:cBhvr>
                                        <p:cTn id="10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bldLvl="5"/>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955072838"/>
              </p:ext>
            </p:extLst>
          </p:nvPr>
        </p:nvGraphicFramePr>
        <p:xfrm>
          <a:off x="500034" y="857232"/>
          <a:ext cx="8286808" cy="4831067"/>
        </p:xfrm>
        <a:graphic>
          <a:graphicData uri="http://schemas.openxmlformats.org/drawingml/2006/table">
            <a:tbl>
              <a:tblPr/>
              <a:tblGrid>
                <a:gridCol w="597778">
                  <a:extLst>
                    <a:ext uri="{9D8B030D-6E8A-4147-A177-3AD203B41FA5}">
                      <a16:colId xmlns:a16="http://schemas.microsoft.com/office/drawing/2014/main" val="20000"/>
                    </a:ext>
                  </a:extLst>
                </a:gridCol>
                <a:gridCol w="5474452">
                  <a:extLst>
                    <a:ext uri="{9D8B030D-6E8A-4147-A177-3AD203B41FA5}">
                      <a16:colId xmlns:a16="http://schemas.microsoft.com/office/drawing/2014/main" val="20001"/>
                    </a:ext>
                  </a:extLst>
                </a:gridCol>
                <a:gridCol w="2214578">
                  <a:extLst>
                    <a:ext uri="{9D8B030D-6E8A-4147-A177-3AD203B41FA5}">
                      <a16:colId xmlns:a16="http://schemas.microsoft.com/office/drawing/2014/main" val="20002"/>
                    </a:ext>
                  </a:extLst>
                </a:gridCol>
              </a:tblGrid>
              <a:tr h="482156">
                <a:tc>
                  <a:txBody>
                    <a:bodyPr/>
                    <a:lstStyle/>
                    <a:p>
                      <a:pPr indent="-36000" algn="ctr">
                        <a:lnSpc>
                          <a:spcPct val="100000"/>
                        </a:lnSpc>
                        <a:spcAft>
                          <a:spcPts val="0"/>
                        </a:spcAft>
                      </a:pPr>
                      <a:r>
                        <a:rPr lang="en-US" sz="2400" dirty="0">
                          <a:latin typeface="Calibri"/>
                          <a:ea typeface="Arial Unicode MS"/>
                          <a:cs typeface="Arial Unicode MS"/>
                        </a:rPr>
                        <a:t>No</a:t>
                      </a:r>
                      <a:endParaRPr lang="en-US" sz="2400" dirty="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6000" algn="ctr">
                        <a:lnSpc>
                          <a:spcPct val="100000"/>
                        </a:lnSpc>
                        <a:spcAft>
                          <a:spcPts val="0"/>
                        </a:spcAft>
                      </a:pPr>
                      <a:r>
                        <a:rPr lang="en-US" sz="2400" dirty="0">
                          <a:latin typeface="Calibri"/>
                          <a:ea typeface="Arial Unicode MS"/>
                          <a:cs typeface="Arial Unicode MS"/>
                        </a:rPr>
                        <a:t>ASPEK MASA EMAS</a:t>
                      </a:r>
                      <a:endParaRPr lang="en-US" sz="2400" dirty="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6000" algn="ctr">
                        <a:lnSpc>
                          <a:spcPct val="100000"/>
                        </a:lnSpc>
                        <a:spcAft>
                          <a:spcPts val="0"/>
                        </a:spcAft>
                      </a:pPr>
                      <a:r>
                        <a:rPr lang="en-US" sz="2400" dirty="0">
                          <a:latin typeface="Calibri"/>
                          <a:ea typeface="Arial Unicode MS"/>
                          <a:cs typeface="Arial Unicode MS"/>
                        </a:rPr>
                        <a:t>KETERANGAN</a:t>
                      </a:r>
                      <a:endParaRPr lang="en-US" sz="2400" dirty="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82156">
                <a:tc>
                  <a:txBody>
                    <a:bodyPr/>
                    <a:lstStyle/>
                    <a:p>
                      <a:pPr indent="-36000" algn="ctr">
                        <a:lnSpc>
                          <a:spcPct val="100000"/>
                        </a:lnSpc>
                        <a:spcAft>
                          <a:spcPts val="0"/>
                        </a:spcAft>
                      </a:pPr>
                      <a:r>
                        <a:rPr lang="en-US" sz="2400" dirty="0">
                          <a:latin typeface="Calibri"/>
                          <a:ea typeface="Arial Unicode MS"/>
                          <a:cs typeface="Arial Unicode MS"/>
                        </a:rPr>
                        <a:t>1</a:t>
                      </a:r>
                      <a:endParaRPr lang="en-US" sz="2400" dirty="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6000" algn="l">
                        <a:lnSpc>
                          <a:spcPct val="100000"/>
                        </a:lnSpc>
                        <a:spcAft>
                          <a:spcPts val="0"/>
                        </a:spcAft>
                      </a:pPr>
                      <a:r>
                        <a:rPr lang="en-US" sz="2400" dirty="0" err="1">
                          <a:latin typeface="Calibri"/>
                          <a:ea typeface="Arial Unicode MS"/>
                          <a:cs typeface="Arial Unicode MS"/>
                        </a:rPr>
                        <a:t>Pendidikan</a:t>
                      </a:r>
                      <a:r>
                        <a:rPr lang="en-US" sz="2400" dirty="0">
                          <a:latin typeface="Calibri"/>
                          <a:ea typeface="Arial Unicode MS"/>
                          <a:cs typeface="Arial Unicode MS"/>
                        </a:rPr>
                        <a:t> </a:t>
                      </a:r>
                      <a:r>
                        <a:rPr lang="en-US" sz="2400" dirty="0" err="1">
                          <a:latin typeface="Calibri"/>
                          <a:ea typeface="Arial Unicode MS"/>
                          <a:cs typeface="Arial Unicode MS"/>
                        </a:rPr>
                        <a:t>pikiran</a:t>
                      </a:r>
                      <a:endParaRPr lang="en-US" sz="2400" dirty="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6000" algn="l">
                        <a:lnSpc>
                          <a:spcPct val="100000"/>
                        </a:lnSpc>
                        <a:spcAft>
                          <a:spcPts val="0"/>
                        </a:spcAft>
                      </a:pPr>
                      <a:r>
                        <a:rPr lang="en-US" sz="2400" dirty="0" err="1">
                          <a:latin typeface="Calibri"/>
                          <a:ea typeface="Arial Unicode MS"/>
                          <a:cs typeface="Arial Unicode MS"/>
                        </a:rPr>
                        <a:t>Bagian</a:t>
                      </a:r>
                      <a:r>
                        <a:rPr lang="en-US" sz="2400" dirty="0">
                          <a:latin typeface="Calibri"/>
                          <a:ea typeface="Arial Unicode MS"/>
                          <a:cs typeface="Arial Unicode MS"/>
                        </a:rPr>
                        <a:t> </a:t>
                      </a:r>
                      <a:r>
                        <a:rPr lang="en-US" sz="2400" dirty="0" err="1">
                          <a:latin typeface="Calibri"/>
                          <a:ea typeface="Arial Unicode MS"/>
                          <a:cs typeface="Arial Unicode MS"/>
                        </a:rPr>
                        <a:t>jasad</a:t>
                      </a:r>
                      <a:r>
                        <a:rPr lang="en-US" sz="2400" dirty="0">
                          <a:latin typeface="Calibri"/>
                          <a:ea typeface="Arial Unicode MS"/>
                          <a:cs typeface="Arial Unicode MS"/>
                        </a:rPr>
                        <a:t> </a:t>
                      </a:r>
                      <a:endParaRPr lang="en-US" sz="2400" dirty="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82156">
                <a:tc>
                  <a:txBody>
                    <a:bodyPr/>
                    <a:lstStyle/>
                    <a:p>
                      <a:pPr indent="-36000" algn="ctr">
                        <a:lnSpc>
                          <a:spcPct val="100000"/>
                        </a:lnSpc>
                        <a:spcAft>
                          <a:spcPts val="0"/>
                        </a:spcAft>
                      </a:pPr>
                      <a:r>
                        <a:rPr lang="en-US" sz="2400" dirty="0">
                          <a:latin typeface="Calibri"/>
                          <a:ea typeface="Arial Unicode MS"/>
                          <a:cs typeface="Arial Unicode MS"/>
                        </a:rPr>
                        <a:t>2</a:t>
                      </a:r>
                      <a:endParaRPr lang="en-US" sz="2400" dirty="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6000" algn="l">
                        <a:lnSpc>
                          <a:spcPct val="100000"/>
                        </a:lnSpc>
                        <a:spcAft>
                          <a:spcPts val="0"/>
                        </a:spcAft>
                      </a:pPr>
                      <a:r>
                        <a:rPr lang="en-US" sz="2400">
                          <a:latin typeface="Calibri"/>
                          <a:ea typeface="Arial Unicode MS"/>
                          <a:cs typeface="Arial Unicode MS"/>
                        </a:rPr>
                        <a:t>Tauhid asma’ wa sifat</a:t>
                      </a:r>
                      <a:endParaRPr lang="en-US" sz="240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6000" algn="l">
                        <a:lnSpc>
                          <a:spcPct val="100000"/>
                        </a:lnSpc>
                        <a:spcAft>
                          <a:spcPts val="0"/>
                        </a:spcAft>
                      </a:pPr>
                      <a:r>
                        <a:rPr lang="en-US" sz="2400">
                          <a:latin typeface="Calibri"/>
                          <a:ea typeface="Arial Unicode MS"/>
                          <a:cs typeface="Arial Unicode MS"/>
                        </a:rPr>
                        <a:t>Tauhid </a:t>
                      </a:r>
                      <a:endParaRPr lang="en-US" sz="240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82156">
                <a:tc>
                  <a:txBody>
                    <a:bodyPr/>
                    <a:lstStyle/>
                    <a:p>
                      <a:pPr indent="-36000" algn="ctr">
                        <a:lnSpc>
                          <a:spcPct val="100000"/>
                        </a:lnSpc>
                        <a:spcAft>
                          <a:spcPts val="0"/>
                        </a:spcAft>
                      </a:pPr>
                      <a:r>
                        <a:rPr lang="en-US" sz="2400" dirty="0">
                          <a:latin typeface="Calibri"/>
                          <a:ea typeface="Arial Unicode MS"/>
                          <a:cs typeface="Arial Unicode MS"/>
                        </a:rPr>
                        <a:t>3</a:t>
                      </a:r>
                      <a:endParaRPr lang="en-US" sz="2400" dirty="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6000" algn="l">
                        <a:lnSpc>
                          <a:spcPct val="100000"/>
                        </a:lnSpc>
                        <a:spcAft>
                          <a:spcPts val="0"/>
                        </a:spcAft>
                      </a:pPr>
                      <a:r>
                        <a:rPr lang="en-US" sz="2400">
                          <a:latin typeface="Calibri"/>
                          <a:ea typeface="Arial Unicode MS"/>
                          <a:cs typeface="Arial Unicode MS"/>
                        </a:rPr>
                        <a:t>Roja’ (harapan)</a:t>
                      </a:r>
                      <a:endParaRPr lang="en-US" sz="240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6000" algn="l">
                        <a:lnSpc>
                          <a:spcPct val="100000"/>
                        </a:lnSpc>
                        <a:spcAft>
                          <a:spcPts val="0"/>
                        </a:spcAft>
                      </a:pPr>
                      <a:r>
                        <a:rPr lang="en-US" sz="2400">
                          <a:latin typeface="Calibri"/>
                          <a:ea typeface="Arial Unicode MS"/>
                          <a:cs typeface="Arial Unicode MS"/>
                        </a:rPr>
                        <a:t>Rukun ibadah </a:t>
                      </a:r>
                      <a:endParaRPr lang="en-US" sz="240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82156">
                <a:tc>
                  <a:txBody>
                    <a:bodyPr/>
                    <a:lstStyle/>
                    <a:p>
                      <a:pPr indent="-36000" algn="ctr">
                        <a:lnSpc>
                          <a:spcPct val="100000"/>
                        </a:lnSpc>
                        <a:spcAft>
                          <a:spcPts val="0"/>
                        </a:spcAft>
                      </a:pPr>
                      <a:r>
                        <a:rPr lang="en-US" sz="2400" dirty="0">
                          <a:latin typeface="Calibri"/>
                          <a:ea typeface="Arial Unicode MS"/>
                          <a:cs typeface="Arial Unicode MS"/>
                        </a:rPr>
                        <a:t>4</a:t>
                      </a:r>
                      <a:endParaRPr lang="en-US" sz="2400" dirty="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6000" algn="l">
                        <a:lnSpc>
                          <a:spcPct val="100000"/>
                        </a:lnSpc>
                        <a:spcAft>
                          <a:spcPts val="0"/>
                        </a:spcAft>
                      </a:pPr>
                      <a:r>
                        <a:rPr lang="en-US" sz="2400">
                          <a:latin typeface="Calibri"/>
                          <a:ea typeface="Arial Unicode MS"/>
                          <a:cs typeface="Arial Unicode MS"/>
                        </a:rPr>
                        <a:t>Kognitif</a:t>
                      </a:r>
                      <a:endParaRPr lang="en-US" sz="240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6000" algn="l">
                        <a:lnSpc>
                          <a:spcPct val="100000"/>
                        </a:lnSpc>
                        <a:spcAft>
                          <a:spcPts val="0"/>
                        </a:spcAft>
                      </a:pPr>
                      <a:r>
                        <a:rPr lang="en-US" sz="2400">
                          <a:latin typeface="Calibri"/>
                          <a:ea typeface="Arial Unicode MS"/>
                          <a:cs typeface="Arial Unicode MS"/>
                        </a:rPr>
                        <a:t>Unsur diri </a:t>
                      </a:r>
                      <a:endParaRPr lang="en-US" sz="240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82156">
                <a:tc>
                  <a:txBody>
                    <a:bodyPr/>
                    <a:lstStyle/>
                    <a:p>
                      <a:pPr indent="-36000" algn="ctr">
                        <a:lnSpc>
                          <a:spcPct val="100000"/>
                        </a:lnSpc>
                        <a:spcAft>
                          <a:spcPts val="0"/>
                        </a:spcAft>
                      </a:pPr>
                      <a:r>
                        <a:rPr lang="en-US" sz="2400" dirty="0">
                          <a:latin typeface="Calibri"/>
                          <a:ea typeface="Arial Unicode MS"/>
                          <a:cs typeface="Arial Unicode MS"/>
                        </a:rPr>
                        <a:t>5</a:t>
                      </a:r>
                      <a:endParaRPr lang="en-US" sz="2400" dirty="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6000" algn="l">
                        <a:lnSpc>
                          <a:spcPct val="100000"/>
                        </a:lnSpc>
                        <a:spcAft>
                          <a:spcPts val="0"/>
                        </a:spcAft>
                      </a:pPr>
                      <a:r>
                        <a:rPr lang="en-US" sz="2400" dirty="0">
                          <a:latin typeface="Calibri"/>
                          <a:ea typeface="Arial Unicode MS"/>
                        </a:rPr>
                        <a:t>An </a:t>
                      </a:r>
                      <a:r>
                        <a:rPr lang="en-US" sz="2400" dirty="0" err="1">
                          <a:latin typeface="Calibri"/>
                          <a:ea typeface="Arial Unicode MS"/>
                        </a:rPr>
                        <a:t>Nafsul</a:t>
                      </a:r>
                      <a:r>
                        <a:rPr lang="en-US" sz="2400" dirty="0">
                          <a:latin typeface="Calibri"/>
                          <a:ea typeface="Arial Unicode MS"/>
                        </a:rPr>
                        <a:t> </a:t>
                      </a:r>
                      <a:r>
                        <a:rPr lang="en-US" sz="2400" dirty="0" err="1">
                          <a:latin typeface="Calibri"/>
                          <a:ea typeface="Arial Unicode MS"/>
                        </a:rPr>
                        <a:t>Lawwamah</a:t>
                      </a:r>
                      <a:endParaRPr lang="en-US" sz="2400" dirty="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6000" algn="l">
                        <a:lnSpc>
                          <a:spcPct val="100000"/>
                        </a:lnSpc>
                        <a:spcAft>
                          <a:spcPts val="0"/>
                        </a:spcAft>
                      </a:pPr>
                      <a:r>
                        <a:rPr lang="en-US" sz="2400" dirty="0" err="1">
                          <a:latin typeface="Calibri"/>
                          <a:ea typeface="Arial Unicode MS"/>
                        </a:rPr>
                        <a:t>Struktur</a:t>
                      </a:r>
                      <a:r>
                        <a:rPr lang="en-US" sz="2400" dirty="0">
                          <a:latin typeface="Calibri"/>
                          <a:ea typeface="Arial Unicode MS"/>
                        </a:rPr>
                        <a:t> </a:t>
                      </a:r>
                      <a:r>
                        <a:rPr lang="en-US" sz="2400" dirty="0" err="1">
                          <a:latin typeface="Calibri"/>
                          <a:ea typeface="Arial Unicode MS"/>
                        </a:rPr>
                        <a:t>jiwa</a:t>
                      </a:r>
                      <a:endParaRPr lang="en-US" sz="2400" dirty="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724455">
                <a:tc>
                  <a:txBody>
                    <a:bodyPr/>
                    <a:lstStyle/>
                    <a:p>
                      <a:pPr indent="-36000" algn="ctr">
                        <a:lnSpc>
                          <a:spcPct val="100000"/>
                        </a:lnSpc>
                        <a:spcAft>
                          <a:spcPts val="0"/>
                        </a:spcAft>
                      </a:pPr>
                      <a:r>
                        <a:rPr lang="en-US" sz="2400" dirty="0">
                          <a:latin typeface="Calibri"/>
                          <a:ea typeface="Arial Unicode MS"/>
                          <a:cs typeface="Arial Unicode MS"/>
                        </a:rPr>
                        <a:t>6</a:t>
                      </a:r>
                      <a:endParaRPr lang="en-US" sz="2400" dirty="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6000" algn="l">
                        <a:lnSpc>
                          <a:spcPct val="100000"/>
                        </a:lnSpc>
                        <a:spcAft>
                          <a:spcPts val="0"/>
                        </a:spcAft>
                      </a:pPr>
                      <a:r>
                        <a:rPr lang="en-US" sz="2400" dirty="0">
                          <a:latin typeface="Calibri"/>
                          <a:ea typeface="Arial Unicode MS"/>
                          <a:cs typeface="Arial Unicode MS"/>
                        </a:rPr>
                        <a:t>Gaya  </a:t>
                      </a:r>
                      <a:r>
                        <a:rPr lang="en-US" sz="2400" dirty="0" err="1">
                          <a:latin typeface="Calibri"/>
                          <a:ea typeface="Arial Unicode MS"/>
                          <a:cs typeface="Arial Unicode MS"/>
                        </a:rPr>
                        <a:t>belajar</a:t>
                      </a:r>
                      <a:r>
                        <a:rPr lang="en-US" sz="2400" dirty="0">
                          <a:latin typeface="Calibri"/>
                          <a:ea typeface="Arial Unicode MS"/>
                          <a:cs typeface="Arial Unicode MS"/>
                        </a:rPr>
                        <a:t> </a:t>
                      </a:r>
                      <a:endParaRPr lang="en-US" sz="2400" dirty="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6000" algn="l">
                        <a:lnSpc>
                          <a:spcPct val="100000"/>
                        </a:lnSpc>
                        <a:spcAft>
                          <a:spcPts val="0"/>
                        </a:spcAft>
                      </a:pPr>
                      <a:r>
                        <a:rPr lang="en-US" sz="2400">
                          <a:latin typeface="Calibri"/>
                          <a:ea typeface="Arial Unicode MS"/>
                          <a:cs typeface="Arial Unicode MS"/>
                        </a:rPr>
                        <a:t>Karakter Belajar </a:t>
                      </a:r>
                      <a:endParaRPr lang="en-US" sz="240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724455">
                <a:tc>
                  <a:txBody>
                    <a:bodyPr/>
                    <a:lstStyle/>
                    <a:p>
                      <a:pPr indent="-36000" algn="ctr">
                        <a:lnSpc>
                          <a:spcPct val="100000"/>
                        </a:lnSpc>
                        <a:spcAft>
                          <a:spcPts val="0"/>
                        </a:spcAft>
                      </a:pPr>
                      <a:r>
                        <a:rPr lang="en-US" sz="2400" dirty="0">
                          <a:latin typeface="Calibri"/>
                          <a:ea typeface="Arial Unicode MS"/>
                          <a:cs typeface="Arial Unicode MS"/>
                        </a:rPr>
                        <a:t>7</a:t>
                      </a:r>
                      <a:endParaRPr lang="en-US" sz="2400" dirty="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6000" algn="l">
                        <a:lnSpc>
                          <a:spcPct val="100000"/>
                        </a:lnSpc>
                        <a:spcAft>
                          <a:spcPts val="0"/>
                        </a:spcAft>
                      </a:pPr>
                      <a:r>
                        <a:rPr lang="en-US" sz="2400" dirty="0" err="1">
                          <a:latin typeface="Calibri"/>
                          <a:ea typeface="Arial Unicode MS"/>
                          <a:cs typeface="Arial Unicode MS"/>
                        </a:rPr>
                        <a:t>Kesukaan</a:t>
                      </a:r>
                      <a:r>
                        <a:rPr lang="en-US" sz="2400" dirty="0">
                          <a:latin typeface="Calibri"/>
                          <a:ea typeface="Arial Unicode MS"/>
                          <a:cs typeface="Arial Unicode MS"/>
                        </a:rPr>
                        <a:t> </a:t>
                      </a:r>
                      <a:r>
                        <a:rPr lang="en-US" sz="2400" dirty="0" err="1">
                          <a:latin typeface="Calibri"/>
                          <a:ea typeface="Arial Unicode MS"/>
                          <a:cs typeface="Arial Unicode MS"/>
                        </a:rPr>
                        <a:t>dan</a:t>
                      </a:r>
                      <a:r>
                        <a:rPr lang="en-US" sz="2400" dirty="0">
                          <a:latin typeface="Calibri"/>
                          <a:ea typeface="Arial Unicode MS"/>
                          <a:cs typeface="Arial Unicode MS"/>
                        </a:rPr>
                        <a:t> </a:t>
                      </a:r>
                      <a:r>
                        <a:rPr lang="en-US" sz="2400" dirty="0" err="1">
                          <a:latin typeface="Calibri"/>
                          <a:ea typeface="Arial Unicode MS"/>
                          <a:cs typeface="Arial Unicode MS"/>
                        </a:rPr>
                        <a:t>kebisaaan</a:t>
                      </a:r>
                      <a:r>
                        <a:rPr lang="en-US" sz="2400" dirty="0">
                          <a:latin typeface="Calibri"/>
                          <a:ea typeface="Arial Unicode MS"/>
                          <a:cs typeface="Arial Unicode MS"/>
                        </a:rPr>
                        <a:t>  </a:t>
                      </a:r>
                      <a:r>
                        <a:rPr lang="en-US" sz="2400" dirty="0" err="1">
                          <a:latin typeface="Calibri"/>
                          <a:ea typeface="Arial Unicode MS"/>
                          <a:cs typeface="Arial Unicode MS"/>
                        </a:rPr>
                        <a:t>dalam</a:t>
                      </a:r>
                      <a:r>
                        <a:rPr lang="en-US" sz="2400" dirty="0">
                          <a:latin typeface="Calibri"/>
                          <a:ea typeface="Arial Unicode MS"/>
                          <a:cs typeface="Arial Unicode MS"/>
                        </a:rPr>
                        <a:t>  </a:t>
                      </a:r>
                      <a:r>
                        <a:rPr lang="en-US" sz="2400" dirty="0" err="1">
                          <a:latin typeface="Calibri"/>
                          <a:ea typeface="Arial Unicode MS"/>
                          <a:cs typeface="Arial Unicode MS"/>
                        </a:rPr>
                        <a:t>bakat</a:t>
                      </a:r>
                      <a:r>
                        <a:rPr lang="en-US" sz="2400" dirty="0">
                          <a:latin typeface="Calibri"/>
                          <a:ea typeface="Arial Unicode MS"/>
                          <a:cs typeface="Arial Unicode MS"/>
                        </a:rPr>
                        <a:t> (</a:t>
                      </a:r>
                      <a:r>
                        <a:rPr lang="en-US" sz="2400" dirty="0" err="1">
                          <a:latin typeface="Calibri"/>
                          <a:ea typeface="Arial Unicode MS"/>
                          <a:cs typeface="Arial Unicode MS"/>
                        </a:rPr>
                        <a:t>suka</a:t>
                      </a:r>
                      <a:r>
                        <a:rPr lang="en-US" sz="2400" dirty="0">
                          <a:latin typeface="Calibri"/>
                          <a:ea typeface="Arial Unicode MS"/>
                          <a:cs typeface="Arial Unicode MS"/>
                        </a:rPr>
                        <a:t> </a:t>
                      </a:r>
                      <a:r>
                        <a:rPr lang="en-US" sz="2400" dirty="0" err="1">
                          <a:latin typeface="Calibri"/>
                          <a:ea typeface="Arial Unicode MS"/>
                          <a:cs typeface="Arial Unicode MS"/>
                        </a:rPr>
                        <a:t>dan</a:t>
                      </a:r>
                      <a:r>
                        <a:rPr lang="en-US" sz="2400" dirty="0">
                          <a:latin typeface="Calibri"/>
                          <a:ea typeface="Arial Unicode MS"/>
                          <a:cs typeface="Arial Unicode MS"/>
                        </a:rPr>
                        <a:t> </a:t>
                      </a:r>
                      <a:r>
                        <a:rPr lang="en-US" sz="2400" dirty="0" err="1">
                          <a:latin typeface="Calibri"/>
                          <a:ea typeface="Arial Unicode MS"/>
                          <a:cs typeface="Arial Unicode MS"/>
                        </a:rPr>
                        <a:t>bisa</a:t>
                      </a:r>
                      <a:r>
                        <a:rPr lang="en-US" sz="2400" dirty="0">
                          <a:latin typeface="Calibri"/>
                          <a:ea typeface="Arial Unicode MS"/>
                          <a:cs typeface="Arial Unicode MS"/>
                        </a:rPr>
                        <a:t>)</a:t>
                      </a:r>
                      <a:endParaRPr lang="en-US" sz="2400" dirty="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6000" algn="l">
                        <a:lnSpc>
                          <a:spcPct val="100000"/>
                        </a:lnSpc>
                        <a:spcAft>
                          <a:spcPts val="0"/>
                        </a:spcAft>
                      </a:pPr>
                      <a:r>
                        <a:rPr lang="en-US" sz="2400" dirty="0" err="1">
                          <a:latin typeface="Calibri"/>
                          <a:ea typeface="Arial Unicode MS"/>
                          <a:cs typeface="Arial Unicode MS"/>
                        </a:rPr>
                        <a:t>Karakter</a:t>
                      </a:r>
                      <a:r>
                        <a:rPr lang="en-US" sz="2400" dirty="0">
                          <a:latin typeface="Calibri"/>
                          <a:ea typeface="Arial Unicode MS"/>
                          <a:cs typeface="Arial Unicode MS"/>
                        </a:rPr>
                        <a:t> </a:t>
                      </a:r>
                      <a:r>
                        <a:rPr lang="en-US" sz="2400" dirty="0" err="1">
                          <a:latin typeface="Calibri"/>
                          <a:ea typeface="Arial Unicode MS"/>
                          <a:cs typeface="Arial Unicode MS"/>
                        </a:rPr>
                        <a:t>Bakat</a:t>
                      </a:r>
                      <a:endParaRPr lang="en-US" sz="2400" dirty="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482156">
                <a:tc>
                  <a:txBody>
                    <a:bodyPr/>
                    <a:lstStyle/>
                    <a:p>
                      <a:pPr indent="-36000" algn="ctr">
                        <a:lnSpc>
                          <a:spcPct val="100000"/>
                        </a:lnSpc>
                        <a:spcAft>
                          <a:spcPts val="0"/>
                        </a:spcAft>
                      </a:pPr>
                      <a:r>
                        <a:rPr lang="en-US" sz="2400" dirty="0">
                          <a:latin typeface="Calibri"/>
                        </a:rPr>
                        <a:t>8</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6000" algn="l">
                        <a:lnSpc>
                          <a:spcPct val="100000"/>
                        </a:lnSpc>
                        <a:spcAft>
                          <a:spcPts val="0"/>
                        </a:spcAft>
                      </a:pPr>
                      <a:r>
                        <a:rPr lang="en-US" sz="2400" dirty="0" err="1">
                          <a:latin typeface="Calibri"/>
                        </a:rPr>
                        <a:t>Eksperimen</a:t>
                      </a:r>
                      <a:r>
                        <a:rPr lang="en-US" sz="2400" dirty="0">
                          <a:latin typeface="Calibri"/>
                        </a:rPr>
                        <a:t> (trial and error)</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6000" algn="l">
                        <a:lnSpc>
                          <a:spcPct val="100000"/>
                        </a:lnSpc>
                        <a:spcAft>
                          <a:spcPts val="0"/>
                        </a:spcAft>
                      </a:pPr>
                      <a:r>
                        <a:rPr lang="en-US" sz="2400" dirty="0">
                          <a:latin typeface="Calibri"/>
                        </a:rPr>
                        <a:t>Cara </a:t>
                      </a:r>
                      <a:r>
                        <a:rPr lang="en-US" sz="2400" dirty="0" err="1">
                          <a:latin typeface="Calibri"/>
                        </a:rPr>
                        <a:t>belajar</a:t>
                      </a:r>
                      <a:endParaRPr lang="en-US" sz="2400" dirty="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4" name="TextBox 3"/>
          <p:cNvSpPr txBox="1"/>
          <p:nvPr/>
        </p:nvSpPr>
        <p:spPr>
          <a:xfrm>
            <a:off x="5786478" y="-24"/>
            <a:ext cx="3357554" cy="461665"/>
          </a:xfrm>
          <a:prstGeom prst="rect">
            <a:avLst/>
          </a:prstGeom>
          <a:solidFill>
            <a:srgbClr val="00B050"/>
          </a:solidFill>
        </p:spPr>
        <p:txBody>
          <a:bodyPr wrap="square" rtlCol="0">
            <a:spAutoFit/>
          </a:bodyPr>
          <a:lstStyle/>
          <a:p>
            <a:pPr algn="ctr"/>
            <a:r>
              <a:rPr lang="en-US" sz="2400" dirty="0">
                <a:solidFill>
                  <a:schemeClr val="bg1"/>
                </a:solidFill>
              </a:rPr>
              <a:t>KELAS 1,2,3 SD</a:t>
            </a:r>
          </a:p>
        </p:txBody>
      </p:sp>
      <p:sp>
        <p:nvSpPr>
          <p:cNvPr id="5" name="Rectangle 1"/>
          <p:cNvSpPr>
            <a:spLocks noChangeArrowheads="1"/>
          </p:cNvSpPr>
          <p:nvPr/>
        </p:nvSpPr>
        <p:spPr bwMode="auto">
          <a:xfrm>
            <a:off x="428596" y="283469"/>
            <a:ext cx="5115503" cy="430887"/>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Low" defTabSz="914400" rtl="0" eaLnBrk="1" fontAlgn="base" latinLnBrk="0" hangingPunct="1">
              <a:lnSpc>
                <a:spcPct val="100000"/>
              </a:lnSpc>
              <a:spcBef>
                <a:spcPct val="0"/>
              </a:spcBef>
              <a:spcAft>
                <a:spcPct val="0"/>
              </a:spcAft>
              <a:buClrTx/>
              <a:buSzTx/>
              <a:tabLst/>
            </a:pPr>
            <a:r>
              <a:rPr kumimoji="0" lang="en-US" altLang="ja-JP" sz="2200" b="0" i="0" u="none" strike="noStrike" cap="none" normalizeH="0" baseline="0" dirty="0" err="1">
                <a:ln>
                  <a:noFill/>
                </a:ln>
                <a:solidFill>
                  <a:schemeClr val="tx1"/>
                </a:solidFill>
                <a:effectLst/>
                <a:latin typeface="Arial Unicode MS" pitchFamily="34" charset="-128"/>
                <a:ea typeface="Arial Unicode MS" pitchFamily="34" charset="-128"/>
                <a:cs typeface="Arial Unicode MS" pitchFamily="34" charset="-128"/>
              </a:rPr>
              <a:t>Masa</a:t>
            </a:r>
            <a:r>
              <a:rPr kumimoji="0" lang="en-US" altLang="ja-JP" sz="2200" b="0" i="0" u="none" strike="noStrike" cap="none" normalizeH="0" baseline="0" dirty="0">
                <a:ln>
                  <a:noFill/>
                </a:ln>
                <a:solidFill>
                  <a:schemeClr val="tx1"/>
                </a:solidFill>
                <a:effectLst/>
                <a:latin typeface="Arial Unicode MS" pitchFamily="34" charset="-128"/>
                <a:ea typeface="Arial Unicode MS" pitchFamily="34" charset="-128"/>
                <a:cs typeface="Arial Unicode MS" pitchFamily="34" charset="-128"/>
              </a:rPr>
              <a:t> </a:t>
            </a:r>
            <a:r>
              <a:rPr kumimoji="0" lang="en-US" altLang="ja-JP" sz="2200" b="0" i="0" u="none" strike="noStrike" cap="none" normalizeH="0" baseline="0" dirty="0" err="1">
                <a:ln>
                  <a:noFill/>
                </a:ln>
                <a:solidFill>
                  <a:schemeClr val="tx1"/>
                </a:solidFill>
                <a:effectLst/>
                <a:latin typeface="Arial Unicode MS" pitchFamily="34" charset="-128"/>
                <a:ea typeface="Arial Unicode MS" pitchFamily="34" charset="-128"/>
                <a:cs typeface="Arial Unicode MS" pitchFamily="34" charset="-128"/>
              </a:rPr>
              <a:t>emas</a:t>
            </a:r>
            <a:r>
              <a:rPr kumimoji="0" lang="en-US" altLang="ja-JP" sz="2200" b="0" i="0" u="none" strike="noStrike" cap="none" normalizeH="0" baseline="0" dirty="0">
                <a:ln>
                  <a:noFill/>
                </a:ln>
                <a:solidFill>
                  <a:schemeClr val="tx1"/>
                </a:solidFill>
                <a:effectLst/>
                <a:latin typeface="Arial Unicode MS" pitchFamily="34" charset="-128"/>
                <a:ea typeface="Arial Unicode MS" pitchFamily="34" charset="-128"/>
                <a:cs typeface="Arial Unicode MS" pitchFamily="34" charset="-128"/>
              </a:rPr>
              <a:t> </a:t>
            </a:r>
            <a:r>
              <a:rPr kumimoji="0" lang="en-US" altLang="ja-JP" sz="2200" b="0" i="0" u="none" strike="noStrike" cap="none" normalizeH="0" baseline="0" dirty="0" err="1">
                <a:ln>
                  <a:noFill/>
                </a:ln>
                <a:solidFill>
                  <a:schemeClr val="tx1"/>
                </a:solidFill>
                <a:effectLst/>
                <a:latin typeface="Arial Unicode MS" pitchFamily="34" charset="-128"/>
                <a:ea typeface="Arial Unicode MS" pitchFamily="34" charset="-128"/>
                <a:cs typeface="Arial Unicode MS" pitchFamily="34" charset="-128"/>
              </a:rPr>
              <a:t>pendidikan</a:t>
            </a:r>
            <a:r>
              <a:rPr kumimoji="0" lang="en-US" altLang="ja-JP" sz="2200" b="0" i="0" u="none" strike="noStrike" cap="none" normalizeH="0" baseline="0" dirty="0">
                <a:ln>
                  <a:noFill/>
                </a:ln>
                <a:solidFill>
                  <a:schemeClr val="tx1"/>
                </a:solidFill>
                <a:effectLst/>
                <a:latin typeface="Arial Unicode MS" pitchFamily="34" charset="-128"/>
                <a:ea typeface="Arial Unicode MS" pitchFamily="34" charset="-128"/>
                <a:cs typeface="Arial Unicode MS" pitchFamily="34" charset="-128"/>
              </a:rPr>
              <a:t> </a:t>
            </a:r>
            <a:r>
              <a:rPr kumimoji="0" lang="en-US" altLang="ja-JP" sz="2200" b="0" i="0" u="none" strike="noStrike" cap="none" normalizeH="0" baseline="0" dirty="0" err="1">
                <a:ln>
                  <a:noFill/>
                </a:ln>
                <a:solidFill>
                  <a:schemeClr val="tx1"/>
                </a:solidFill>
                <a:effectLst/>
                <a:latin typeface="Arial Unicode MS" pitchFamily="34" charset="-128"/>
                <a:ea typeface="Arial Unicode MS" pitchFamily="34" charset="-128"/>
                <a:cs typeface="Arial Unicode MS" pitchFamily="34" charset="-128"/>
              </a:rPr>
              <a:t>karakter</a:t>
            </a:r>
            <a:r>
              <a:rPr kumimoji="0" lang="en-US" altLang="ja-JP" sz="2200" b="0" i="0" u="none" strike="noStrike" cap="none" normalizeH="0" baseline="0" dirty="0">
                <a:ln>
                  <a:noFill/>
                </a:ln>
                <a:solidFill>
                  <a:schemeClr val="tx1"/>
                </a:solidFill>
                <a:effectLst/>
                <a:latin typeface="Arial Unicode MS" pitchFamily="34" charset="-128"/>
                <a:ea typeface="Arial Unicode MS" pitchFamily="34" charset="-128"/>
                <a:cs typeface="Arial Unicode MS" pitchFamily="34" charset="-128"/>
              </a:rPr>
              <a:t> </a:t>
            </a:r>
            <a:r>
              <a:rPr lang="en-US" altLang="ja-JP" sz="2200" dirty="0" err="1">
                <a:latin typeface="Arial Unicode MS" pitchFamily="34" charset="-128"/>
                <a:ea typeface="Arial Unicode MS" pitchFamily="34" charset="-128"/>
                <a:cs typeface="Arial Unicode MS" pitchFamily="34" charset="-128"/>
              </a:rPr>
              <a:t>belajar</a:t>
            </a:r>
            <a:endParaRPr kumimoji="0" lang="en-US" altLang="ja-JP" sz="2200" b="0" i="0" u="none" strike="noStrike" cap="none" normalizeH="0" baseline="0" dirty="0">
              <a:ln>
                <a:noFill/>
              </a:ln>
              <a:solidFill>
                <a:schemeClr val="tx1"/>
              </a:solidFill>
              <a:effectLst/>
              <a:latin typeface="Arial" pitchFamily="34" charset="0"/>
              <a:cs typeface="Arial"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sz="2800" dirty="0" err="1"/>
              <a:t>Pendidikan</a:t>
            </a:r>
            <a:r>
              <a:rPr lang="en-US" sz="2800" dirty="0"/>
              <a:t> </a:t>
            </a:r>
            <a:r>
              <a:rPr lang="en-US" sz="2800" dirty="0" err="1"/>
              <a:t>usia</a:t>
            </a:r>
            <a:r>
              <a:rPr lang="en-US" sz="2800" dirty="0"/>
              <a:t> 7-10 </a:t>
            </a:r>
            <a:r>
              <a:rPr lang="en-US" sz="2800" dirty="0" err="1"/>
              <a:t>tahun</a:t>
            </a:r>
            <a:br>
              <a:rPr lang="en-US" sz="2800" dirty="0"/>
            </a:br>
            <a:endParaRPr lang="en-US" sz="2800" dirty="0"/>
          </a:p>
        </p:txBody>
      </p:sp>
      <p:graphicFrame>
        <p:nvGraphicFramePr>
          <p:cNvPr id="3" name="Table 2"/>
          <p:cNvGraphicFramePr>
            <a:graphicFrameLocks noGrp="1"/>
          </p:cNvGraphicFramePr>
          <p:nvPr/>
        </p:nvGraphicFramePr>
        <p:xfrm>
          <a:off x="500034" y="1110060"/>
          <a:ext cx="8215370" cy="3986026"/>
        </p:xfrm>
        <a:graphic>
          <a:graphicData uri="http://schemas.openxmlformats.org/drawingml/2006/table">
            <a:tbl>
              <a:tblPr/>
              <a:tblGrid>
                <a:gridCol w="2000264">
                  <a:extLst>
                    <a:ext uri="{9D8B030D-6E8A-4147-A177-3AD203B41FA5}">
                      <a16:colId xmlns:a16="http://schemas.microsoft.com/office/drawing/2014/main" val="20000"/>
                    </a:ext>
                  </a:extLst>
                </a:gridCol>
                <a:gridCol w="6215106">
                  <a:extLst>
                    <a:ext uri="{9D8B030D-6E8A-4147-A177-3AD203B41FA5}">
                      <a16:colId xmlns:a16="http://schemas.microsoft.com/office/drawing/2014/main" val="20001"/>
                    </a:ext>
                  </a:extLst>
                </a:gridCol>
              </a:tblGrid>
              <a:tr h="571504">
                <a:tc>
                  <a:txBody>
                    <a:bodyPr/>
                    <a:lstStyle/>
                    <a:p>
                      <a:pPr algn="ctr">
                        <a:lnSpc>
                          <a:spcPct val="115000"/>
                        </a:lnSpc>
                      </a:pPr>
                      <a:r>
                        <a:rPr lang="en-US" sz="1800" dirty="0">
                          <a:latin typeface="Calibri"/>
                          <a:ea typeface="Arial Unicode MS"/>
                          <a:cs typeface="Arial Unicode MS"/>
                        </a:rPr>
                        <a:t>KARAKTER</a:t>
                      </a:r>
                      <a:endParaRPr lang="en-US" sz="1800" dirty="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alpha val="40000"/>
                      </a:srgbClr>
                    </a:solidFill>
                  </a:tcPr>
                </a:tc>
                <a:tc>
                  <a:txBody>
                    <a:bodyPr/>
                    <a:lstStyle/>
                    <a:p>
                      <a:pPr algn="ctr">
                        <a:lnSpc>
                          <a:spcPct val="115000"/>
                        </a:lnSpc>
                      </a:pPr>
                      <a:r>
                        <a:rPr lang="en-US" sz="1800" baseline="0" dirty="0">
                          <a:latin typeface="Calibri"/>
                          <a:ea typeface="Arial Unicode MS"/>
                          <a:cs typeface="Arial Unicode MS"/>
                        </a:rPr>
                        <a:t>DASAR PEMBELAJARAN</a:t>
                      </a:r>
                      <a:endParaRPr lang="en-US" sz="1800" dirty="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alpha val="40000"/>
                      </a:srgbClr>
                    </a:solidFill>
                  </a:tcPr>
                </a:tc>
                <a:extLst>
                  <a:ext uri="{0D108BD9-81ED-4DB2-BD59-A6C34878D82A}">
                    <a16:rowId xmlns:a16="http://schemas.microsoft.com/office/drawing/2014/main" val="10000"/>
                  </a:ext>
                </a:extLst>
              </a:tr>
              <a:tr h="571504">
                <a:tc>
                  <a:txBody>
                    <a:bodyPr/>
                    <a:lstStyle/>
                    <a:p>
                      <a:pPr marL="0" indent="0" algn="l">
                        <a:lnSpc>
                          <a:spcPct val="115000"/>
                        </a:lnSpc>
                      </a:pPr>
                      <a:r>
                        <a:rPr lang="en-US" sz="1800" dirty="0">
                          <a:latin typeface="Calibri"/>
                          <a:ea typeface="Arial Unicode MS"/>
                          <a:cs typeface="Arial Unicode MS"/>
                        </a:rPr>
                        <a:t>KARAKTER IMAN</a:t>
                      </a:r>
                      <a:endParaRPr lang="en-US" sz="1800" dirty="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77800" indent="-177800" algn="just">
                        <a:lnSpc>
                          <a:spcPct val="115000"/>
                        </a:lnSpc>
                        <a:buFontTx/>
                        <a:buChar char="-"/>
                      </a:pPr>
                      <a:r>
                        <a:rPr lang="en-US" sz="1800" dirty="0" err="1">
                          <a:latin typeface="Calibri"/>
                        </a:rPr>
                        <a:t>Menumbuhkan</a:t>
                      </a:r>
                      <a:r>
                        <a:rPr lang="en-US" sz="1800" dirty="0">
                          <a:latin typeface="Calibri"/>
                        </a:rPr>
                        <a:t> </a:t>
                      </a:r>
                      <a:r>
                        <a:rPr lang="en-US" sz="1800" baseline="0" dirty="0">
                          <a:latin typeface="Calibri"/>
                        </a:rPr>
                        <a:t> </a:t>
                      </a:r>
                      <a:r>
                        <a:rPr lang="en-US" sz="1800" baseline="0" dirty="0" err="1">
                          <a:latin typeface="Calibri"/>
                        </a:rPr>
                        <a:t>kesadaran</a:t>
                      </a:r>
                      <a:r>
                        <a:rPr lang="en-US" sz="1800" baseline="0" dirty="0">
                          <a:latin typeface="Calibri"/>
                        </a:rPr>
                        <a:t>  </a:t>
                      </a:r>
                      <a:r>
                        <a:rPr lang="en-US" sz="1800" baseline="0" dirty="0" err="1">
                          <a:latin typeface="Calibri"/>
                        </a:rPr>
                        <a:t>tentang</a:t>
                      </a:r>
                      <a:r>
                        <a:rPr lang="en-US" sz="1800" baseline="0" dirty="0">
                          <a:latin typeface="Calibri"/>
                        </a:rPr>
                        <a:t> </a:t>
                      </a:r>
                      <a:r>
                        <a:rPr lang="en-US" sz="1800" baseline="0" dirty="0" err="1">
                          <a:latin typeface="Calibri"/>
                        </a:rPr>
                        <a:t>Asma</a:t>
                      </a:r>
                      <a:r>
                        <a:rPr lang="en-US" sz="1800" baseline="0" dirty="0">
                          <a:latin typeface="Calibri"/>
                        </a:rPr>
                        <a:t>’ </a:t>
                      </a:r>
                      <a:r>
                        <a:rPr lang="en-US" sz="1800" baseline="0" dirty="0" err="1">
                          <a:latin typeface="Calibri"/>
                        </a:rPr>
                        <a:t>dan</a:t>
                      </a:r>
                      <a:r>
                        <a:rPr lang="en-US" sz="1800" baseline="0" dirty="0">
                          <a:latin typeface="Calibri"/>
                        </a:rPr>
                        <a:t> </a:t>
                      </a:r>
                      <a:r>
                        <a:rPr lang="en-US" sz="1800" baseline="0" dirty="0" err="1">
                          <a:latin typeface="Calibri"/>
                        </a:rPr>
                        <a:t>Sifat</a:t>
                      </a:r>
                      <a:r>
                        <a:rPr lang="en-US" sz="1800" baseline="0" dirty="0">
                          <a:latin typeface="Calibri"/>
                        </a:rPr>
                        <a:t> Allah</a:t>
                      </a:r>
                    </a:p>
                    <a:p>
                      <a:pPr marL="177800" indent="-177800" algn="just">
                        <a:lnSpc>
                          <a:spcPct val="115000"/>
                        </a:lnSpc>
                        <a:buFontTx/>
                        <a:buChar char="-"/>
                      </a:pPr>
                      <a:r>
                        <a:rPr lang="en-US" sz="1800" baseline="0" dirty="0" err="1">
                          <a:latin typeface="Calibri"/>
                        </a:rPr>
                        <a:t>Menumbuhkan</a:t>
                      </a:r>
                      <a:r>
                        <a:rPr lang="en-US" sz="1800" baseline="0" dirty="0">
                          <a:latin typeface="Calibri"/>
                        </a:rPr>
                        <a:t>  </a:t>
                      </a:r>
                      <a:r>
                        <a:rPr lang="en-US" sz="1800" baseline="0" dirty="0" err="1">
                          <a:latin typeface="Calibri"/>
                        </a:rPr>
                        <a:t>pemahaman</a:t>
                      </a:r>
                      <a:r>
                        <a:rPr lang="en-US" sz="1800" baseline="0" dirty="0">
                          <a:latin typeface="Calibri"/>
                        </a:rPr>
                        <a:t> </a:t>
                      </a:r>
                      <a:r>
                        <a:rPr lang="en-US" sz="1800" baseline="0" dirty="0" err="1">
                          <a:latin typeface="Calibri"/>
                        </a:rPr>
                        <a:t>terhadap</a:t>
                      </a:r>
                      <a:r>
                        <a:rPr lang="en-US" sz="1800" baseline="0" dirty="0">
                          <a:latin typeface="Calibri"/>
                        </a:rPr>
                        <a:t> </a:t>
                      </a:r>
                      <a:r>
                        <a:rPr lang="en-US" sz="1800" baseline="0" dirty="0" err="1">
                          <a:latin typeface="Calibri"/>
                        </a:rPr>
                        <a:t>Asma</a:t>
                      </a:r>
                      <a:r>
                        <a:rPr lang="en-US" sz="1800" baseline="0" dirty="0">
                          <a:latin typeface="Calibri"/>
                        </a:rPr>
                        <a:t>’ </a:t>
                      </a:r>
                      <a:r>
                        <a:rPr lang="en-US" sz="1800" baseline="0" dirty="0" err="1">
                          <a:latin typeface="Calibri"/>
                        </a:rPr>
                        <a:t>dan</a:t>
                      </a:r>
                      <a:r>
                        <a:rPr lang="en-US" sz="1800" baseline="0" dirty="0">
                          <a:latin typeface="Calibri"/>
                        </a:rPr>
                        <a:t> </a:t>
                      </a:r>
                      <a:r>
                        <a:rPr lang="en-US" sz="1800" baseline="0" dirty="0" err="1">
                          <a:latin typeface="Calibri"/>
                        </a:rPr>
                        <a:t>Sifat</a:t>
                      </a:r>
                      <a:r>
                        <a:rPr lang="en-US" sz="1800" baseline="0" dirty="0">
                          <a:latin typeface="Calibri"/>
                        </a:rPr>
                        <a:t> Allah, </a:t>
                      </a:r>
                      <a:r>
                        <a:rPr lang="en-US" sz="1800" baseline="0" dirty="0" err="1">
                          <a:latin typeface="Calibri"/>
                        </a:rPr>
                        <a:t>mengenalkan</a:t>
                      </a:r>
                      <a:r>
                        <a:rPr lang="en-US" sz="1800" baseline="0" dirty="0">
                          <a:latin typeface="Calibri"/>
                        </a:rPr>
                        <a:t> </a:t>
                      </a:r>
                      <a:r>
                        <a:rPr lang="en-US" sz="1800" baseline="0" dirty="0" err="1">
                          <a:latin typeface="Calibri"/>
                        </a:rPr>
                        <a:t>aturan</a:t>
                      </a:r>
                      <a:r>
                        <a:rPr lang="en-US" sz="1800" baseline="0" dirty="0">
                          <a:latin typeface="Calibri"/>
                        </a:rPr>
                        <a:t>, </a:t>
                      </a:r>
                      <a:r>
                        <a:rPr lang="en-US" sz="1800" baseline="0" dirty="0" err="1">
                          <a:latin typeface="Calibri"/>
                        </a:rPr>
                        <a:t>perintah</a:t>
                      </a:r>
                      <a:r>
                        <a:rPr lang="en-US" sz="1800" baseline="0" dirty="0">
                          <a:latin typeface="Calibri"/>
                        </a:rPr>
                        <a:t> </a:t>
                      </a:r>
                      <a:r>
                        <a:rPr lang="en-US" sz="1800" baseline="0" dirty="0" err="1">
                          <a:latin typeface="Calibri"/>
                        </a:rPr>
                        <a:t>dan</a:t>
                      </a:r>
                      <a:r>
                        <a:rPr lang="en-US" sz="1800" baseline="0" dirty="0">
                          <a:latin typeface="Calibri"/>
                        </a:rPr>
                        <a:t> </a:t>
                      </a:r>
                      <a:r>
                        <a:rPr lang="en-US" sz="1800" baseline="0" dirty="0" err="1">
                          <a:latin typeface="Calibri"/>
                        </a:rPr>
                        <a:t>larangan</a:t>
                      </a:r>
                      <a:r>
                        <a:rPr lang="en-US" sz="1800" baseline="0" dirty="0">
                          <a:latin typeface="Calibri"/>
                        </a:rPr>
                        <a:t> </a:t>
                      </a:r>
                    </a:p>
                    <a:p>
                      <a:pPr marL="177800" indent="-177800" algn="just">
                        <a:lnSpc>
                          <a:spcPct val="115000"/>
                        </a:lnSpc>
                        <a:buFontTx/>
                        <a:buChar char="-"/>
                      </a:pPr>
                      <a:r>
                        <a:rPr lang="en-US" sz="1800" dirty="0" err="1">
                          <a:latin typeface="Calibri"/>
                        </a:rPr>
                        <a:t>Melatih</a:t>
                      </a:r>
                      <a:r>
                        <a:rPr lang="en-US" sz="1800" baseline="0" dirty="0">
                          <a:latin typeface="Calibri"/>
                        </a:rPr>
                        <a:t> </a:t>
                      </a:r>
                      <a:r>
                        <a:rPr lang="en-US" sz="1800" baseline="0" dirty="0" err="1">
                          <a:latin typeface="Calibri"/>
                        </a:rPr>
                        <a:t>untuk</a:t>
                      </a:r>
                      <a:r>
                        <a:rPr lang="en-US" sz="1800" baseline="0" dirty="0">
                          <a:latin typeface="Calibri"/>
                        </a:rPr>
                        <a:t> </a:t>
                      </a:r>
                      <a:r>
                        <a:rPr lang="en-US" sz="1800" baseline="0" dirty="0" err="1">
                          <a:latin typeface="Calibri"/>
                        </a:rPr>
                        <a:t>berperilaku</a:t>
                      </a:r>
                      <a:r>
                        <a:rPr lang="en-US" sz="1800" baseline="0" dirty="0">
                          <a:latin typeface="Calibri"/>
                        </a:rPr>
                        <a:t> </a:t>
                      </a:r>
                      <a:r>
                        <a:rPr lang="en-US" sz="1800" baseline="0" dirty="0" err="1">
                          <a:latin typeface="Calibri"/>
                        </a:rPr>
                        <a:t>sesuai</a:t>
                      </a:r>
                      <a:r>
                        <a:rPr lang="en-US" sz="1800" baseline="0" dirty="0">
                          <a:latin typeface="Calibri"/>
                        </a:rPr>
                        <a:t> </a:t>
                      </a:r>
                      <a:r>
                        <a:rPr lang="en-US" sz="1800" baseline="0" dirty="0" err="1">
                          <a:latin typeface="Calibri"/>
                        </a:rPr>
                        <a:t>kesadaran</a:t>
                      </a:r>
                      <a:r>
                        <a:rPr lang="en-US" sz="1800" baseline="0" dirty="0">
                          <a:latin typeface="Calibri"/>
                        </a:rPr>
                        <a:t> </a:t>
                      </a:r>
                      <a:r>
                        <a:rPr lang="en-US" sz="1800" baseline="0" dirty="0" err="1">
                          <a:latin typeface="Calibri"/>
                        </a:rPr>
                        <a:t>dan</a:t>
                      </a:r>
                      <a:r>
                        <a:rPr lang="en-US" sz="1800" baseline="0" dirty="0">
                          <a:latin typeface="Calibri"/>
                        </a:rPr>
                        <a:t> </a:t>
                      </a:r>
                      <a:r>
                        <a:rPr lang="en-US" sz="1800" baseline="0" dirty="0" err="1">
                          <a:latin typeface="Calibri"/>
                        </a:rPr>
                        <a:t>pemahamannya</a:t>
                      </a:r>
                      <a:r>
                        <a:rPr lang="en-US" sz="1800" baseline="0" dirty="0">
                          <a:latin typeface="Calibri"/>
                        </a:rPr>
                        <a:t> </a:t>
                      </a:r>
                      <a:r>
                        <a:rPr lang="en-US" sz="1800" baseline="0" dirty="0" err="1">
                          <a:latin typeface="Calibri"/>
                        </a:rPr>
                        <a:t>terhadap</a:t>
                      </a:r>
                      <a:r>
                        <a:rPr lang="en-US" sz="1800" baseline="0" dirty="0">
                          <a:latin typeface="Calibri"/>
                        </a:rPr>
                        <a:t> </a:t>
                      </a:r>
                      <a:r>
                        <a:rPr lang="en-US" sz="1800" baseline="0" dirty="0" err="1">
                          <a:latin typeface="Calibri"/>
                        </a:rPr>
                        <a:t>Asma</a:t>
                      </a:r>
                      <a:r>
                        <a:rPr lang="en-US" sz="1800" baseline="0" dirty="0">
                          <a:latin typeface="Calibri"/>
                        </a:rPr>
                        <a:t>’ </a:t>
                      </a:r>
                      <a:r>
                        <a:rPr lang="en-US" sz="1800" baseline="0" dirty="0" err="1">
                          <a:latin typeface="Calibri"/>
                        </a:rPr>
                        <a:t>dan</a:t>
                      </a:r>
                      <a:r>
                        <a:rPr lang="en-US" sz="1800" baseline="0" dirty="0">
                          <a:latin typeface="Calibri"/>
                        </a:rPr>
                        <a:t> </a:t>
                      </a:r>
                      <a:r>
                        <a:rPr lang="en-US" sz="1800" baseline="0" dirty="0" err="1">
                          <a:latin typeface="Calibri"/>
                        </a:rPr>
                        <a:t>sifat</a:t>
                      </a:r>
                      <a:r>
                        <a:rPr lang="en-US" sz="1800" baseline="0" dirty="0">
                          <a:latin typeface="Calibri"/>
                        </a:rPr>
                        <a:t> Allah</a:t>
                      </a:r>
                      <a:endParaRPr lang="en-US" sz="1800" dirty="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71504">
                <a:tc>
                  <a:txBody>
                    <a:bodyPr/>
                    <a:lstStyle/>
                    <a:p>
                      <a:pPr marL="0" indent="0" algn="l">
                        <a:lnSpc>
                          <a:spcPct val="115000"/>
                        </a:lnSpc>
                      </a:pPr>
                      <a:r>
                        <a:rPr lang="en-US" sz="1800" dirty="0">
                          <a:latin typeface="Calibri"/>
                          <a:ea typeface="Arial Unicode MS"/>
                          <a:cs typeface="Arial Unicode MS"/>
                        </a:rPr>
                        <a:t>KARAKTER BELAJAR</a:t>
                      </a:r>
                      <a:endParaRPr lang="en-US" sz="1800" dirty="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77800" indent="-177800" algn="just">
                        <a:lnSpc>
                          <a:spcPct val="115000"/>
                        </a:lnSpc>
                        <a:buFontTx/>
                        <a:buChar char="-"/>
                      </a:pPr>
                      <a:r>
                        <a:rPr lang="en-US" sz="1800" baseline="0" dirty="0" err="1">
                          <a:latin typeface="Calibri"/>
                          <a:ea typeface="Arial Unicode MS"/>
                          <a:cs typeface="Arial Unicode MS"/>
                        </a:rPr>
                        <a:t>Belajar</a:t>
                      </a:r>
                      <a:r>
                        <a:rPr lang="en-US" sz="1800" baseline="0" dirty="0">
                          <a:latin typeface="Calibri"/>
                          <a:ea typeface="Arial Unicode MS"/>
                          <a:cs typeface="Arial Unicode MS"/>
                        </a:rPr>
                        <a:t> </a:t>
                      </a:r>
                      <a:r>
                        <a:rPr lang="en-US" sz="1800" baseline="0" dirty="0" err="1">
                          <a:latin typeface="Calibri"/>
                          <a:ea typeface="Arial Unicode MS"/>
                          <a:cs typeface="Arial Unicode MS"/>
                        </a:rPr>
                        <a:t>bersama</a:t>
                      </a:r>
                      <a:r>
                        <a:rPr lang="en-US" sz="1800" baseline="0" dirty="0">
                          <a:latin typeface="Calibri"/>
                          <a:ea typeface="Arial Unicode MS"/>
                          <a:cs typeface="Arial Unicode MS"/>
                        </a:rPr>
                        <a:t> </a:t>
                      </a:r>
                      <a:r>
                        <a:rPr lang="en-US" sz="1800" baseline="0" dirty="0" err="1">
                          <a:latin typeface="Calibri"/>
                          <a:ea typeface="Arial Unicode MS"/>
                          <a:cs typeface="Arial Unicode MS"/>
                        </a:rPr>
                        <a:t>teman</a:t>
                      </a:r>
                      <a:endParaRPr lang="en-US" sz="1800" baseline="0" dirty="0">
                        <a:latin typeface="Calibri"/>
                        <a:ea typeface="Arial Unicode MS"/>
                        <a:cs typeface="Arial Unicode MS"/>
                      </a:endParaRPr>
                    </a:p>
                    <a:p>
                      <a:pPr marL="177800" indent="-177800" algn="just">
                        <a:lnSpc>
                          <a:spcPct val="115000"/>
                        </a:lnSpc>
                        <a:buFontTx/>
                        <a:buChar char="-"/>
                      </a:pPr>
                      <a:r>
                        <a:rPr lang="en-US" sz="1800" baseline="0" dirty="0" err="1">
                          <a:latin typeface="Calibri"/>
                          <a:ea typeface="Arial Unicode MS"/>
                          <a:cs typeface="Arial Unicode MS"/>
                        </a:rPr>
                        <a:t>Belajar</a:t>
                      </a:r>
                      <a:r>
                        <a:rPr lang="en-US" sz="1800" baseline="0" dirty="0">
                          <a:latin typeface="Calibri"/>
                          <a:ea typeface="Arial Unicode MS"/>
                          <a:cs typeface="Arial Unicode MS"/>
                        </a:rPr>
                        <a:t> </a:t>
                      </a:r>
                      <a:r>
                        <a:rPr lang="en-US" sz="1800" baseline="0" dirty="0" err="1">
                          <a:latin typeface="Calibri"/>
                          <a:ea typeface="Arial Unicode MS"/>
                          <a:cs typeface="Arial Unicode MS"/>
                        </a:rPr>
                        <a:t>dengan</a:t>
                      </a:r>
                      <a:r>
                        <a:rPr lang="en-US" sz="1800" baseline="0" dirty="0">
                          <a:latin typeface="Calibri"/>
                          <a:ea typeface="Arial Unicode MS"/>
                          <a:cs typeface="Arial Unicode MS"/>
                        </a:rPr>
                        <a:t> </a:t>
                      </a:r>
                      <a:r>
                        <a:rPr lang="en-US" sz="1800" baseline="0" dirty="0" err="1">
                          <a:latin typeface="Calibri"/>
                          <a:ea typeface="Arial Unicode MS"/>
                          <a:cs typeface="Arial Unicode MS"/>
                        </a:rPr>
                        <a:t>bernalar</a:t>
                      </a:r>
                      <a:endParaRPr lang="en-US" sz="1800" baseline="0" dirty="0">
                        <a:latin typeface="Calibri"/>
                        <a:ea typeface="Arial Unicode MS"/>
                        <a:cs typeface="Arial Unicode MS"/>
                      </a:endParaRPr>
                    </a:p>
                    <a:p>
                      <a:pPr marL="177800" indent="-177800" algn="just">
                        <a:lnSpc>
                          <a:spcPct val="115000"/>
                        </a:lnSpc>
                        <a:buFontTx/>
                        <a:buChar char="-"/>
                      </a:pPr>
                      <a:r>
                        <a:rPr lang="en-US" sz="1800" baseline="0" dirty="0" err="1">
                          <a:latin typeface="Calibri"/>
                          <a:ea typeface="Arial Unicode MS"/>
                          <a:cs typeface="Arial Unicode MS"/>
                        </a:rPr>
                        <a:t>Belajar</a:t>
                      </a:r>
                      <a:r>
                        <a:rPr lang="en-US" sz="1800" baseline="0" dirty="0">
                          <a:latin typeface="Calibri"/>
                          <a:ea typeface="Arial Unicode MS"/>
                          <a:cs typeface="Arial Unicode MS"/>
                        </a:rPr>
                        <a:t> </a:t>
                      </a:r>
                      <a:r>
                        <a:rPr lang="en-US" sz="1800" baseline="0" dirty="0" err="1">
                          <a:latin typeface="Calibri"/>
                          <a:ea typeface="Arial Unicode MS"/>
                          <a:cs typeface="Arial Unicode MS"/>
                        </a:rPr>
                        <a:t>dengan</a:t>
                      </a:r>
                      <a:r>
                        <a:rPr lang="en-US" sz="1800" baseline="0" dirty="0">
                          <a:latin typeface="Calibri"/>
                          <a:ea typeface="Arial Unicode MS"/>
                          <a:cs typeface="Arial Unicode MS"/>
                        </a:rPr>
                        <a:t> </a:t>
                      </a:r>
                      <a:r>
                        <a:rPr lang="en-US" sz="1800" baseline="0" dirty="0" err="1">
                          <a:latin typeface="Calibri"/>
                          <a:ea typeface="Arial Unicode MS"/>
                          <a:cs typeface="Arial Unicode MS"/>
                        </a:rPr>
                        <a:t>beraktifitas</a:t>
                      </a:r>
                      <a:r>
                        <a:rPr lang="en-US" sz="1800" baseline="0" dirty="0">
                          <a:latin typeface="Calibri"/>
                          <a:ea typeface="Arial Unicode MS"/>
                          <a:cs typeface="Arial Unicode MS"/>
                        </a:rPr>
                        <a:t> </a:t>
                      </a:r>
                      <a:endParaRPr lang="en-US" sz="1800" dirty="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71504">
                <a:tc>
                  <a:txBody>
                    <a:bodyPr/>
                    <a:lstStyle/>
                    <a:p>
                      <a:pPr algn="l">
                        <a:lnSpc>
                          <a:spcPct val="115000"/>
                        </a:lnSpc>
                      </a:pPr>
                      <a:r>
                        <a:rPr lang="en-US" sz="1800" dirty="0">
                          <a:latin typeface="Calibri"/>
                          <a:ea typeface="Arial Unicode MS"/>
                          <a:cs typeface="Arial Unicode MS"/>
                        </a:rPr>
                        <a:t>KARAKTER BAKAT</a:t>
                      </a:r>
                      <a:endParaRPr lang="en-US" sz="1800" dirty="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77800" indent="-177800" algn="just">
                        <a:lnSpc>
                          <a:spcPct val="115000"/>
                        </a:lnSpc>
                        <a:buFontTx/>
                        <a:buChar char="-"/>
                      </a:pPr>
                      <a:r>
                        <a:rPr lang="en-US" sz="1800" baseline="0" dirty="0" err="1">
                          <a:latin typeface="Calibri"/>
                          <a:ea typeface="Arial Unicode MS"/>
                          <a:cs typeface="Arial Unicode MS"/>
                        </a:rPr>
                        <a:t>Menggali</a:t>
                      </a:r>
                      <a:r>
                        <a:rPr lang="en-US" sz="1800" baseline="0" dirty="0">
                          <a:latin typeface="Calibri"/>
                          <a:ea typeface="Arial Unicode MS"/>
                          <a:cs typeface="Arial Unicode MS"/>
                        </a:rPr>
                        <a:t> </a:t>
                      </a:r>
                      <a:r>
                        <a:rPr lang="en-US" sz="1800" baseline="0" dirty="0" err="1">
                          <a:latin typeface="Calibri"/>
                          <a:ea typeface="Arial Unicode MS"/>
                          <a:cs typeface="Arial Unicode MS"/>
                        </a:rPr>
                        <a:t>keunikan</a:t>
                      </a:r>
                      <a:r>
                        <a:rPr lang="en-US" sz="1800" baseline="0" dirty="0">
                          <a:latin typeface="Calibri"/>
                          <a:ea typeface="Arial Unicode MS"/>
                          <a:cs typeface="Arial Unicode MS"/>
                        </a:rPr>
                        <a:t> </a:t>
                      </a:r>
                      <a:r>
                        <a:rPr lang="en-US" sz="1800" baseline="0" dirty="0" err="1">
                          <a:latin typeface="Calibri"/>
                          <a:ea typeface="Arial Unicode MS"/>
                          <a:cs typeface="Arial Unicode MS"/>
                        </a:rPr>
                        <a:t>bakat</a:t>
                      </a:r>
                      <a:r>
                        <a:rPr lang="en-US" sz="1800" baseline="0" dirty="0">
                          <a:latin typeface="Calibri"/>
                          <a:ea typeface="Arial Unicode MS"/>
                          <a:cs typeface="Arial Unicode MS"/>
                        </a:rPr>
                        <a:t> </a:t>
                      </a:r>
                      <a:r>
                        <a:rPr lang="en-US" sz="1800" baseline="0" dirty="0" err="1">
                          <a:latin typeface="Calibri"/>
                          <a:ea typeface="Arial Unicode MS"/>
                          <a:cs typeface="Arial Unicode MS"/>
                        </a:rPr>
                        <a:t>diri</a:t>
                      </a:r>
                      <a:r>
                        <a:rPr lang="en-US" sz="1800" baseline="0" dirty="0">
                          <a:latin typeface="Calibri"/>
                          <a:ea typeface="Arial Unicode MS"/>
                          <a:cs typeface="Arial Unicode MS"/>
                        </a:rPr>
                        <a:t>  </a:t>
                      </a:r>
                      <a:r>
                        <a:rPr lang="en-US" sz="1800" baseline="0" dirty="0" err="1">
                          <a:latin typeface="Calibri"/>
                          <a:ea typeface="Arial Unicode MS"/>
                          <a:cs typeface="Arial Unicode MS"/>
                        </a:rPr>
                        <a:t>bersama</a:t>
                      </a:r>
                      <a:r>
                        <a:rPr lang="en-US" sz="1800" baseline="0" dirty="0">
                          <a:latin typeface="Calibri"/>
                          <a:ea typeface="Arial Unicode MS"/>
                          <a:cs typeface="Arial Unicode MS"/>
                        </a:rPr>
                        <a:t> </a:t>
                      </a:r>
                      <a:r>
                        <a:rPr lang="en-US" sz="1800" baseline="0" dirty="0" err="1">
                          <a:latin typeface="Calibri"/>
                          <a:ea typeface="Arial Unicode MS"/>
                          <a:cs typeface="Arial Unicode MS"/>
                        </a:rPr>
                        <a:t>teman-temannya</a:t>
                      </a:r>
                      <a:endParaRPr lang="en-US" sz="1800" baseline="0" dirty="0">
                        <a:latin typeface="Calibri"/>
                        <a:ea typeface="Arial Unicode MS"/>
                        <a:cs typeface="Arial Unicode MS"/>
                      </a:endParaRPr>
                    </a:p>
                    <a:p>
                      <a:pPr marL="177800" indent="-177800" algn="just">
                        <a:lnSpc>
                          <a:spcPct val="115000"/>
                        </a:lnSpc>
                        <a:buFontTx/>
                        <a:buChar char="-"/>
                      </a:pPr>
                      <a:r>
                        <a:rPr lang="en-US" sz="1800" baseline="0" dirty="0" err="1">
                          <a:latin typeface="Calibri"/>
                          <a:ea typeface="Arial Unicode MS"/>
                          <a:cs typeface="Arial Unicode MS"/>
                        </a:rPr>
                        <a:t>Menumbuhkan</a:t>
                      </a:r>
                      <a:r>
                        <a:rPr lang="en-US" sz="1800" baseline="0" dirty="0">
                          <a:latin typeface="Calibri"/>
                          <a:ea typeface="Arial Unicode MS"/>
                          <a:cs typeface="Arial Unicode MS"/>
                        </a:rPr>
                        <a:t> </a:t>
                      </a:r>
                      <a:r>
                        <a:rPr lang="en-US" sz="1800" baseline="0" dirty="0" err="1">
                          <a:latin typeface="Calibri"/>
                          <a:ea typeface="Arial Unicode MS"/>
                          <a:cs typeface="Arial Unicode MS"/>
                        </a:rPr>
                        <a:t>kemampuan</a:t>
                      </a:r>
                      <a:r>
                        <a:rPr lang="en-US" sz="1800" baseline="0" dirty="0">
                          <a:latin typeface="Calibri"/>
                          <a:ea typeface="Arial Unicode MS"/>
                          <a:cs typeface="Arial Unicode MS"/>
                        </a:rPr>
                        <a:t> </a:t>
                      </a:r>
                      <a:r>
                        <a:rPr lang="en-US" sz="1800" baseline="0" dirty="0" err="1">
                          <a:latin typeface="Calibri"/>
                          <a:ea typeface="Arial Unicode MS"/>
                          <a:cs typeface="Arial Unicode MS"/>
                        </a:rPr>
                        <a:t>bernalar</a:t>
                      </a:r>
                      <a:r>
                        <a:rPr lang="en-US" sz="1800" baseline="0" dirty="0">
                          <a:latin typeface="Calibri"/>
                          <a:ea typeface="Arial Unicode MS"/>
                          <a:cs typeface="Arial Unicode MS"/>
                        </a:rPr>
                        <a:t> </a:t>
                      </a:r>
                      <a:r>
                        <a:rPr lang="en-US" sz="1800" baseline="0" dirty="0" err="1">
                          <a:latin typeface="Calibri"/>
                          <a:ea typeface="Arial Unicode MS"/>
                          <a:cs typeface="Arial Unicode MS"/>
                        </a:rPr>
                        <a:t>sesuai</a:t>
                      </a:r>
                      <a:r>
                        <a:rPr lang="en-US" sz="1800" baseline="0" dirty="0">
                          <a:latin typeface="Calibri"/>
                          <a:ea typeface="Arial Unicode MS"/>
                          <a:cs typeface="Arial Unicode MS"/>
                        </a:rPr>
                        <a:t> </a:t>
                      </a:r>
                      <a:r>
                        <a:rPr lang="en-US" sz="1800" baseline="0" dirty="0" err="1">
                          <a:latin typeface="Calibri"/>
                          <a:ea typeface="Arial Unicode MS"/>
                          <a:cs typeface="Arial Unicode MS"/>
                        </a:rPr>
                        <a:t>bakatnya</a:t>
                      </a:r>
                      <a:endParaRPr lang="en-US" sz="1800" baseline="0" dirty="0">
                        <a:latin typeface="Calibri"/>
                        <a:ea typeface="Arial Unicode MS"/>
                        <a:cs typeface="Arial Unicode MS"/>
                      </a:endParaRPr>
                    </a:p>
                    <a:p>
                      <a:pPr marL="177800" indent="-177800" algn="just">
                        <a:lnSpc>
                          <a:spcPct val="115000"/>
                        </a:lnSpc>
                        <a:buFontTx/>
                        <a:buChar char="-"/>
                      </a:pPr>
                      <a:r>
                        <a:rPr lang="en-US" sz="1800" baseline="0" dirty="0" err="1">
                          <a:latin typeface="Calibri"/>
                          <a:ea typeface="Arial Unicode MS"/>
                          <a:cs typeface="Arial Unicode MS"/>
                        </a:rPr>
                        <a:t>Menggali</a:t>
                      </a:r>
                      <a:r>
                        <a:rPr lang="en-US" sz="1800" baseline="0" dirty="0">
                          <a:latin typeface="Calibri"/>
                          <a:ea typeface="Arial Unicode MS"/>
                          <a:cs typeface="Arial Unicode MS"/>
                        </a:rPr>
                        <a:t> </a:t>
                      </a:r>
                      <a:r>
                        <a:rPr lang="en-US" sz="1800" baseline="0" dirty="0" err="1">
                          <a:latin typeface="Calibri"/>
                          <a:ea typeface="Arial Unicode MS"/>
                          <a:cs typeface="Arial Unicode MS"/>
                        </a:rPr>
                        <a:t>bakat</a:t>
                      </a:r>
                      <a:r>
                        <a:rPr lang="en-US" sz="1800" baseline="0" dirty="0">
                          <a:latin typeface="Calibri"/>
                          <a:ea typeface="Arial Unicode MS"/>
                          <a:cs typeface="Arial Unicode MS"/>
                        </a:rPr>
                        <a:t> </a:t>
                      </a:r>
                      <a:r>
                        <a:rPr lang="en-US" sz="1800" baseline="0" dirty="0" err="1">
                          <a:latin typeface="Calibri"/>
                          <a:ea typeface="Arial Unicode MS"/>
                          <a:cs typeface="Arial Unicode MS"/>
                        </a:rPr>
                        <a:t>dengan</a:t>
                      </a:r>
                      <a:r>
                        <a:rPr lang="en-US" sz="1800" baseline="0" dirty="0">
                          <a:latin typeface="Calibri"/>
                          <a:ea typeface="Arial Unicode MS"/>
                          <a:cs typeface="Arial Unicode MS"/>
                        </a:rPr>
                        <a:t> </a:t>
                      </a:r>
                      <a:r>
                        <a:rPr lang="en-US" sz="1800" baseline="0" dirty="0" err="1">
                          <a:latin typeface="Calibri"/>
                          <a:ea typeface="Arial Unicode MS"/>
                          <a:cs typeface="Arial Unicode MS"/>
                        </a:rPr>
                        <a:t>banyak</a:t>
                      </a:r>
                      <a:r>
                        <a:rPr lang="en-US" sz="1800" baseline="0" dirty="0">
                          <a:latin typeface="Calibri"/>
                          <a:ea typeface="Arial Unicode MS"/>
                          <a:cs typeface="Arial Unicode MS"/>
                        </a:rPr>
                        <a:t> </a:t>
                      </a:r>
                      <a:r>
                        <a:rPr lang="en-US" sz="1800" baseline="0" dirty="0" err="1">
                          <a:latin typeface="Calibri"/>
                          <a:ea typeface="Arial Unicode MS"/>
                          <a:cs typeface="Arial Unicode MS"/>
                        </a:rPr>
                        <a:t>ragam</a:t>
                      </a:r>
                      <a:r>
                        <a:rPr lang="en-US" sz="1800" baseline="0" dirty="0">
                          <a:latin typeface="Calibri"/>
                          <a:ea typeface="Arial Unicode MS"/>
                          <a:cs typeface="Arial Unicode MS"/>
                        </a:rPr>
                        <a:t> </a:t>
                      </a:r>
                      <a:r>
                        <a:rPr lang="en-US" sz="1800" baseline="0" dirty="0" err="1">
                          <a:latin typeface="Calibri"/>
                          <a:ea typeface="Arial Unicode MS"/>
                          <a:cs typeface="Arial Unicode MS"/>
                        </a:rPr>
                        <a:t>aktifitas</a:t>
                      </a:r>
                      <a:endParaRPr lang="en-US" sz="1800" dirty="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TextBox 3"/>
          <p:cNvSpPr txBox="1"/>
          <p:nvPr/>
        </p:nvSpPr>
        <p:spPr>
          <a:xfrm>
            <a:off x="5786478" y="-24"/>
            <a:ext cx="3357554" cy="461665"/>
          </a:xfrm>
          <a:prstGeom prst="rect">
            <a:avLst/>
          </a:prstGeom>
          <a:solidFill>
            <a:srgbClr val="00B050"/>
          </a:solidFill>
        </p:spPr>
        <p:txBody>
          <a:bodyPr wrap="square" rtlCol="0">
            <a:spAutoFit/>
          </a:bodyPr>
          <a:lstStyle/>
          <a:p>
            <a:pPr algn="ctr"/>
            <a:r>
              <a:rPr lang="en-US" sz="2400" dirty="0">
                <a:solidFill>
                  <a:schemeClr val="bg1"/>
                </a:solidFill>
              </a:rPr>
              <a:t>KELAS 1,2,3 SD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505B351-CB84-4EC6-93C2-0C8FB13E56D4}"/>
              </a:ext>
            </a:extLst>
          </p:cNvPr>
          <p:cNvSpPr/>
          <p:nvPr/>
        </p:nvSpPr>
        <p:spPr>
          <a:xfrm>
            <a:off x="2027168" y="-27384"/>
            <a:ext cx="5089663" cy="954107"/>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P</a:t>
            </a:r>
            <a:r>
              <a:rPr kumimoji="0" lang="en-ID" sz="2800" b="0" i="0" u="none" strike="noStrike" kern="1200" cap="none" spc="0" normalizeH="0" baseline="0" noProof="0" dirty="0" err="1">
                <a:ln>
                  <a:noFill/>
                </a:ln>
                <a:solidFill>
                  <a:prstClr val="black"/>
                </a:solidFill>
                <a:effectLst/>
                <a:uLnTx/>
                <a:uFillTx/>
                <a:latin typeface="Calibri"/>
                <a:ea typeface="+mn-ea"/>
                <a:cs typeface="+mn-cs"/>
              </a:rPr>
              <a:t>ilar-pilar</a:t>
            </a:r>
            <a:r>
              <a:rPr kumimoji="0" lang="en-ID" sz="2800" b="0" i="0" u="none" strike="noStrike" kern="1200" cap="none" spc="0" normalizeH="0" baseline="0" noProof="0" dirty="0">
                <a:ln>
                  <a:noFill/>
                </a:ln>
                <a:solidFill>
                  <a:prstClr val="black"/>
                </a:solidFill>
                <a:effectLst/>
                <a:uLnTx/>
                <a:uFillTx/>
                <a:latin typeface="Calibri"/>
                <a:ea typeface="+mn-ea"/>
                <a:cs typeface="+mn-cs"/>
              </a:rPr>
              <a:t> </a:t>
            </a:r>
            <a:r>
              <a:rPr kumimoji="0" lang="en-ID" sz="2800" b="0" i="0" u="none" strike="noStrike" kern="1200" cap="none" spc="0" normalizeH="0" baseline="0" noProof="0" dirty="0" err="1">
                <a:ln>
                  <a:noFill/>
                </a:ln>
                <a:solidFill>
                  <a:prstClr val="black"/>
                </a:solidFill>
                <a:effectLst/>
                <a:uLnTx/>
                <a:uFillTx/>
                <a:latin typeface="Calibri"/>
                <a:ea typeface="+mn-ea"/>
                <a:cs typeface="+mn-cs"/>
              </a:rPr>
              <a:t>Karakter</a:t>
            </a:r>
            <a:r>
              <a:rPr kumimoji="0" lang="en-ID" sz="2800" b="0" i="0" u="none" strike="noStrike" kern="1200" cap="none" spc="0" normalizeH="0" baseline="0" noProof="0" dirty="0">
                <a:ln>
                  <a:noFill/>
                </a:ln>
                <a:solidFill>
                  <a:prstClr val="black"/>
                </a:solidFill>
                <a:effectLst/>
                <a:uLnTx/>
                <a:uFillTx/>
                <a:latin typeface="Calibri"/>
                <a:ea typeface="+mn-ea"/>
                <a:cs typeface="+mn-cs"/>
              </a:rPr>
              <a:t> Yang </a:t>
            </a:r>
            <a:r>
              <a:rPr kumimoji="0" lang="en-ID" sz="2800" b="0" i="0" u="none" strike="noStrike" kern="1200" cap="none" spc="0" normalizeH="0" baseline="0" noProof="0" dirty="0" err="1">
                <a:ln>
                  <a:noFill/>
                </a:ln>
                <a:solidFill>
                  <a:prstClr val="black"/>
                </a:solidFill>
                <a:effectLst/>
                <a:uLnTx/>
                <a:uFillTx/>
                <a:latin typeface="Calibri"/>
                <a:ea typeface="+mn-ea"/>
                <a:cs typeface="+mn-cs"/>
              </a:rPr>
              <a:t>Dikaitkan</a:t>
            </a:r>
            <a:endParaRPr kumimoji="0" lang="en-ID" sz="2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D" sz="2800" b="0" i="0" u="none" strike="noStrike" kern="1200" cap="none" spc="0" normalizeH="0" baseline="0" noProof="0" dirty="0" err="1">
                <a:ln>
                  <a:noFill/>
                </a:ln>
                <a:solidFill>
                  <a:prstClr val="black"/>
                </a:solidFill>
                <a:effectLst/>
                <a:uLnTx/>
                <a:uFillTx/>
                <a:latin typeface="Calibri"/>
                <a:ea typeface="+mn-ea"/>
                <a:cs typeface="+mn-cs"/>
              </a:rPr>
              <a:t>Dengan</a:t>
            </a:r>
            <a:r>
              <a:rPr kumimoji="0" lang="en-ID" sz="2800" b="0" i="0" u="none" strike="noStrike" kern="1200" cap="none" spc="0" normalizeH="0" baseline="0" noProof="0" dirty="0">
                <a:ln>
                  <a:noFill/>
                </a:ln>
                <a:solidFill>
                  <a:prstClr val="black"/>
                </a:solidFill>
                <a:effectLst/>
                <a:uLnTx/>
                <a:uFillTx/>
                <a:latin typeface="Calibri"/>
                <a:ea typeface="+mn-ea"/>
                <a:cs typeface="+mn-cs"/>
              </a:rPr>
              <a:t> </a:t>
            </a:r>
            <a:r>
              <a:rPr kumimoji="0" lang="en-ID" sz="2800" b="0" i="0" u="none" strike="noStrike" kern="1200" cap="none" spc="0" normalizeH="0" baseline="0" noProof="0" dirty="0" err="1">
                <a:ln>
                  <a:noFill/>
                </a:ln>
                <a:solidFill>
                  <a:prstClr val="black"/>
                </a:solidFill>
                <a:effectLst/>
                <a:uLnTx/>
                <a:uFillTx/>
                <a:latin typeface="Calibri"/>
                <a:ea typeface="+mn-ea"/>
                <a:cs typeface="+mn-cs"/>
              </a:rPr>
              <a:t>Kegiatan</a:t>
            </a:r>
            <a:r>
              <a:rPr kumimoji="0" lang="en-ID" sz="2800" b="0" i="0" u="none" strike="noStrike" kern="1200" cap="none" spc="0" normalizeH="0" baseline="0" noProof="0" dirty="0">
                <a:ln>
                  <a:noFill/>
                </a:ln>
                <a:solidFill>
                  <a:prstClr val="black"/>
                </a:solidFill>
                <a:effectLst/>
                <a:uLnTx/>
                <a:uFillTx/>
                <a:latin typeface="Calibri"/>
                <a:ea typeface="+mn-ea"/>
                <a:cs typeface="+mn-cs"/>
              </a:rPr>
              <a:t> Dan </a:t>
            </a:r>
            <a:r>
              <a:rPr kumimoji="0" lang="en-ID" sz="2800" b="0" i="0" u="none" strike="noStrike" kern="1200" cap="none" spc="0" normalizeH="0" baseline="0" noProof="0" dirty="0" err="1">
                <a:ln>
                  <a:noFill/>
                </a:ln>
                <a:solidFill>
                  <a:prstClr val="black"/>
                </a:solidFill>
                <a:effectLst/>
                <a:uLnTx/>
                <a:uFillTx/>
                <a:latin typeface="Calibri"/>
                <a:ea typeface="+mn-ea"/>
                <a:cs typeface="+mn-cs"/>
              </a:rPr>
              <a:t>Peristiwa</a:t>
            </a:r>
            <a:endParaRPr kumimoji="0" lang="en-ID" sz="2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a:extLst>
              <a:ext uri="{FF2B5EF4-FFF2-40B4-BE49-F238E27FC236}">
                <a16:creationId xmlns:a16="http://schemas.microsoft.com/office/drawing/2014/main" id="{59D90549-7219-4B01-A2CB-B0933423D200}"/>
              </a:ext>
            </a:extLst>
          </p:cNvPr>
          <p:cNvSpPr/>
          <p:nvPr/>
        </p:nvSpPr>
        <p:spPr>
          <a:xfrm>
            <a:off x="835133" y="1412776"/>
            <a:ext cx="5904656" cy="4893647"/>
          </a:xfrm>
          <a:prstGeom prst="rect">
            <a:avLst/>
          </a:prstGeom>
        </p:spPr>
        <p:txBody>
          <a:bodyPr wrap="square">
            <a:spAutoFit/>
          </a:bodyPr>
          <a:lstStyle/>
          <a:p>
            <a:pPr marL="342900" indent="-342900">
              <a:buFont typeface="Wingdings" panose="05000000000000000000" pitchFamily="2" charset="2"/>
              <a:buChar char="ü"/>
            </a:pPr>
            <a:r>
              <a:rPr lang="en-ID" sz="2400" i="1" dirty="0" err="1">
                <a:effectLst/>
                <a:latin typeface="Cambria" panose="02040503050406030204" pitchFamily="18" charset="0"/>
              </a:rPr>
              <a:t>Nubl</a:t>
            </a:r>
            <a:r>
              <a:rPr lang="en-ID" sz="2400" dirty="0">
                <a:effectLst/>
                <a:latin typeface="Cambria" panose="02040503050406030204" pitchFamily="18" charset="0"/>
              </a:rPr>
              <a:t> / </a:t>
            </a:r>
            <a:r>
              <a:rPr lang="ar-SA" sz="2400" dirty="0">
                <a:effectLst/>
                <a:latin typeface="Calibri" panose="020F0502020204030204" pitchFamily="34" charset="0"/>
                <a:cs typeface="Calibri" panose="020F0502020204030204" pitchFamily="34" charset="0"/>
              </a:rPr>
              <a:t>النُّبْل</a:t>
            </a:r>
            <a:r>
              <a:rPr lang="en-ID" sz="2400" dirty="0">
                <a:effectLst/>
                <a:latin typeface="Cambria" panose="02040503050406030204" pitchFamily="18" charset="0"/>
              </a:rPr>
              <a:t> (</a:t>
            </a:r>
            <a:r>
              <a:rPr lang="en-ID" sz="2400" dirty="0" err="1">
                <a:effectLst/>
                <a:latin typeface="Cambria" panose="02040503050406030204" pitchFamily="18" charset="0"/>
              </a:rPr>
              <a:t>cerdik</a:t>
            </a:r>
            <a:r>
              <a:rPr lang="en-ID" sz="2400" dirty="0">
                <a:effectLst/>
                <a:latin typeface="Cambria" panose="02040503050406030204" pitchFamily="18" charset="0"/>
              </a:rPr>
              <a:t>)</a:t>
            </a:r>
            <a:endParaRPr lang="en-ID" sz="2400" dirty="0">
              <a:effectLst/>
            </a:endParaRPr>
          </a:p>
          <a:p>
            <a:pPr marL="342900" indent="-342900">
              <a:buFont typeface="Wingdings" panose="05000000000000000000" pitchFamily="2" charset="2"/>
              <a:buChar char="ü"/>
            </a:pPr>
            <a:r>
              <a:rPr lang="en-ID" sz="2400" i="1" dirty="0" err="1">
                <a:effectLst/>
                <a:latin typeface="Cambria" panose="02040503050406030204" pitchFamily="18" charset="0"/>
              </a:rPr>
              <a:t>Husnu</a:t>
            </a:r>
            <a:r>
              <a:rPr lang="en-US" sz="2400" i="1" dirty="0">
                <a:effectLst/>
                <a:latin typeface="Cambria" panose="02040503050406030204" pitchFamily="18" charset="0"/>
              </a:rPr>
              <a:t>z</a:t>
            </a:r>
            <a:r>
              <a:rPr lang="en-ID" sz="2400" i="1" dirty="0" err="1">
                <a:effectLst/>
                <a:latin typeface="Cambria" panose="02040503050406030204" pitchFamily="18" charset="0"/>
              </a:rPr>
              <a:t>han</a:t>
            </a:r>
            <a:r>
              <a:rPr lang="en-ID" sz="2400" i="1" dirty="0">
                <a:effectLst/>
                <a:latin typeface="Cambria" panose="02040503050406030204" pitchFamily="18" charset="0"/>
              </a:rPr>
              <a:t> </a:t>
            </a:r>
            <a:r>
              <a:rPr lang="en-ID" sz="2400" dirty="0">
                <a:effectLst/>
                <a:latin typeface="Cambria" panose="02040503050406030204" pitchFamily="18" charset="0"/>
              </a:rPr>
              <a:t>/ </a:t>
            </a:r>
            <a:r>
              <a:rPr lang="ar-SA" sz="2400" dirty="0">
                <a:effectLst/>
                <a:latin typeface="Calibri" panose="020F0502020204030204" pitchFamily="34" charset="0"/>
                <a:cs typeface="Calibri" panose="020F0502020204030204" pitchFamily="34" charset="0"/>
              </a:rPr>
              <a:t>حُسْنُ الظَّن</a:t>
            </a:r>
            <a:r>
              <a:rPr lang="ar-SA" sz="2400" dirty="0">
                <a:effectLst/>
                <a:cs typeface="Cambria" panose="02040503050406030204" pitchFamily="18" charset="0"/>
              </a:rPr>
              <a:t> </a:t>
            </a:r>
            <a:r>
              <a:rPr lang="en-ID" sz="2400" dirty="0">
                <a:effectLst/>
                <a:latin typeface="Cambria" panose="02040503050406030204" pitchFamily="18" charset="0"/>
              </a:rPr>
              <a:t>(</a:t>
            </a:r>
            <a:r>
              <a:rPr lang="en-ID" sz="2400" dirty="0" err="1">
                <a:effectLst/>
                <a:latin typeface="Cambria" panose="02040503050406030204" pitchFamily="18" charset="0"/>
              </a:rPr>
              <a:t>prasangka</a:t>
            </a:r>
            <a:r>
              <a:rPr lang="en-ID" sz="2400" dirty="0">
                <a:effectLst/>
                <a:latin typeface="Cambria" panose="02040503050406030204" pitchFamily="18" charset="0"/>
              </a:rPr>
              <a:t> </a:t>
            </a:r>
            <a:r>
              <a:rPr lang="en-ID" sz="2400" dirty="0" err="1">
                <a:effectLst/>
                <a:latin typeface="Cambria" panose="02040503050406030204" pitchFamily="18" charset="0"/>
              </a:rPr>
              <a:t>baik</a:t>
            </a:r>
            <a:r>
              <a:rPr lang="en-ID" sz="2400" dirty="0">
                <a:effectLst/>
                <a:latin typeface="Cambria" panose="02040503050406030204" pitchFamily="18" charset="0"/>
              </a:rPr>
              <a:t>)</a:t>
            </a:r>
            <a:endParaRPr lang="en-ID" sz="2400" dirty="0">
              <a:effectLst/>
            </a:endParaRPr>
          </a:p>
          <a:p>
            <a:pPr marL="342900" indent="-342900">
              <a:buFont typeface="Wingdings" panose="05000000000000000000" pitchFamily="2" charset="2"/>
              <a:buChar char="ü"/>
            </a:pPr>
            <a:r>
              <a:rPr lang="en-ID" sz="2400" i="1" dirty="0" err="1">
                <a:effectLst/>
                <a:latin typeface="Cambria" panose="02040503050406030204" pitchFamily="18" charset="0"/>
              </a:rPr>
              <a:t>Dzakaa</a:t>
            </a:r>
            <a:r>
              <a:rPr lang="en-ID" sz="2400" i="1" dirty="0">
                <a:effectLst/>
                <a:latin typeface="Cambria" panose="02040503050406030204" pitchFamily="18" charset="0"/>
              </a:rPr>
              <a:t>’ </a:t>
            </a:r>
            <a:r>
              <a:rPr lang="en-ID" sz="2400" dirty="0">
                <a:effectLst/>
                <a:latin typeface="Cambria" panose="02040503050406030204" pitchFamily="18" charset="0"/>
              </a:rPr>
              <a:t>/ </a:t>
            </a:r>
            <a:r>
              <a:rPr lang="ar-SA" sz="2400" dirty="0">
                <a:effectLst/>
                <a:latin typeface="Calibri" panose="020F0502020204030204" pitchFamily="34" charset="0"/>
                <a:cs typeface="Calibri" panose="020F0502020204030204" pitchFamily="34" charset="0"/>
              </a:rPr>
              <a:t>الذَّكَاء</a:t>
            </a:r>
            <a:r>
              <a:rPr lang="en-ID" sz="2400" dirty="0">
                <a:effectLst/>
                <a:latin typeface="Cambria" panose="02040503050406030204" pitchFamily="18" charset="0"/>
              </a:rPr>
              <a:t> (</a:t>
            </a:r>
            <a:r>
              <a:rPr lang="en-ID" sz="2400" dirty="0" err="1">
                <a:effectLst/>
                <a:latin typeface="Cambria" panose="02040503050406030204" pitchFamily="18" charset="0"/>
              </a:rPr>
              <a:t>cerdas</a:t>
            </a:r>
            <a:r>
              <a:rPr lang="en-ID" sz="2400" dirty="0">
                <a:effectLst/>
                <a:latin typeface="Cambria" panose="02040503050406030204" pitchFamily="18" charset="0"/>
              </a:rPr>
              <a:t>)</a:t>
            </a:r>
            <a:endParaRPr lang="en-ID" sz="2400" dirty="0">
              <a:effectLst/>
            </a:endParaRPr>
          </a:p>
          <a:p>
            <a:pPr marL="342900" indent="-342900">
              <a:buFont typeface="Wingdings" panose="05000000000000000000" pitchFamily="2" charset="2"/>
              <a:buChar char="ü"/>
            </a:pPr>
            <a:r>
              <a:rPr lang="en-ID" sz="2400" i="1" dirty="0">
                <a:effectLst/>
                <a:latin typeface="Cambria" panose="02040503050406030204" pitchFamily="18" charset="0"/>
              </a:rPr>
              <a:t>Hikmah</a:t>
            </a:r>
            <a:r>
              <a:rPr lang="en-ID" sz="2400" dirty="0">
                <a:effectLst/>
                <a:latin typeface="Cambria" panose="02040503050406030204" pitchFamily="18" charset="0"/>
              </a:rPr>
              <a:t> / </a:t>
            </a:r>
            <a:r>
              <a:rPr lang="ar-SA" sz="2400" dirty="0">
                <a:effectLst/>
                <a:latin typeface="Calibri" panose="020F0502020204030204" pitchFamily="34" charset="0"/>
                <a:cs typeface="Calibri" panose="020F0502020204030204" pitchFamily="34" charset="0"/>
              </a:rPr>
              <a:t>الحِكْمَة</a:t>
            </a:r>
            <a:r>
              <a:rPr lang="en-ID" sz="2400" dirty="0">
                <a:effectLst/>
                <a:latin typeface="Cambria" panose="02040503050406030204" pitchFamily="18" charset="0"/>
              </a:rPr>
              <a:t>  (hikmah)</a:t>
            </a:r>
            <a:endParaRPr lang="en-ID" sz="2400" dirty="0">
              <a:effectLst/>
            </a:endParaRPr>
          </a:p>
          <a:p>
            <a:pPr marL="342900" indent="-342900">
              <a:buFont typeface="Wingdings" panose="05000000000000000000" pitchFamily="2" charset="2"/>
              <a:buChar char="ü"/>
            </a:pPr>
            <a:r>
              <a:rPr lang="en-US" sz="2400" i="1" dirty="0" err="1">
                <a:effectLst/>
                <a:latin typeface="Cambria" panose="02040503050406030204" pitchFamily="18" charset="0"/>
              </a:rPr>
              <a:t>Ta’aawun</a:t>
            </a:r>
            <a:r>
              <a:rPr lang="en-US" sz="2400" i="1" dirty="0">
                <a:effectLst/>
                <a:latin typeface="Cambria" panose="02040503050406030204" pitchFamily="18" charset="0"/>
              </a:rPr>
              <a:t> </a:t>
            </a:r>
            <a:r>
              <a:rPr lang="en-US" sz="2400" dirty="0">
                <a:effectLst/>
                <a:latin typeface="Cambria" panose="02040503050406030204" pitchFamily="18" charset="0"/>
              </a:rPr>
              <a:t>/ </a:t>
            </a:r>
            <a:r>
              <a:rPr lang="ar-SA" sz="2400" dirty="0">
                <a:effectLst/>
                <a:latin typeface="Calibri" panose="020F0502020204030204" pitchFamily="34" charset="0"/>
                <a:cs typeface="Calibri" panose="020F0502020204030204" pitchFamily="34" charset="0"/>
              </a:rPr>
              <a:t>التَّعَاوُن</a:t>
            </a:r>
            <a:r>
              <a:rPr lang="en-US" sz="2400" dirty="0">
                <a:effectLst/>
                <a:latin typeface="Cambria" panose="02040503050406030204" pitchFamily="18" charset="0"/>
              </a:rPr>
              <a:t> (</a:t>
            </a:r>
            <a:r>
              <a:rPr lang="en-US" sz="2400" dirty="0" err="1">
                <a:effectLst/>
                <a:latin typeface="Cambria" panose="02040503050406030204" pitchFamily="18" charset="0"/>
              </a:rPr>
              <a:t>kerjasama</a:t>
            </a:r>
            <a:r>
              <a:rPr lang="en-US" sz="2400" dirty="0">
                <a:effectLst/>
                <a:latin typeface="Cambria" panose="02040503050406030204" pitchFamily="18" charset="0"/>
              </a:rPr>
              <a:t>)</a:t>
            </a:r>
            <a:endParaRPr lang="en-ID" sz="2400" dirty="0">
              <a:effectLst/>
            </a:endParaRPr>
          </a:p>
          <a:p>
            <a:pPr marL="342900" indent="-342900">
              <a:buFont typeface="Wingdings" panose="05000000000000000000" pitchFamily="2" charset="2"/>
              <a:buChar char="ü"/>
            </a:pPr>
            <a:r>
              <a:rPr lang="en-US" sz="2400" i="1" dirty="0" err="1">
                <a:effectLst/>
                <a:latin typeface="Cambria" panose="02040503050406030204" pitchFamily="18" charset="0"/>
              </a:rPr>
              <a:t>Ulfah</a:t>
            </a:r>
            <a:r>
              <a:rPr lang="en-US" sz="2400" dirty="0">
                <a:effectLst/>
                <a:latin typeface="Cambria" panose="02040503050406030204" pitchFamily="18" charset="0"/>
              </a:rPr>
              <a:t> / </a:t>
            </a:r>
            <a:r>
              <a:rPr lang="ar-SA" sz="2400" dirty="0">
                <a:effectLst/>
                <a:latin typeface="Calibri" panose="020F0502020204030204" pitchFamily="34" charset="0"/>
                <a:cs typeface="Calibri" panose="020F0502020204030204" pitchFamily="34" charset="0"/>
              </a:rPr>
              <a:t>الاُلْفَة</a:t>
            </a:r>
            <a:r>
              <a:rPr lang="en-US" sz="2400" dirty="0">
                <a:effectLst/>
                <a:latin typeface="Cambria" panose="02040503050406030204" pitchFamily="18" charset="0"/>
              </a:rPr>
              <a:t>  (</a:t>
            </a:r>
            <a:r>
              <a:rPr lang="en-US" sz="2400" dirty="0" err="1">
                <a:effectLst/>
                <a:latin typeface="Cambria" panose="02040503050406030204" pitchFamily="18" charset="0"/>
              </a:rPr>
              <a:t>bersatu</a:t>
            </a:r>
            <a:r>
              <a:rPr lang="en-US" sz="2400" dirty="0">
                <a:effectLst/>
                <a:latin typeface="Cambria" panose="02040503050406030204" pitchFamily="18" charset="0"/>
              </a:rPr>
              <a:t>)</a:t>
            </a:r>
            <a:endParaRPr lang="en-ID" sz="2400" dirty="0">
              <a:effectLst/>
            </a:endParaRPr>
          </a:p>
          <a:p>
            <a:pPr marL="342900" indent="-342900">
              <a:buFont typeface="Wingdings" panose="05000000000000000000" pitchFamily="2" charset="2"/>
              <a:buChar char="ü"/>
            </a:pPr>
            <a:r>
              <a:rPr lang="en-US" sz="2400" i="1" dirty="0">
                <a:effectLst/>
                <a:latin typeface="Cambria" panose="02040503050406030204" pitchFamily="18" charset="0"/>
              </a:rPr>
              <a:t>‘</a:t>
            </a:r>
            <a:r>
              <a:rPr lang="en-US" sz="2400" i="1" dirty="0" err="1">
                <a:effectLst/>
                <a:latin typeface="Cambria" panose="02040503050406030204" pitchFamily="18" charset="0"/>
              </a:rPr>
              <a:t>Adaalah</a:t>
            </a:r>
            <a:r>
              <a:rPr lang="en-US" sz="2400" dirty="0">
                <a:effectLst/>
                <a:latin typeface="Cambria" panose="02040503050406030204" pitchFamily="18" charset="0"/>
              </a:rPr>
              <a:t> / </a:t>
            </a:r>
            <a:r>
              <a:rPr lang="ar-SA" sz="2400" dirty="0">
                <a:effectLst/>
                <a:latin typeface="Calibri" panose="020F0502020204030204" pitchFamily="34" charset="0"/>
                <a:cs typeface="Calibri" panose="020F0502020204030204" pitchFamily="34" charset="0"/>
              </a:rPr>
              <a:t>العَدَالَة</a:t>
            </a:r>
            <a:r>
              <a:rPr lang="en-US" sz="2400" dirty="0">
                <a:effectLst/>
                <a:latin typeface="Cambria" panose="02040503050406030204" pitchFamily="18" charset="0"/>
              </a:rPr>
              <a:t> (</a:t>
            </a:r>
            <a:r>
              <a:rPr lang="en-US" sz="2400" dirty="0" err="1">
                <a:effectLst/>
                <a:latin typeface="Cambria" panose="02040503050406030204" pitchFamily="18" charset="0"/>
              </a:rPr>
              <a:t>adil</a:t>
            </a:r>
            <a:r>
              <a:rPr lang="en-US" sz="2400" dirty="0">
                <a:effectLst/>
                <a:latin typeface="Cambria" panose="02040503050406030204" pitchFamily="18" charset="0"/>
              </a:rPr>
              <a:t>)</a:t>
            </a:r>
            <a:endParaRPr lang="en-ID" sz="2400" dirty="0">
              <a:effectLst/>
            </a:endParaRPr>
          </a:p>
          <a:p>
            <a:pPr marL="342900" indent="-342900">
              <a:buFont typeface="Wingdings" panose="05000000000000000000" pitchFamily="2" charset="2"/>
              <a:buChar char="ü"/>
            </a:pPr>
            <a:r>
              <a:rPr lang="en-US" sz="2400" i="1" dirty="0" err="1">
                <a:effectLst/>
                <a:latin typeface="Cambria" panose="02040503050406030204" pitchFamily="18" charset="0"/>
              </a:rPr>
              <a:t>Wafaa</a:t>
            </a:r>
            <a:r>
              <a:rPr lang="en-US" sz="2400" i="1" dirty="0">
                <a:effectLst/>
                <a:latin typeface="Cambria" panose="02040503050406030204" pitchFamily="18" charset="0"/>
              </a:rPr>
              <a:t>’</a:t>
            </a:r>
            <a:r>
              <a:rPr lang="en-US" sz="2400" dirty="0">
                <a:effectLst/>
                <a:latin typeface="Cambria" panose="02040503050406030204" pitchFamily="18" charset="0"/>
              </a:rPr>
              <a:t> / </a:t>
            </a:r>
            <a:r>
              <a:rPr lang="ar-SA" sz="2400" dirty="0">
                <a:effectLst/>
                <a:latin typeface="Calibri" panose="020F0502020204030204" pitchFamily="34" charset="0"/>
                <a:cs typeface="Calibri" panose="020F0502020204030204" pitchFamily="34" charset="0"/>
              </a:rPr>
              <a:t>الوَفَاء</a:t>
            </a:r>
            <a:r>
              <a:rPr lang="en-US" sz="2400" dirty="0">
                <a:effectLst/>
                <a:latin typeface="Cambria" panose="02040503050406030204" pitchFamily="18" charset="0"/>
              </a:rPr>
              <a:t> (</a:t>
            </a:r>
            <a:r>
              <a:rPr lang="en-US" sz="2400" dirty="0" err="1">
                <a:effectLst/>
                <a:latin typeface="Cambria" panose="02040503050406030204" pitchFamily="18" charset="0"/>
              </a:rPr>
              <a:t>tepat</a:t>
            </a:r>
            <a:r>
              <a:rPr lang="en-US" sz="2400" dirty="0">
                <a:effectLst/>
                <a:latin typeface="Cambria" panose="02040503050406030204" pitchFamily="18" charset="0"/>
              </a:rPr>
              <a:t> </a:t>
            </a:r>
            <a:r>
              <a:rPr lang="en-US" sz="2400" dirty="0" err="1">
                <a:effectLst/>
                <a:latin typeface="Cambria" panose="02040503050406030204" pitchFamily="18" charset="0"/>
              </a:rPr>
              <a:t>janji</a:t>
            </a:r>
            <a:r>
              <a:rPr lang="en-US" sz="2400" dirty="0">
                <a:effectLst/>
                <a:latin typeface="Cambria" panose="02040503050406030204" pitchFamily="18" charset="0"/>
              </a:rPr>
              <a:t>)</a:t>
            </a:r>
            <a:endParaRPr lang="en-ID" sz="2400" dirty="0">
              <a:effectLst/>
            </a:endParaRPr>
          </a:p>
          <a:p>
            <a:pPr marL="342900" indent="-342900">
              <a:buFont typeface="Wingdings" panose="05000000000000000000" pitchFamily="2" charset="2"/>
              <a:buChar char="ü"/>
            </a:pPr>
            <a:r>
              <a:rPr lang="en-US" sz="2400" i="1" dirty="0" err="1">
                <a:effectLst/>
                <a:latin typeface="Cambria" panose="02040503050406030204" pitchFamily="18" charset="0"/>
              </a:rPr>
              <a:t>Muzaah</a:t>
            </a:r>
            <a:r>
              <a:rPr lang="en-US" sz="2400" i="1" dirty="0">
                <a:effectLst/>
                <a:latin typeface="Cambria" panose="02040503050406030204" pitchFamily="18" charset="0"/>
              </a:rPr>
              <a:t> </a:t>
            </a:r>
            <a:r>
              <a:rPr lang="en-US" sz="2400" dirty="0">
                <a:effectLst/>
                <a:latin typeface="Cambria" panose="02040503050406030204" pitchFamily="18" charset="0"/>
              </a:rPr>
              <a:t>/ </a:t>
            </a:r>
            <a:r>
              <a:rPr lang="ar-SA" sz="2400" dirty="0">
                <a:effectLst/>
                <a:latin typeface="Calibri" panose="020F0502020204030204" pitchFamily="34" charset="0"/>
                <a:cs typeface="Calibri" panose="020F0502020204030204" pitchFamily="34" charset="0"/>
              </a:rPr>
              <a:t>المُزَاح</a:t>
            </a:r>
            <a:r>
              <a:rPr lang="en-US" sz="2400" dirty="0">
                <a:effectLst/>
                <a:latin typeface="Cambria" panose="02040503050406030204" pitchFamily="18" charset="0"/>
              </a:rPr>
              <a:t> (</a:t>
            </a:r>
            <a:r>
              <a:rPr lang="en-US" sz="2400" dirty="0" err="1">
                <a:effectLst/>
                <a:latin typeface="Cambria" panose="02040503050406030204" pitchFamily="18" charset="0"/>
              </a:rPr>
              <a:t>canda</a:t>
            </a:r>
            <a:r>
              <a:rPr lang="en-US" sz="2400" dirty="0">
                <a:effectLst/>
                <a:latin typeface="Cambria" panose="02040503050406030204" pitchFamily="18" charset="0"/>
              </a:rPr>
              <a:t>)</a:t>
            </a:r>
            <a:endParaRPr lang="en-ID" sz="2400" dirty="0">
              <a:effectLst/>
            </a:endParaRPr>
          </a:p>
          <a:p>
            <a:pPr marL="342900" indent="-342900">
              <a:buFont typeface="Wingdings" panose="05000000000000000000" pitchFamily="2" charset="2"/>
              <a:buChar char="ü"/>
            </a:pPr>
            <a:r>
              <a:rPr lang="en-US" sz="2400" i="1" dirty="0" err="1">
                <a:effectLst/>
                <a:latin typeface="Cambria" panose="02040503050406030204" pitchFamily="18" charset="0"/>
              </a:rPr>
              <a:t>Basyaasyah</a:t>
            </a:r>
            <a:r>
              <a:rPr lang="en-US" sz="2400" dirty="0">
                <a:effectLst/>
                <a:latin typeface="Cambria" panose="02040503050406030204" pitchFamily="18" charset="0"/>
              </a:rPr>
              <a:t> / </a:t>
            </a:r>
            <a:r>
              <a:rPr lang="ar-SA" sz="2400" dirty="0">
                <a:effectLst/>
                <a:latin typeface="Calibri" panose="020F0502020204030204" pitchFamily="34" charset="0"/>
                <a:cs typeface="Calibri" panose="020F0502020204030204" pitchFamily="34" charset="0"/>
              </a:rPr>
              <a:t>البَشَاشَة</a:t>
            </a:r>
            <a:r>
              <a:rPr lang="en-US" sz="2400" dirty="0">
                <a:effectLst/>
                <a:latin typeface="Cambria" panose="02040503050406030204" pitchFamily="18" charset="0"/>
              </a:rPr>
              <a:t> (</a:t>
            </a:r>
            <a:r>
              <a:rPr lang="en-US" sz="2400" dirty="0" err="1">
                <a:effectLst/>
                <a:latin typeface="Cambria" panose="02040503050406030204" pitchFamily="18" charset="0"/>
              </a:rPr>
              <a:t>berseri-seri</a:t>
            </a:r>
            <a:r>
              <a:rPr lang="en-US" sz="2400" dirty="0">
                <a:effectLst/>
                <a:latin typeface="Cambria" panose="02040503050406030204" pitchFamily="18" charset="0"/>
              </a:rPr>
              <a:t>)</a:t>
            </a:r>
            <a:endParaRPr lang="en-ID" sz="2400" dirty="0">
              <a:effectLst/>
            </a:endParaRPr>
          </a:p>
          <a:p>
            <a:pPr marL="342900" indent="-342900">
              <a:buFont typeface="Wingdings" panose="05000000000000000000" pitchFamily="2" charset="2"/>
              <a:buChar char="ü"/>
            </a:pPr>
            <a:r>
              <a:rPr lang="en-US" sz="2400" i="1" dirty="0" err="1">
                <a:effectLst/>
                <a:latin typeface="Cambria" panose="02040503050406030204" pitchFamily="18" charset="0"/>
              </a:rPr>
              <a:t>Rifq</a:t>
            </a:r>
            <a:r>
              <a:rPr lang="en-US" sz="2400" dirty="0">
                <a:effectLst/>
                <a:latin typeface="Cambria" panose="02040503050406030204" pitchFamily="18" charset="0"/>
              </a:rPr>
              <a:t> / </a:t>
            </a:r>
            <a:r>
              <a:rPr lang="ar-SA" sz="2400" dirty="0">
                <a:effectLst/>
                <a:latin typeface="Calibri" panose="020F0502020204030204" pitchFamily="34" charset="0"/>
                <a:cs typeface="Calibri" panose="020F0502020204030204" pitchFamily="34" charset="0"/>
              </a:rPr>
              <a:t>الرِّفْق</a:t>
            </a:r>
            <a:r>
              <a:rPr lang="en-US" sz="2400" dirty="0">
                <a:effectLst/>
                <a:latin typeface="Cambria" panose="02040503050406030204" pitchFamily="18" charset="0"/>
              </a:rPr>
              <a:t> (</a:t>
            </a:r>
            <a:r>
              <a:rPr lang="en-US" sz="2400" dirty="0" err="1">
                <a:effectLst/>
                <a:latin typeface="Cambria" panose="02040503050406030204" pitchFamily="18" charset="0"/>
              </a:rPr>
              <a:t>lemah</a:t>
            </a:r>
            <a:r>
              <a:rPr lang="en-US" sz="2400" dirty="0">
                <a:effectLst/>
                <a:latin typeface="Cambria" panose="02040503050406030204" pitchFamily="18" charset="0"/>
              </a:rPr>
              <a:t> </a:t>
            </a:r>
            <a:r>
              <a:rPr lang="en-US" sz="2400" dirty="0" err="1">
                <a:effectLst/>
                <a:latin typeface="Cambria" panose="02040503050406030204" pitchFamily="18" charset="0"/>
              </a:rPr>
              <a:t>lembut</a:t>
            </a:r>
            <a:r>
              <a:rPr lang="en-US" sz="2400" dirty="0">
                <a:effectLst/>
                <a:latin typeface="Cambria" panose="02040503050406030204" pitchFamily="18" charset="0"/>
              </a:rPr>
              <a:t>)</a:t>
            </a:r>
            <a:endParaRPr lang="en-ID" sz="2400" dirty="0">
              <a:effectLst/>
            </a:endParaRPr>
          </a:p>
          <a:p>
            <a:pPr marL="342900" indent="-342900">
              <a:buFont typeface="Wingdings" panose="05000000000000000000" pitchFamily="2" charset="2"/>
              <a:buChar char="ü"/>
            </a:pPr>
            <a:r>
              <a:rPr lang="en-US" sz="2400" i="1" dirty="0" err="1">
                <a:effectLst/>
                <a:latin typeface="Cambria" panose="02040503050406030204" pitchFamily="18" charset="0"/>
              </a:rPr>
              <a:t>Rahmah</a:t>
            </a:r>
            <a:r>
              <a:rPr lang="en-US" sz="2400" dirty="0">
                <a:effectLst/>
                <a:latin typeface="Cambria" panose="02040503050406030204" pitchFamily="18" charset="0"/>
              </a:rPr>
              <a:t> / </a:t>
            </a:r>
            <a:r>
              <a:rPr lang="ar-SA" sz="2400" dirty="0">
                <a:effectLst/>
                <a:latin typeface="Calibri" panose="020F0502020204030204" pitchFamily="34" charset="0"/>
                <a:cs typeface="Calibri" panose="020F0502020204030204" pitchFamily="34" charset="0"/>
              </a:rPr>
              <a:t>الرَّحْمَة</a:t>
            </a:r>
            <a:r>
              <a:rPr lang="en-US" sz="2400" dirty="0">
                <a:effectLst/>
                <a:latin typeface="Cambria" panose="02040503050406030204" pitchFamily="18" charset="0"/>
              </a:rPr>
              <a:t> (</a:t>
            </a:r>
            <a:r>
              <a:rPr lang="en-US" sz="2400" dirty="0" err="1">
                <a:effectLst/>
                <a:latin typeface="Cambria" panose="02040503050406030204" pitchFamily="18" charset="0"/>
              </a:rPr>
              <a:t>belas</a:t>
            </a:r>
            <a:r>
              <a:rPr lang="en-US" sz="2400" dirty="0">
                <a:effectLst/>
                <a:latin typeface="Cambria" panose="02040503050406030204" pitchFamily="18" charset="0"/>
              </a:rPr>
              <a:t> </a:t>
            </a:r>
            <a:r>
              <a:rPr lang="en-US" sz="2400" dirty="0" err="1">
                <a:effectLst/>
                <a:latin typeface="Cambria" panose="02040503050406030204" pitchFamily="18" charset="0"/>
              </a:rPr>
              <a:t>kasih</a:t>
            </a:r>
            <a:r>
              <a:rPr lang="en-US" sz="2400" dirty="0">
                <a:effectLst/>
                <a:latin typeface="Cambria" panose="02040503050406030204" pitchFamily="18" charset="0"/>
              </a:rPr>
              <a:t>)</a:t>
            </a:r>
            <a:endParaRPr lang="en-ID" sz="2400" dirty="0">
              <a:effectLst/>
            </a:endParaRPr>
          </a:p>
          <a:p>
            <a:pPr marL="342900" indent="-342900">
              <a:buFont typeface="Wingdings" panose="05000000000000000000" pitchFamily="2" charset="2"/>
              <a:buChar char="ü"/>
            </a:pPr>
            <a:r>
              <a:rPr lang="en-ID" sz="2400" i="1" dirty="0" err="1">
                <a:effectLst/>
                <a:latin typeface="Cambria" panose="02040503050406030204" pitchFamily="18" charset="0"/>
              </a:rPr>
              <a:t>Firaasah</a:t>
            </a:r>
            <a:r>
              <a:rPr lang="en-ID" sz="2400" dirty="0">
                <a:effectLst/>
                <a:latin typeface="Cambria" panose="02040503050406030204" pitchFamily="18" charset="0"/>
              </a:rPr>
              <a:t> / </a:t>
            </a:r>
            <a:r>
              <a:rPr lang="ar-SA" sz="2400" dirty="0">
                <a:effectLst/>
                <a:latin typeface="Calibri" panose="020F0502020204030204" pitchFamily="34" charset="0"/>
                <a:cs typeface="Calibri" panose="020F0502020204030204" pitchFamily="34" charset="0"/>
              </a:rPr>
              <a:t>الفِرَاسَة</a:t>
            </a:r>
            <a:r>
              <a:rPr lang="en-ID" sz="2400" dirty="0">
                <a:effectLst/>
                <a:latin typeface="Cambria" panose="02040503050406030204" pitchFamily="18" charset="0"/>
              </a:rPr>
              <a:t> (</a:t>
            </a:r>
            <a:r>
              <a:rPr lang="en-ID" sz="2400" dirty="0" err="1">
                <a:effectLst/>
                <a:latin typeface="Cambria" panose="02040503050406030204" pitchFamily="18" charset="0"/>
              </a:rPr>
              <a:t>firasat</a:t>
            </a:r>
            <a:r>
              <a:rPr lang="en-ID" sz="2400" dirty="0">
                <a:effectLst/>
                <a:latin typeface="Cambria" panose="02040503050406030204" pitchFamily="18" charset="0"/>
              </a:rPr>
              <a:t>)</a:t>
            </a:r>
            <a:endParaRPr lang="en-ID" sz="2400" dirty="0">
              <a:effectLst/>
            </a:endParaRPr>
          </a:p>
        </p:txBody>
      </p:sp>
      <p:sp>
        <p:nvSpPr>
          <p:cNvPr id="6" name="Content Placeholder 2">
            <a:extLst>
              <a:ext uri="{FF2B5EF4-FFF2-40B4-BE49-F238E27FC236}">
                <a16:creationId xmlns:a16="http://schemas.microsoft.com/office/drawing/2014/main" id="{0358D165-8653-4C0B-971B-FE7BDF8FA4D0}"/>
              </a:ext>
            </a:extLst>
          </p:cNvPr>
          <p:cNvSpPr txBox="1">
            <a:spLocks/>
          </p:cNvSpPr>
          <p:nvPr/>
        </p:nvSpPr>
        <p:spPr>
          <a:xfrm rot="19885689">
            <a:off x="4453645" y="2645199"/>
            <a:ext cx="3816424" cy="1152128"/>
          </a:xfrm>
          <a:prstGeom prst="rect">
            <a:avLst/>
          </a:prstGeom>
          <a:ln w="57150">
            <a:solidFill>
              <a:schemeClr val="bg1"/>
            </a:solidFill>
          </a:ln>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id-ID" sz="6000" dirty="0">
                <a:solidFill>
                  <a:srgbClr val="FFFF00"/>
                </a:solidFill>
                <a:effectLst>
                  <a:glow rad="292100">
                    <a:schemeClr val="tx1"/>
                  </a:glow>
                </a:effectLst>
              </a:rPr>
              <a:t>Ego</a:t>
            </a:r>
            <a:r>
              <a:rPr lang="en-US" sz="6000" dirty="0">
                <a:solidFill>
                  <a:srgbClr val="FFFF00"/>
                </a:solidFill>
                <a:effectLst>
                  <a:glow rad="292100">
                    <a:schemeClr val="tx1"/>
                  </a:glow>
                </a:effectLst>
              </a:rPr>
              <a:t> </a:t>
            </a:r>
            <a:r>
              <a:rPr lang="en-US" sz="6000" dirty="0" err="1">
                <a:solidFill>
                  <a:srgbClr val="FFFF00"/>
                </a:solidFill>
                <a:effectLst>
                  <a:glow rad="292100">
                    <a:schemeClr val="tx1"/>
                  </a:glow>
                </a:effectLst>
              </a:rPr>
              <a:t>Sedang</a:t>
            </a:r>
            <a:endParaRPr lang="id-ID" sz="6000" dirty="0">
              <a:solidFill>
                <a:srgbClr val="FFFF00"/>
              </a:solidFill>
              <a:effectLst>
                <a:glow rad="292100">
                  <a:schemeClr val="tx1"/>
                </a:glow>
              </a:effectLst>
            </a:endParaRPr>
          </a:p>
        </p:txBody>
      </p:sp>
    </p:spTree>
    <p:extLst>
      <p:ext uri="{BB962C8B-B14F-4D97-AF65-F5344CB8AC3E}">
        <p14:creationId xmlns:p14="http://schemas.microsoft.com/office/powerpoint/2010/main" val="4237619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326EA-78AF-42A3-A40E-B12E0626EBEE}"/>
              </a:ext>
            </a:extLst>
          </p:cNvPr>
          <p:cNvSpPr>
            <a:spLocks noGrp="1"/>
          </p:cNvSpPr>
          <p:nvPr>
            <p:ph type="title"/>
          </p:nvPr>
        </p:nvSpPr>
        <p:spPr>
          <a:xfrm>
            <a:off x="457200" y="2708920"/>
            <a:ext cx="8229600" cy="1143000"/>
          </a:xfrm>
        </p:spPr>
        <p:txBody>
          <a:bodyPr>
            <a:noAutofit/>
          </a:bodyPr>
          <a:lstStyle/>
          <a:p>
            <a:r>
              <a:rPr lang="en-US" sz="3600" dirty="0" err="1"/>
              <a:t>Jenis</a:t>
            </a:r>
            <a:r>
              <a:rPr lang="en-US" sz="3600" dirty="0"/>
              <a:t> </a:t>
            </a:r>
            <a:r>
              <a:rPr lang="en-US" sz="3600" dirty="0" err="1"/>
              <a:t>kegiatan</a:t>
            </a:r>
            <a:r>
              <a:rPr lang="en-US" sz="3600" dirty="0"/>
              <a:t> </a:t>
            </a:r>
            <a:r>
              <a:rPr lang="en-US" sz="3600" dirty="0" err="1"/>
              <a:t>atau</a:t>
            </a:r>
            <a:r>
              <a:rPr lang="en-US" sz="3600" dirty="0"/>
              <a:t> </a:t>
            </a:r>
            <a:r>
              <a:rPr lang="en-US" sz="3600" dirty="0" err="1"/>
              <a:t>peristiwa</a:t>
            </a:r>
            <a:r>
              <a:rPr lang="en-US" sz="3600" dirty="0"/>
              <a:t> yang </a:t>
            </a:r>
            <a:r>
              <a:rPr lang="en-US" sz="3600" dirty="0" err="1"/>
              <a:t>dimanfaatkan</a:t>
            </a:r>
            <a:r>
              <a:rPr lang="en-US" sz="3600" dirty="0"/>
              <a:t> </a:t>
            </a:r>
            <a:r>
              <a:rPr lang="en-US" sz="3600" dirty="0" err="1"/>
              <a:t>untuk</a:t>
            </a:r>
            <a:r>
              <a:rPr lang="en-US" sz="3600" dirty="0"/>
              <a:t> </a:t>
            </a:r>
            <a:r>
              <a:rPr lang="en-US" sz="3600" dirty="0" err="1"/>
              <a:t>pembelajaran</a:t>
            </a:r>
            <a:r>
              <a:rPr lang="en-US" sz="3600" dirty="0"/>
              <a:t> </a:t>
            </a:r>
            <a:r>
              <a:rPr lang="en-US" sz="3600" dirty="0" err="1"/>
              <a:t>adalah</a:t>
            </a:r>
            <a:r>
              <a:rPr lang="en-US" sz="3600" dirty="0"/>
              <a:t> yang </a:t>
            </a:r>
            <a:r>
              <a:rPr lang="en-US" sz="3600" dirty="0" err="1"/>
              <a:t>terkait</a:t>
            </a:r>
            <a:r>
              <a:rPr lang="en-US" sz="3600" dirty="0"/>
              <a:t> </a:t>
            </a:r>
            <a:r>
              <a:rPr lang="en-US" sz="3600" dirty="0" err="1"/>
              <a:t>dengan</a:t>
            </a:r>
            <a:r>
              <a:rPr lang="en-US" sz="3600" dirty="0"/>
              <a:t> </a:t>
            </a:r>
            <a:r>
              <a:rPr lang="en-US" sz="3600" dirty="0" err="1"/>
              <a:t>penuntasan</a:t>
            </a:r>
            <a:r>
              <a:rPr lang="en-US" sz="3600" dirty="0"/>
              <a:t>:</a:t>
            </a:r>
            <a:br>
              <a:rPr lang="en-US" sz="3600" dirty="0"/>
            </a:br>
            <a:br>
              <a:rPr lang="en-US" sz="3600" dirty="0"/>
            </a:br>
            <a:r>
              <a:rPr lang="en-US" sz="3600" b="1" dirty="0"/>
              <a:t>Rasa </a:t>
            </a:r>
            <a:r>
              <a:rPr lang="en-US" sz="3600" b="1" dirty="0" err="1"/>
              <a:t>ingin</a:t>
            </a:r>
            <a:r>
              <a:rPr lang="en-US" sz="3600" b="1" dirty="0"/>
              <a:t> </a:t>
            </a:r>
            <a:r>
              <a:rPr lang="en-US" sz="3600" b="1" dirty="0" err="1"/>
              <a:t>tahu</a:t>
            </a:r>
            <a:r>
              <a:rPr lang="en-US" sz="3600" b="1" dirty="0"/>
              <a:t> </a:t>
            </a:r>
            <a:r>
              <a:rPr lang="en-US" sz="3600" dirty="0" err="1"/>
              <a:t>santri</a:t>
            </a:r>
            <a:r>
              <a:rPr lang="en-US" sz="3600" dirty="0"/>
              <a:t>.</a:t>
            </a:r>
            <a:endParaRPr lang="en-ID" sz="3600" dirty="0"/>
          </a:p>
        </p:txBody>
      </p:sp>
    </p:spTree>
    <p:extLst>
      <p:ext uri="{BB962C8B-B14F-4D97-AF65-F5344CB8AC3E}">
        <p14:creationId xmlns:p14="http://schemas.microsoft.com/office/powerpoint/2010/main" val="6999232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2A88F-185A-4748-8C6B-DB95E059EA98}"/>
              </a:ext>
            </a:extLst>
          </p:cNvPr>
          <p:cNvSpPr>
            <a:spLocks noGrp="1"/>
          </p:cNvSpPr>
          <p:nvPr>
            <p:ph type="title"/>
          </p:nvPr>
        </p:nvSpPr>
        <p:spPr>
          <a:xfrm>
            <a:off x="457200" y="2297679"/>
            <a:ext cx="8229600" cy="1143000"/>
          </a:xfrm>
        </p:spPr>
        <p:txBody>
          <a:bodyPr>
            <a:normAutofit fontScale="90000"/>
          </a:bodyPr>
          <a:lstStyle/>
          <a:p>
            <a:r>
              <a:rPr lang="en-US" dirty="0" err="1"/>
              <a:t>Jika</a:t>
            </a:r>
            <a:r>
              <a:rPr lang="en-US" dirty="0"/>
              <a:t> </a:t>
            </a:r>
            <a:r>
              <a:rPr lang="en-US" dirty="0" err="1"/>
              <a:t>santri</a:t>
            </a:r>
            <a:r>
              <a:rPr lang="en-US" dirty="0"/>
              <a:t> </a:t>
            </a:r>
            <a:r>
              <a:rPr lang="en-US" dirty="0" err="1"/>
              <a:t>melakukan</a:t>
            </a:r>
            <a:r>
              <a:rPr lang="en-US" dirty="0"/>
              <a:t> </a:t>
            </a:r>
            <a:r>
              <a:rPr lang="en-US" dirty="0" err="1"/>
              <a:t>pelanggaran</a:t>
            </a:r>
            <a:r>
              <a:rPr lang="en-US" dirty="0"/>
              <a:t>, </a:t>
            </a:r>
            <a:r>
              <a:rPr lang="en-US" dirty="0" err="1"/>
              <a:t>nasehati</a:t>
            </a:r>
            <a:r>
              <a:rPr lang="en-US" dirty="0"/>
              <a:t> </a:t>
            </a:r>
            <a:r>
              <a:rPr lang="en-US" dirty="0" err="1"/>
              <a:t>tetapi</a:t>
            </a:r>
            <a:r>
              <a:rPr lang="en-US" dirty="0"/>
              <a:t> </a:t>
            </a:r>
            <a:r>
              <a:rPr lang="en-US" dirty="0" err="1"/>
              <a:t>belum</a:t>
            </a:r>
            <a:r>
              <a:rPr lang="en-US" dirty="0"/>
              <a:t> </a:t>
            </a:r>
            <a:r>
              <a:rPr lang="en-US" dirty="0" err="1"/>
              <a:t>ada</a:t>
            </a:r>
            <a:r>
              <a:rPr lang="en-US" dirty="0"/>
              <a:t> </a:t>
            </a:r>
            <a:r>
              <a:rPr lang="en-US" dirty="0" err="1"/>
              <a:t>kemarahan</a:t>
            </a:r>
            <a:r>
              <a:rPr lang="en-US" dirty="0"/>
              <a:t>, </a:t>
            </a:r>
            <a:r>
              <a:rPr lang="en-US" dirty="0" err="1"/>
              <a:t>konsekuensi</a:t>
            </a:r>
            <a:r>
              <a:rPr lang="en-US" dirty="0"/>
              <a:t>, </a:t>
            </a:r>
            <a:r>
              <a:rPr lang="en-US" dirty="0" err="1"/>
              <a:t>atau</a:t>
            </a:r>
            <a:r>
              <a:rPr lang="en-US" dirty="0"/>
              <a:t> </a:t>
            </a:r>
            <a:r>
              <a:rPr lang="en-US" dirty="0" err="1"/>
              <a:t>hukuman</a:t>
            </a:r>
            <a:r>
              <a:rPr lang="en-US" dirty="0"/>
              <a:t>, </a:t>
            </a:r>
            <a:r>
              <a:rPr lang="en-US" dirty="0" err="1"/>
              <a:t>dengan</a:t>
            </a:r>
            <a:r>
              <a:rPr lang="en-US" dirty="0"/>
              <a:t> </a:t>
            </a:r>
            <a:r>
              <a:rPr lang="en-US" dirty="0" err="1"/>
              <a:t>catatan</a:t>
            </a:r>
            <a:r>
              <a:rPr lang="en-US" dirty="0"/>
              <a:t> </a:t>
            </a:r>
            <a:r>
              <a:rPr lang="en-US" dirty="0" err="1"/>
              <a:t>fase</a:t>
            </a:r>
            <a:r>
              <a:rPr lang="en-US" dirty="0"/>
              <a:t> </a:t>
            </a:r>
            <a:r>
              <a:rPr lang="en-US" dirty="0" err="1"/>
              <a:t>sebelumnya</a:t>
            </a:r>
            <a:r>
              <a:rPr lang="en-US" dirty="0"/>
              <a:t> </a:t>
            </a:r>
            <a:r>
              <a:rPr lang="en-US" dirty="0" err="1"/>
              <a:t>telah</a:t>
            </a:r>
            <a:r>
              <a:rPr lang="en-US" dirty="0"/>
              <a:t> </a:t>
            </a:r>
            <a:r>
              <a:rPr lang="en-US" dirty="0" err="1"/>
              <a:t>tuntas</a:t>
            </a:r>
            <a:r>
              <a:rPr lang="en-US" dirty="0"/>
              <a:t>. </a:t>
            </a:r>
            <a:r>
              <a:rPr lang="en-US" dirty="0" err="1"/>
              <a:t>Jika</a:t>
            </a:r>
            <a:r>
              <a:rPr lang="en-US" dirty="0"/>
              <a:t> </a:t>
            </a:r>
            <a:r>
              <a:rPr lang="en-US" dirty="0" err="1"/>
              <a:t>belum</a:t>
            </a:r>
            <a:r>
              <a:rPr lang="en-US" dirty="0"/>
              <a:t> </a:t>
            </a:r>
            <a:r>
              <a:rPr lang="en-US" dirty="0" err="1"/>
              <a:t>tuntas</a:t>
            </a:r>
            <a:r>
              <a:rPr lang="en-US" dirty="0"/>
              <a:t>, </a:t>
            </a:r>
            <a:r>
              <a:rPr lang="en-US" dirty="0" err="1"/>
              <a:t>maka</a:t>
            </a:r>
            <a:r>
              <a:rPr lang="en-US" dirty="0"/>
              <a:t> </a:t>
            </a:r>
            <a:r>
              <a:rPr lang="en-US" dirty="0" err="1"/>
              <a:t>perlu</a:t>
            </a:r>
            <a:r>
              <a:rPr lang="en-US" dirty="0"/>
              <a:t> </a:t>
            </a:r>
            <a:r>
              <a:rPr lang="en-US" dirty="0" err="1"/>
              <a:t>diulang</a:t>
            </a:r>
            <a:r>
              <a:rPr lang="en-US" dirty="0"/>
              <a:t> </a:t>
            </a:r>
            <a:r>
              <a:rPr lang="en-US" dirty="0" err="1"/>
              <a:t>kembali</a:t>
            </a:r>
            <a:r>
              <a:rPr lang="en-US" dirty="0"/>
              <a:t>.</a:t>
            </a:r>
            <a:endParaRPr lang="en-ID" dirty="0"/>
          </a:p>
        </p:txBody>
      </p:sp>
    </p:spTree>
    <p:extLst>
      <p:ext uri="{BB962C8B-B14F-4D97-AF65-F5344CB8AC3E}">
        <p14:creationId xmlns:p14="http://schemas.microsoft.com/office/powerpoint/2010/main" val="39536817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090911" y="1665273"/>
            <a:ext cx="7368446" cy="4764123"/>
            <a:chOff x="1090911" y="1665273"/>
            <a:chExt cx="7368446" cy="4764123"/>
          </a:xfrm>
        </p:grpSpPr>
        <p:pic>
          <p:nvPicPr>
            <p:cNvPr id="5" name="Picture 4" descr="Gambar terkait"/>
            <p:cNvPicPr>
              <a:picLocks noChangeAspect="1" noChangeArrowheads="1"/>
            </p:cNvPicPr>
            <p:nvPr/>
          </p:nvPicPr>
          <p:blipFill>
            <a:blip r:embed="rId2"/>
            <a:srcRect/>
            <a:stretch>
              <a:fillRect/>
            </a:stretch>
          </p:blipFill>
          <p:spPr bwMode="auto">
            <a:xfrm>
              <a:off x="1090911" y="1665273"/>
              <a:ext cx="7267303" cy="4764123"/>
            </a:xfrm>
            <a:prstGeom prst="rect">
              <a:avLst/>
            </a:prstGeom>
            <a:noFill/>
          </p:spPr>
        </p:pic>
        <p:sp>
          <p:nvSpPr>
            <p:cNvPr id="6" name="TextBox 5"/>
            <p:cNvSpPr txBox="1"/>
            <p:nvPr/>
          </p:nvSpPr>
          <p:spPr>
            <a:xfrm rot="21315678">
              <a:off x="2709608" y="2621796"/>
              <a:ext cx="4591814" cy="1446550"/>
            </a:xfrm>
            <a:prstGeom prst="rect">
              <a:avLst/>
            </a:prstGeom>
            <a:noFill/>
            <a:scene3d>
              <a:camera prst="isometricOffAxis2Top">
                <a:rot lat="19500000" lon="3000000" rev="18000000"/>
              </a:camera>
              <a:lightRig rig="threePt" dir="t"/>
            </a:scene3d>
          </p:spPr>
          <p:txBody>
            <a:bodyPr wrap="square" rtlCol="0">
              <a:spAutoFit/>
            </a:bodyPr>
            <a:lstStyle/>
            <a:p>
              <a:pPr algn="ctr"/>
              <a:r>
                <a:rPr lang="en-US" sz="6000" b="1" dirty="0">
                  <a:solidFill>
                    <a:schemeClr val="bg1"/>
                  </a:solidFill>
                  <a:effectLst>
                    <a:glow rad="228600">
                      <a:schemeClr val="tx1">
                        <a:alpha val="40000"/>
                      </a:schemeClr>
                    </a:glow>
                  </a:effectLst>
                </a:rPr>
                <a:t>SD - SMP</a:t>
              </a:r>
            </a:p>
            <a:p>
              <a:pPr algn="ctr"/>
              <a:r>
                <a:rPr lang="en-US" sz="2800" b="1" dirty="0">
                  <a:solidFill>
                    <a:schemeClr val="bg1"/>
                  </a:solidFill>
                  <a:effectLst>
                    <a:glow rad="228600">
                      <a:schemeClr val="tx1">
                        <a:alpha val="40000"/>
                      </a:schemeClr>
                    </a:glow>
                  </a:effectLst>
                </a:rPr>
                <a:t>KELAS 4 – 9 </a:t>
              </a:r>
            </a:p>
          </p:txBody>
        </p:sp>
        <p:sp>
          <p:nvSpPr>
            <p:cNvPr id="7" name="TextBox 6"/>
            <p:cNvSpPr txBox="1"/>
            <p:nvPr/>
          </p:nvSpPr>
          <p:spPr>
            <a:xfrm rot="21315678">
              <a:off x="3867543" y="1898177"/>
              <a:ext cx="4591814" cy="1200329"/>
            </a:xfrm>
            <a:prstGeom prst="rect">
              <a:avLst/>
            </a:prstGeom>
            <a:noFill/>
            <a:scene3d>
              <a:camera prst="isometricOffAxis2Top">
                <a:rot lat="19200000" lon="3000000" rev="18000000"/>
              </a:camera>
              <a:lightRig rig="threePt" dir="t"/>
            </a:scene3d>
          </p:spPr>
          <p:txBody>
            <a:bodyPr wrap="square" rtlCol="0">
              <a:spAutoFit/>
            </a:bodyPr>
            <a:lstStyle/>
            <a:p>
              <a:pPr algn="ctr"/>
              <a:r>
                <a:rPr lang="en-US" sz="3600" b="1" dirty="0">
                  <a:solidFill>
                    <a:schemeClr val="bg1"/>
                  </a:solidFill>
                  <a:effectLst>
                    <a:glow rad="228600">
                      <a:schemeClr val="tx1">
                        <a:alpha val="40000"/>
                      </a:schemeClr>
                    </a:glow>
                  </a:effectLst>
                </a:rPr>
                <a:t>LEMBAR PEMBELAJARAN</a:t>
              </a:r>
              <a:endParaRPr lang="en-US" sz="2800" b="1" dirty="0">
                <a:solidFill>
                  <a:schemeClr val="bg1"/>
                </a:solidFill>
                <a:effectLst>
                  <a:glow rad="228600">
                    <a:schemeClr val="tx1">
                      <a:alpha val="40000"/>
                    </a:schemeClr>
                  </a:glow>
                </a:effectLst>
              </a:endParaRPr>
            </a:p>
          </p:txBody>
        </p:sp>
      </p:grpSp>
      <p:sp>
        <p:nvSpPr>
          <p:cNvPr id="3" name="Title 1"/>
          <p:cNvSpPr>
            <a:spLocks noGrp="1"/>
          </p:cNvSpPr>
          <p:nvPr>
            <p:ph type="title"/>
          </p:nvPr>
        </p:nvSpPr>
        <p:spPr>
          <a:xfrm>
            <a:off x="457200" y="71422"/>
            <a:ext cx="8229600" cy="1143000"/>
          </a:xfrm>
        </p:spPr>
        <p:txBody>
          <a:bodyPr>
            <a:normAutofit fontScale="90000"/>
          </a:bodyPr>
          <a:lstStyle/>
          <a:p>
            <a:pPr marL="536575" indent="-536575"/>
            <a:r>
              <a:rPr lang="en-US" dirty="0"/>
              <a:t>3. </a:t>
            </a:r>
            <a:r>
              <a:rPr lang="en-US" dirty="0" err="1"/>
              <a:t>Pembelajaran</a:t>
            </a:r>
            <a:r>
              <a:rPr lang="en-US" dirty="0"/>
              <a:t> </a:t>
            </a:r>
            <a:r>
              <a:rPr lang="en-US" dirty="0" err="1"/>
              <a:t>kelas</a:t>
            </a:r>
            <a:r>
              <a:rPr lang="en-US" dirty="0"/>
              <a:t> 4 – 9 SD - SMP</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 name="Rectangle 5"/>
          <p:cNvSpPr/>
          <p:nvPr/>
        </p:nvSpPr>
        <p:spPr>
          <a:xfrm>
            <a:off x="1714480" y="725647"/>
            <a:ext cx="7715304" cy="5755422"/>
          </a:xfrm>
          <a:prstGeom prst="rect">
            <a:avLst/>
          </a:prstGeom>
        </p:spPr>
        <p:txBody>
          <a:bodyPr wrap="square">
            <a:spAutoFit/>
          </a:bodyPr>
          <a:lstStyle/>
          <a:p>
            <a:pPr marL="266700" indent="-266700" defTabSz="0"/>
            <a:r>
              <a:rPr lang="en-US" sz="2400" dirty="0">
                <a:solidFill>
                  <a:schemeClr val="bg1"/>
                </a:solidFill>
                <a:ea typeface="Times New Roman" pitchFamily="18" charset="0"/>
                <a:cs typeface="Traditional Arabic" pitchFamily="2" charset="-78"/>
              </a:rPr>
              <a:t>KONDISI ANAK:</a:t>
            </a:r>
            <a:endParaRPr lang="id-ID" sz="2400" dirty="0">
              <a:solidFill>
                <a:schemeClr val="bg1"/>
              </a:solidFill>
              <a:ea typeface="Times New Roman" pitchFamily="18" charset="0"/>
              <a:cs typeface="Traditional Arabic" pitchFamily="2" charset="-78"/>
            </a:endParaRPr>
          </a:p>
          <a:p>
            <a:pPr>
              <a:buFont typeface="Wingdings" pitchFamily="2" charset="2"/>
              <a:buChar char="ü"/>
            </a:pPr>
            <a:r>
              <a:rPr lang="en-US" sz="2400" dirty="0" err="1">
                <a:solidFill>
                  <a:srgbClr val="FFFF00"/>
                </a:solidFill>
              </a:rPr>
              <a:t>Fokus</a:t>
            </a:r>
            <a:r>
              <a:rPr lang="en-US" sz="2400" dirty="0">
                <a:solidFill>
                  <a:srgbClr val="FFFF00"/>
                </a:solidFill>
              </a:rPr>
              <a:t> </a:t>
            </a:r>
            <a:r>
              <a:rPr lang="en-US" sz="2400" dirty="0" err="1">
                <a:solidFill>
                  <a:srgbClr val="FFFF00"/>
                </a:solidFill>
              </a:rPr>
              <a:t>pada</a:t>
            </a:r>
            <a:r>
              <a:rPr lang="en-US" sz="2400" dirty="0">
                <a:solidFill>
                  <a:srgbClr val="FFFF00"/>
                </a:solidFill>
              </a:rPr>
              <a:t> </a:t>
            </a:r>
            <a:r>
              <a:rPr lang="en-US" sz="2400" dirty="0" err="1">
                <a:solidFill>
                  <a:srgbClr val="FFFF00"/>
                </a:solidFill>
              </a:rPr>
              <a:t>bidang</a:t>
            </a:r>
            <a:r>
              <a:rPr lang="en-US" sz="2400" dirty="0">
                <a:solidFill>
                  <a:srgbClr val="FFFF00"/>
                </a:solidFill>
              </a:rPr>
              <a:t> </a:t>
            </a:r>
            <a:r>
              <a:rPr lang="en-US" sz="2400" dirty="0" err="1">
                <a:solidFill>
                  <a:srgbClr val="FFFF00"/>
                </a:solidFill>
              </a:rPr>
              <a:t>tertentu</a:t>
            </a:r>
            <a:endParaRPr lang="en-US" sz="2400" dirty="0">
              <a:solidFill>
                <a:srgbClr val="FFFF00"/>
              </a:solidFill>
            </a:endParaRPr>
          </a:p>
          <a:p>
            <a:pPr>
              <a:buFont typeface="Wingdings" pitchFamily="2" charset="2"/>
              <a:buChar char="ü"/>
            </a:pPr>
            <a:r>
              <a:rPr lang="en-US" sz="2400" dirty="0" err="1">
                <a:solidFill>
                  <a:srgbClr val="FFFF00"/>
                </a:solidFill>
              </a:rPr>
              <a:t>Senang</a:t>
            </a:r>
            <a:r>
              <a:rPr lang="en-US" sz="2400" dirty="0">
                <a:solidFill>
                  <a:srgbClr val="FFFF00"/>
                </a:solidFill>
              </a:rPr>
              <a:t> </a:t>
            </a:r>
            <a:r>
              <a:rPr lang="en-US" sz="2400" dirty="0" err="1">
                <a:solidFill>
                  <a:srgbClr val="FFFF00"/>
                </a:solidFill>
              </a:rPr>
              <a:t>berkarya</a:t>
            </a:r>
            <a:r>
              <a:rPr lang="en-US" sz="2400" dirty="0">
                <a:solidFill>
                  <a:srgbClr val="FFFF00"/>
                </a:solidFill>
              </a:rPr>
              <a:t> </a:t>
            </a:r>
          </a:p>
          <a:p>
            <a:pPr>
              <a:buFont typeface="Wingdings" pitchFamily="2" charset="2"/>
              <a:buChar char="ü"/>
            </a:pPr>
            <a:r>
              <a:rPr lang="en-US" sz="2400" dirty="0" err="1">
                <a:solidFill>
                  <a:srgbClr val="FFFF00"/>
                </a:solidFill>
              </a:rPr>
              <a:t>Mulai</a:t>
            </a:r>
            <a:r>
              <a:rPr lang="en-US" sz="2400" dirty="0">
                <a:solidFill>
                  <a:srgbClr val="FFFF00"/>
                </a:solidFill>
              </a:rPr>
              <a:t> </a:t>
            </a:r>
            <a:r>
              <a:rPr lang="en-US" sz="2400" dirty="0" err="1">
                <a:solidFill>
                  <a:srgbClr val="FFFF00"/>
                </a:solidFill>
              </a:rPr>
              <a:t>mandiri</a:t>
            </a:r>
            <a:r>
              <a:rPr lang="en-US" sz="2400" dirty="0">
                <a:solidFill>
                  <a:srgbClr val="FFFF00"/>
                </a:solidFill>
              </a:rPr>
              <a:t>  </a:t>
            </a:r>
          </a:p>
          <a:p>
            <a:pPr marL="449263" lvl="0" indent="-449263"/>
            <a:endParaRPr lang="en-US" sz="800" i="1" dirty="0">
              <a:solidFill>
                <a:srgbClr val="FFFF00"/>
              </a:solidFill>
            </a:endParaRPr>
          </a:p>
          <a:p>
            <a:pPr marL="449263" lvl="0" indent="-449263"/>
            <a:r>
              <a:rPr lang="en-US" sz="2400" dirty="0">
                <a:solidFill>
                  <a:schemeClr val="bg1"/>
                </a:solidFill>
              </a:rPr>
              <a:t>DASAR PEMBELAJARAN:</a:t>
            </a:r>
          </a:p>
          <a:p>
            <a:pPr>
              <a:buFont typeface="Wingdings" pitchFamily="2" charset="2"/>
              <a:buChar char="ü"/>
            </a:pPr>
            <a:r>
              <a:rPr lang="en-US" sz="2400" dirty="0" err="1">
                <a:solidFill>
                  <a:srgbClr val="FFFF00"/>
                </a:solidFill>
              </a:rPr>
              <a:t>Pembelajaran</a:t>
            </a:r>
            <a:r>
              <a:rPr lang="en-US" sz="2400" dirty="0">
                <a:solidFill>
                  <a:srgbClr val="FFFF00"/>
                </a:solidFill>
              </a:rPr>
              <a:t> </a:t>
            </a:r>
            <a:r>
              <a:rPr lang="en-US" sz="2400" dirty="0" err="1">
                <a:solidFill>
                  <a:srgbClr val="FFFF00"/>
                </a:solidFill>
              </a:rPr>
              <a:t>dengan</a:t>
            </a:r>
            <a:r>
              <a:rPr lang="en-US" sz="2400" dirty="0">
                <a:solidFill>
                  <a:srgbClr val="FFFF00"/>
                </a:solidFill>
              </a:rPr>
              <a:t> </a:t>
            </a:r>
            <a:r>
              <a:rPr lang="en-US" sz="2400" dirty="0" err="1">
                <a:solidFill>
                  <a:srgbClr val="FFFF00"/>
                </a:solidFill>
              </a:rPr>
              <a:t>pendisiplinan</a:t>
            </a:r>
            <a:r>
              <a:rPr lang="en-US" sz="2400" dirty="0">
                <a:solidFill>
                  <a:srgbClr val="FFFF00"/>
                </a:solidFill>
              </a:rPr>
              <a:t> </a:t>
            </a:r>
            <a:r>
              <a:rPr lang="en-US" sz="2400" dirty="0" err="1">
                <a:solidFill>
                  <a:srgbClr val="FFFF00"/>
                </a:solidFill>
              </a:rPr>
              <a:t>dan</a:t>
            </a:r>
            <a:r>
              <a:rPr lang="en-US" sz="2400" dirty="0">
                <a:solidFill>
                  <a:srgbClr val="FFFF00"/>
                </a:solidFill>
              </a:rPr>
              <a:t> </a:t>
            </a:r>
            <a:r>
              <a:rPr lang="en-US" sz="2400" dirty="0" err="1">
                <a:solidFill>
                  <a:srgbClr val="FFFF00"/>
                </a:solidFill>
              </a:rPr>
              <a:t>tanggung</a:t>
            </a:r>
            <a:r>
              <a:rPr lang="en-US" sz="2400" dirty="0">
                <a:solidFill>
                  <a:srgbClr val="FFFF00"/>
                </a:solidFill>
              </a:rPr>
              <a:t> </a:t>
            </a:r>
            <a:r>
              <a:rPr lang="en-US" sz="2400" dirty="0" err="1">
                <a:solidFill>
                  <a:srgbClr val="FFFF00"/>
                </a:solidFill>
              </a:rPr>
              <a:t>jawab</a:t>
            </a:r>
            <a:endParaRPr lang="en-US" sz="2400" dirty="0">
              <a:solidFill>
                <a:srgbClr val="FFFF00"/>
              </a:solidFill>
            </a:endParaRPr>
          </a:p>
          <a:p>
            <a:pPr>
              <a:buFont typeface="Wingdings" pitchFamily="2" charset="2"/>
              <a:buChar char="ü"/>
            </a:pPr>
            <a:r>
              <a:rPr lang="en-US" sz="2400" dirty="0" err="1">
                <a:solidFill>
                  <a:srgbClr val="FFFF00"/>
                </a:solidFill>
              </a:rPr>
              <a:t>Menjuruskan</a:t>
            </a:r>
            <a:r>
              <a:rPr lang="en-US" sz="2400" dirty="0">
                <a:solidFill>
                  <a:srgbClr val="FFFF00"/>
                </a:solidFill>
              </a:rPr>
              <a:t> </a:t>
            </a:r>
            <a:r>
              <a:rPr lang="en-US" sz="2400" dirty="0" err="1">
                <a:solidFill>
                  <a:srgbClr val="FFFF00"/>
                </a:solidFill>
              </a:rPr>
              <a:t>pada</a:t>
            </a:r>
            <a:r>
              <a:rPr lang="en-US" sz="2400" dirty="0">
                <a:solidFill>
                  <a:srgbClr val="FFFF00"/>
                </a:solidFill>
              </a:rPr>
              <a:t> </a:t>
            </a:r>
            <a:r>
              <a:rPr lang="en-US" sz="2400" dirty="0" err="1">
                <a:solidFill>
                  <a:srgbClr val="FFFF00"/>
                </a:solidFill>
              </a:rPr>
              <a:t>potensi</a:t>
            </a:r>
            <a:r>
              <a:rPr lang="en-US" sz="2400" dirty="0">
                <a:solidFill>
                  <a:srgbClr val="FFFF00"/>
                </a:solidFill>
              </a:rPr>
              <a:t> </a:t>
            </a:r>
            <a:r>
              <a:rPr lang="en-US" sz="2400" dirty="0" err="1">
                <a:solidFill>
                  <a:srgbClr val="FFFF00"/>
                </a:solidFill>
              </a:rPr>
              <a:t>uniknya</a:t>
            </a:r>
            <a:endParaRPr lang="en-US" sz="2400" dirty="0">
              <a:solidFill>
                <a:srgbClr val="FFFF00"/>
              </a:solidFill>
            </a:endParaRPr>
          </a:p>
          <a:p>
            <a:pPr>
              <a:buFont typeface="Wingdings" pitchFamily="2" charset="2"/>
              <a:buChar char="ü"/>
            </a:pPr>
            <a:r>
              <a:rPr lang="en-US" sz="2400" dirty="0" err="1">
                <a:solidFill>
                  <a:srgbClr val="FFFF00"/>
                </a:solidFill>
              </a:rPr>
              <a:t>Memagangkan</a:t>
            </a:r>
            <a:r>
              <a:rPr lang="en-US" sz="2400" dirty="0">
                <a:solidFill>
                  <a:srgbClr val="FFFF00"/>
                </a:solidFill>
              </a:rPr>
              <a:t> </a:t>
            </a:r>
            <a:r>
              <a:rPr lang="en-US" sz="2400" dirty="0" err="1">
                <a:solidFill>
                  <a:srgbClr val="FFFF00"/>
                </a:solidFill>
              </a:rPr>
              <a:t>pada</a:t>
            </a:r>
            <a:r>
              <a:rPr lang="en-US" sz="2400" dirty="0">
                <a:solidFill>
                  <a:srgbClr val="FFFF00"/>
                </a:solidFill>
              </a:rPr>
              <a:t> </a:t>
            </a:r>
            <a:r>
              <a:rPr lang="en-US" sz="2400" dirty="0" err="1">
                <a:solidFill>
                  <a:srgbClr val="FFFF00"/>
                </a:solidFill>
              </a:rPr>
              <a:t>bidang</a:t>
            </a:r>
            <a:r>
              <a:rPr lang="en-US" sz="2400" dirty="0">
                <a:solidFill>
                  <a:srgbClr val="FFFF00"/>
                </a:solidFill>
              </a:rPr>
              <a:t> </a:t>
            </a:r>
            <a:r>
              <a:rPr lang="en-US" sz="2400" dirty="0" err="1">
                <a:solidFill>
                  <a:srgbClr val="FFFF00"/>
                </a:solidFill>
              </a:rPr>
              <a:t>bakatnya</a:t>
            </a:r>
            <a:endParaRPr lang="en-US" sz="2400" dirty="0">
              <a:solidFill>
                <a:srgbClr val="FFFF00"/>
              </a:solidFill>
            </a:endParaRPr>
          </a:p>
          <a:p>
            <a:pPr marL="449263" lvl="0" indent="-449263">
              <a:buFont typeface="Wingdings" pitchFamily="2" charset="2"/>
              <a:buChar char="ü"/>
            </a:pPr>
            <a:endParaRPr lang="en-US" sz="800" dirty="0">
              <a:solidFill>
                <a:srgbClr val="FFFF00"/>
              </a:solidFill>
            </a:endParaRPr>
          </a:p>
          <a:p>
            <a:r>
              <a:rPr lang="en-US" sz="2400" dirty="0">
                <a:solidFill>
                  <a:schemeClr val="bg1"/>
                </a:solidFill>
              </a:rPr>
              <a:t>CARA BELAJAR ANAK:</a:t>
            </a:r>
          </a:p>
          <a:p>
            <a:pPr>
              <a:buFont typeface="Wingdings" pitchFamily="2" charset="2"/>
              <a:buChar char="ü"/>
            </a:pPr>
            <a:r>
              <a:rPr lang="en-US" sz="2400" dirty="0" err="1">
                <a:solidFill>
                  <a:srgbClr val="FFFF00"/>
                </a:solidFill>
              </a:rPr>
              <a:t>Berpikir</a:t>
            </a:r>
            <a:endParaRPr lang="en-US" sz="2400" dirty="0">
              <a:solidFill>
                <a:srgbClr val="FFFF00"/>
              </a:solidFill>
            </a:endParaRPr>
          </a:p>
          <a:p>
            <a:endParaRPr lang="en-US" sz="800" dirty="0">
              <a:solidFill>
                <a:srgbClr val="FFFF00"/>
              </a:solidFill>
            </a:endParaRPr>
          </a:p>
          <a:p>
            <a:pPr marL="449263" lvl="0" indent="-449263"/>
            <a:r>
              <a:rPr lang="en-US" sz="2400" dirty="0">
                <a:solidFill>
                  <a:schemeClr val="bg1"/>
                </a:solidFill>
              </a:rPr>
              <a:t>CARA PEMBELAJARAN:</a:t>
            </a:r>
          </a:p>
          <a:p>
            <a:pPr>
              <a:buFont typeface="Wingdings" pitchFamily="2" charset="2"/>
              <a:buChar char="ü"/>
            </a:pPr>
            <a:r>
              <a:rPr lang="en-US" sz="2400" dirty="0" err="1">
                <a:solidFill>
                  <a:srgbClr val="FFFF00"/>
                </a:solidFill>
              </a:rPr>
              <a:t>Penerapan</a:t>
            </a:r>
            <a:r>
              <a:rPr lang="en-US" sz="2400" dirty="0">
                <a:solidFill>
                  <a:srgbClr val="FFFF00"/>
                </a:solidFill>
              </a:rPr>
              <a:t> </a:t>
            </a:r>
            <a:r>
              <a:rPr lang="en-US" sz="2400" i="1" dirty="0">
                <a:solidFill>
                  <a:srgbClr val="FFFF00"/>
                </a:solidFill>
              </a:rPr>
              <a:t>reward and punishment</a:t>
            </a:r>
          </a:p>
          <a:p>
            <a:pPr>
              <a:buFont typeface="Wingdings" pitchFamily="2" charset="2"/>
              <a:buChar char="ü"/>
            </a:pPr>
            <a:r>
              <a:rPr lang="en-US" sz="2400" dirty="0" err="1">
                <a:solidFill>
                  <a:srgbClr val="FFFF00"/>
                </a:solidFill>
              </a:rPr>
              <a:t>Pembelajaran</a:t>
            </a:r>
            <a:r>
              <a:rPr lang="en-US" sz="2400" dirty="0">
                <a:solidFill>
                  <a:srgbClr val="FFFF00"/>
                </a:solidFill>
              </a:rPr>
              <a:t> </a:t>
            </a:r>
            <a:r>
              <a:rPr lang="en-US" sz="2400" dirty="0" err="1">
                <a:solidFill>
                  <a:srgbClr val="FFFF00"/>
                </a:solidFill>
              </a:rPr>
              <a:t>berbasis</a:t>
            </a:r>
            <a:r>
              <a:rPr lang="en-US" sz="2400" dirty="0">
                <a:solidFill>
                  <a:srgbClr val="FFFF00"/>
                </a:solidFill>
              </a:rPr>
              <a:t> </a:t>
            </a:r>
            <a:r>
              <a:rPr lang="en-US" sz="2400" dirty="0" err="1">
                <a:solidFill>
                  <a:srgbClr val="FFFF00"/>
                </a:solidFill>
              </a:rPr>
              <a:t>proyek</a:t>
            </a:r>
            <a:r>
              <a:rPr lang="en-US" sz="2400" dirty="0">
                <a:solidFill>
                  <a:srgbClr val="FFFF00"/>
                </a:solidFill>
              </a:rPr>
              <a:t> (project based learning)</a:t>
            </a:r>
          </a:p>
          <a:p>
            <a:pPr>
              <a:buFont typeface="Wingdings" pitchFamily="2" charset="2"/>
              <a:buChar char="ü"/>
            </a:pPr>
            <a:r>
              <a:rPr lang="en-US" sz="2400" dirty="0" err="1">
                <a:solidFill>
                  <a:srgbClr val="FFFF00"/>
                </a:solidFill>
              </a:rPr>
              <a:t>Memagangkan</a:t>
            </a:r>
            <a:r>
              <a:rPr lang="en-US" sz="2400" dirty="0">
                <a:solidFill>
                  <a:srgbClr val="FFFF00"/>
                </a:solidFill>
              </a:rPr>
              <a:t> </a:t>
            </a:r>
            <a:r>
              <a:rPr lang="en-US" sz="2400" dirty="0" err="1">
                <a:solidFill>
                  <a:srgbClr val="FFFF00"/>
                </a:solidFill>
              </a:rPr>
              <a:t>pada</a:t>
            </a:r>
            <a:r>
              <a:rPr lang="en-US" sz="2400" dirty="0">
                <a:solidFill>
                  <a:srgbClr val="FFFF00"/>
                </a:solidFill>
              </a:rPr>
              <a:t> </a:t>
            </a:r>
            <a:r>
              <a:rPr lang="en-US" sz="2400" dirty="0" err="1">
                <a:solidFill>
                  <a:srgbClr val="FFFF00"/>
                </a:solidFill>
              </a:rPr>
              <a:t>lembaga</a:t>
            </a:r>
            <a:r>
              <a:rPr lang="en-US" sz="2400" dirty="0">
                <a:solidFill>
                  <a:srgbClr val="FFFF00"/>
                </a:solidFill>
              </a:rPr>
              <a:t>/</a:t>
            </a:r>
            <a:r>
              <a:rPr lang="en-US" sz="2400" dirty="0" err="1">
                <a:solidFill>
                  <a:srgbClr val="FFFF00"/>
                </a:solidFill>
              </a:rPr>
              <a:t>dunia</a:t>
            </a:r>
            <a:r>
              <a:rPr lang="en-US" sz="2400" dirty="0">
                <a:solidFill>
                  <a:srgbClr val="FFFF00"/>
                </a:solidFill>
              </a:rPr>
              <a:t> </a:t>
            </a:r>
            <a:r>
              <a:rPr lang="en-US" sz="2400" dirty="0" err="1">
                <a:solidFill>
                  <a:srgbClr val="FFFF00"/>
                </a:solidFill>
              </a:rPr>
              <a:t>usaha</a:t>
            </a:r>
            <a:r>
              <a:rPr lang="en-US" sz="2400" dirty="0">
                <a:solidFill>
                  <a:srgbClr val="FFFF00"/>
                </a:solidFill>
              </a:rPr>
              <a:t>/</a:t>
            </a:r>
            <a:r>
              <a:rPr lang="en-US" sz="2400" dirty="0" err="1">
                <a:solidFill>
                  <a:srgbClr val="FFFF00"/>
                </a:solidFill>
              </a:rPr>
              <a:t>industri</a:t>
            </a:r>
            <a:endParaRPr lang="en-US" sz="2400" dirty="0">
              <a:solidFill>
                <a:srgbClr val="FFFF00"/>
              </a:solidFill>
            </a:endParaRPr>
          </a:p>
          <a:p>
            <a:pPr>
              <a:buFont typeface="Wingdings" pitchFamily="2" charset="2"/>
              <a:buChar char="ü"/>
            </a:pPr>
            <a:endParaRPr lang="en-US" sz="800" dirty="0">
              <a:solidFill>
                <a:srgbClr val="FFFF00"/>
              </a:solidFill>
            </a:endParaRPr>
          </a:p>
        </p:txBody>
      </p:sp>
      <p:sp>
        <p:nvSpPr>
          <p:cNvPr id="4" name="TextBox 3"/>
          <p:cNvSpPr txBox="1"/>
          <p:nvPr/>
        </p:nvSpPr>
        <p:spPr>
          <a:xfrm>
            <a:off x="5786478" y="-24"/>
            <a:ext cx="3357554" cy="461665"/>
          </a:xfrm>
          <a:prstGeom prst="rect">
            <a:avLst/>
          </a:prstGeom>
          <a:solidFill>
            <a:srgbClr val="00B050"/>
          </a:solidFill>
        </p:spPr>
        <p:txBody>
          <a:bodyPr wrap="square" rtlCol="0">
            <a:spAutoFit/>
          </a:bodyPr>
          <a:lstStyle/>
          <a:p>
            <a:pPr algn="ctr"/>
            <a:r>
              <a:rPr lang="en-US" sz="2400" dirty="0">
                <a:solidFill>
                  <a:schemeClr val="bg1"/>
                </a:solidFill>
              </a:rPr>
              <a:t>KELAS 4-9 SD-SMP</a:t>
            </a:r>
          </a:p>
        </p:txBody>
      </p:sp>
      <p:sp>
        <p:nvSpPr>
          <p:cNvPr id="7" name="TextBox 6"/>
          <p:cNvSpPr txBox="1"/>
          <p:nvPr/>
        </p:nvSpPr>
        <p:spPr>
          <a:xfrm>
            <a:off x="950272" y="785794"/>
            <a:ext cx="513410" cy="5643602"/>
          </a:xfrm>
          <a:prstGeom prst="rect">
            <a:avLst/>
          </a:prstGeom>
          <a:solidFill>
            <a:srgbClr val="FFFF00"/>
          </a:solidFill>
        </p:spPr>
        <p:txBody>
          <a:bodyPr vert="wordArtVert" wrap="square" rtlCol="0">
            <a:spAutoFit/>
          </a:bodyPr>
          <a:lstStyle/>
          <a:p>
            <a:pPr algn="ctr"/>
            <a:r>
              <a:rPr lang="en-US" b="1" dirty="0"/>
              <a:t>PENDIDIKAN BAKAT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Effect transition="in" filter="fade">
                                      <p:cBhvr>
                                        <p:cTn id="14" dur="1000"/>
                                        <p:tgtEl>
                                          <p:spTgt spid="6">
                                            <p:txEl>
                                              <p:pRg st="1" end="1"/>
                                            </p:txEl>
                                          </p:spTgt>
                                        </p:tgtEl>
                                      </p:cBhvr>
                                    </p:animEffect>
                                    <p:anim calcmode="lin" valueType="num">
                                      <p:cBhvr>
                                        <p:cTn id="15"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Effect transition="in" filter="fade">
                                      <p:cBhvr>
                                        <p:cTn id="21" dur="1000"/>
                                        <p:tgtEl>
                                          <p:spTgt spid="6">
                                            <p:txEl>
                                              <p:pRg st="2" end="2"/>
                                            </p:txEl>
                                          </p:spTgt>
                                        </p:tgtEl>
                                      </p:cBhvr>
                                    </p:animEffect>
                                    <p:anim calcmode="lin" valueType="num">
                                      <p:cBhvr>
                                        <p:cTn id="22"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xEl>
                                              <p:pRg st="3" end="3"/>
                                            </p:txEl>
                                          </p:spTgt>
                                        </p:tgtEl>
                                        <p:attrNameLst>
                                          <p:attrName>style.visibility</p:attrName>
                                        </p:attrNameLst>
                                      </p:cBhvr>
                                      <p:to>
                                        <p:strVal val="visible"/>
                                      </p:to>
                                    </p:set>
                                    <p:animEffect transition="in" filter="fade">
                                      <p:cBhvr>
                                        <p:cTn id="28" dur="1000"/>
                                        <p:tgtEl>
                                          <p:spTgt spid="6">
                                            <p:txEl>
                                              <p:pRg st="3" end="3"/>
                                            </p:txEl>
                                          </p:spTgt>
                                        </p:tgtEl>
                                      </p:cBhvr>
                                    </p:animEffect>
                                    <p:anim calcmode="lin" valueType="num">
                                      <p:cBhvr>
                                        <p:cTn id="29"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6">
                                            <p:txEl>
                                              <p:pRg st="5" end="5"/>
                                            </p:txEl>
                                          </p:spTgt>
                                        </p:tgtEl>
                                        <p:attrNameLst>
                                          <p:attrName>style.visibility</p:attrName>
                                        </p:attrNameLst>
                                      </p:cBhvr>
                                      <p:to>
                                        <p:strVal val="visible"/>
                                      </p:to>
                                    </p:set>
                                    <p:animEffect transition="in" filter="fade">
                                      <p:cBhvr>
                                        <p:cTn id="35" dur="1000"/>
                                        <p:tgtEl>
                                          <p:spTgt spid="6">
                                            <p:txEl>
                                              <p:pRg st="5" end="5"/>
                                            </p:txEl>
                                          </p:spTgt>
                                        </p:tgtEl>
                                      </p:cBhvr>
                                    </p:animEffect>
                                    <p:anim calcmode="lin" valueType="num">
                                      <p:cBhvr>
                                        <p:cTn id="36"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6">
                                            <p:txEl>
                                              <p:pRg st="6" end="6"/>
                                            </p:txEl>
                                          </p:spTgt>
                                        </p:tgtEl>
                                        <p:attrNameLst>
                                          <p:attrName>style.visibility</p:attrName>
                                        </p:attrNameLst>
                                      </p:cBhvr>
                                      <p:to>
                                        <p:strVal val="visible"/>
                                      </p:to>
                                    </p:set>
                                    <p:animEffect transition="in" filter="fade">
                                      <p:cBhvr>
                                        <p:cTn id="42" dur="1000"/>
                                        <p:tgtEl>
                                          <p:spTgt spid="6">
                                            <p:txEl>
                                              <p:pRg st="6" end="6"/>
                                            </p:txEl>
                                          </p:spTgt>
                                        </p:tgtEl>
                                      </p:cBhvr>
                                    </p:animEffect>
                                    <p:anim calcmode="lin" valueType="num">
                                      <p:cBhvr>
                                        <p:cTn id="43"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6">
                                            <p:txEl>
                                              <p:pRg st="7" end="7"/>
                                            </p:txEl>
                                          </p:spTgt>
                                        </p:tgtEl>
                                        <p:attrNameLst>
                                          <p:attrName>style.visibility</p:attrName>
                                        </p:attrNameLst>
                                      </p:cBhvr>
                                      <p:to>
                                        <p:strVal val="visible"/>
                                      </p:to>
                                    </p:set>
                                    <p:animEffect transition="in" filter="fade">
                                      <p:cBhvr>
                                        <p:cTn id="49" dur="1000"/>
                                        <p:tgtEl>
                                          <p:spTgt spid="6">
                                            <p:txEl>
                                              <p:pRg st="7" end="7"/>
                                            </p:txEl>
                                          </p:spTgt>
                                        </p:tgtEl>
                                      </p:cBhvr>
                                    </p:animEffect>
                                    <p:anim calcmode="lin" valueType="num">
                                      <p:cBhvr>
                                        <p:cTn id="50"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6">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6">
                                            <p:txEl>
                                              <p:pRg st="8" end="8"/>
                                            </p:txEl>
                                          </p:spTgt>
                                        </p:tgtEl>
                                        <p:attrNameLst>
                                          <p:attrName>style.visibility</p:attrName>
                                        </p:attrNameLst>
                                      </p:cBhvr>
                                      <p:to>
                                        <p:strVal val="visible"/>
                                      </p:to>
                                    </p:set>
                                    <p:animEffect transition="in" filter="fade">
                                      <p:cBhvr>
                                        <p:cTn id="56" dur="1000"/>
                                        <p:tgtEl>
                                          <p:spTgt spid="6">
                                            <p:txEl>
                                              <p:pRg st="8" end="8"/>
                                            </p:txEl>
                                          </p:spTgt>
                                        </p:tgtEl>
                                      </p:cBhvr>
                                    </p:animEffect>
                                    <p:anim calcmode="lin" valueType="num">
                                      <p:cBhvr>
                                        <p:cTn id="57"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58"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6">
                                            <p:txEl>
                                              <p:pRg st="10" end="10"/>
                                            </p:txEl>
                                          </p:spTgt>
                                        </p:tgtEl>
                                        <p:attrNameLst>
                                          <p:attrName>style.visibility</p:attrName>
                                        </p:attrNameLst>
                                      </p:cBhvr>
                                      <p:to>
                                        <p:strVal val="visible"/>
                                      </p:to>
                                    </p:set>
                                    <p:animEffect transition="in" filter="fade">
                                      <p:cBhvr>
                                        <p:cTn id="63" dur="1000"/>
                                        <p:tgtEl>
                                          <p:spTgt spid="6">
                                            <p:txEl>
                                              <p:pRg st="10" end="10"/>
                                            </p:txEl>
                                          </p:spTgt>
                                        </p:tgtEl>
                                      </p:cBhvr>
                                    </p:animEffect>
                                    <p:anim calcmode="lin" valueType="num">
                                      <p:cBhvr>
                                        <p:cTn id="64" dur="1000" fill="hold"/>
                                        <p:tgtEl>
                                          <p:spTgt spid="6">
                                            <p:txEl>
                                              <p:pRg st="10" end="10"/>
                                            </p:txEl>
                                          </p:spTgt>
                                        </p:tgtEl>
                                        <p:attrNameLst>
                                          <p:attrName>ppt_x</p:attrName>
                                        </p:attrNameLst>
                                      </p:cBhvr>
                                      <p:tavLst>
                                        <p:tav tm="0">
                                          <p:val>
                                            <p:strVal val="#ppt_x"/>
                                          </p:val>
                                        </p:tav>
                                        <p:tav tm="100000">
                                          <p:val>
                                            <p:strVal val="#ppt_x"/>
                                          </p:val>
                                        </p:tav>
                                      </p:tavLst>
                                    </p:anim>
                                    <p:anim calcmode="lin" valueType="num">
                                      <p:cBhvr>
                                        <p:cTn id="65" dur="1000" fill="hold"/>
                                        <p:tgtEl>
                                          <p:spTgt spid="6">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6">
                                            <p:txEl>
                                              <p:pRg st="11" end="11"/>
                                            </p:txEl>
                                          </p:spTgt>
                                        </p:tgtEl>
                                        <p:attrNameLst>
                                          <p:attrName>style.visibility</p:attrName>
                                        </p:attrNameLst>
                                      </p:cBhvr>
                                      <p:to>
                                        <p:strVal val="visible"/>
                                      </p:to>
                                    </p:set>
                                    <p:animEffect transition="in" filter="fade">
                                      <p:cBhvr>
                                        <p:cTn id="70" dur="1000"/>
                                        <p:tgtEl>
                                          <p:spTgt spid="6">
                                            <p:txEl>
                                              <p:pRg st="11" end="11"/>
                                            </p:txEl>
                                          </p:spTgt>
                                        </p:tgtEl>
                                      </p:cBhvr>
                                    </p:animEffect>
                                    <p:anim calcmode="lin" valueType="num">
                                      <p:cBhvr>
                                        <p:cTn id="71" dur="1000" fill="hold"/>
                                        <p:tgtEl>
                                          <p:spTgt spid="6">
                                            <p:txEl>
                                              <p:pRg st="11" end="11"/>
                                            </p:txEl>
                                          </p:spTgt>
                                        </p:tgtEl>
                                        <p:attrNameLst>
                                          <p:attrName>ppt_x</p:attrName>
                                        </p:attrNameLst>
                                      </p:cBhvr>
                                      <p:tavLst>
                                        <p:tav tm="0">
                                          <p:val>
                                            <p:strVal val="#ppt_x"/>
                                          </p:val>
                                        </p:tav>
                                        <p:tav tm="100000">
                                          <p:val>
                                            <p:strVal val="#ppt_x"/>
                                          </p:val>
                                        </p:tav>
                                      </p:tavLst>
                                    </p:anim>
                                    <p:anim calcmode="lin" valueType="num">
                                      <p:cBhvr>
                                        <p:cTn id="72" dur="1000" fill="hold"/>
                                        <p:tgtEl>
                                          <p:spTgt spid="6">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6">
                                            <p:txEl>
                                              <p:pRg st="13" end="13"/>
                                            </p:txEl>
                                          </p:spTgt>
                                        </p:tgtEl>
                                        <p:attrNameLst>
                                          <p:attrName>style.visibility</p:attrName>
                                        </p:attrNameLst>
                                      </p:cBhvr>
                                      <p:to>
                                        <p:strVal val="visible"/>
                                      </p:to>
                                    </p:set>
                                    <p:animEffect transition="in" filter="fade">
                                      <p:cBhvr>
                                        <p:cTn id="77" dur="1000"/>
                                        <p:tgtEl>
                                          <p:spTgt spid="6">
                                            <p:txEl>
                                              <p:pRg st="13" end="13"/>
                                            </p:txEl>
                                          </p:spTgt>
                                        </p:tgtEl>
                                      </p:cBhvr>
                                    </p:animEffect>
                                    <p:anim calcmode="lin" valueType="num">
                                      <p:cBhvr>
                                        <p:cTn id="78" dur="1000" fill="hold"/>
                                        <p:tgtEl>
                                          <p:spTgt spid="6">
                                            <p:txEl>
                                              <p:pRg st="13" end="13"/>
                                            </p:txEl>
                                          </p:spTgt>
                                        </p:tgtEl>
                                        <p:attrNameLst>
                                          <p:attrName>ppt_x</p:attrName>
                                        </p:attrNameLst>
                                      </p:cBhvr>
                                      <p:tavLst>
                                        <p:tav tm="0">
                                          <p:val>
                                            <p:strVal val="#ppt_x"/>
                                          </p:val>
                                        </p:tav>
                                        <p:tav tm="100000">
                                          <p:val>
                                            <p:strVal val="#ppt_x"/>
                                          </p:val>
                                        </p:tav>
                                      </p:tavLst>
                                    </p:anim>
                                    <p:anim calcmode="lin" valueType="num">
                                      <p:cBhvr>
                                        <p:cTn id="79" dur="1000" fill="hold"/>
                                        <p:tgtEl>
                                          <p:spTgt spid="6">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6">
                                            <p:txEl>
                                              <p:pRg st="14" end="14"/>
                                            </p:txEl>
                                          </p:spTgt>
                                        </p:tgtEl>
                                        <p:attrNameLst>
                                          <p:attrName>style.visibility</p:attrName>
                                        </p:attrNameLst>
                                      </p:cBhvr>
                                      <p:to>
                                        <p:strVal val="visible"/>
                                      </p:to>
                                    </p:set>
                                    <p:animEffect transition="in" filter="fade">
                                      <p:cBhvr>
                                        <p:cTn id="84" dur="1000"/>
                                        <p:tgtEl>
                                          <p:spTgt spid="6">
                                            <p:txEl>
                                              <p:pRg st="14" end="14"/>
                                            </p:txEl>
                                          </p:spTgt>
                                        </p:tgtEl>
                                      </p:cBhvr>
                                    </p:animEffect>
                                    <p:anim calcmode="lin" valueType="num">
                                      <p:cBhvr>
                                        <p:cTn id="85" dur="1000" fill="hold"/>
                                        <p:tgtEl>
                                          <p:spTgt spid="6">
                                            <p:txEl>
                                              <p:pRg st="14" end="14"/>
                                            </p:txEl>
                                          </p:spTgt>
                                        </p:tgtEl>
                                        <p:attrNameLst>
                                          <p:attrName>ppt_x</p:attrName>
                                        </p:attrNameLst>
                                      </p:cBhvr>
                                      <p:tavLst>
                                        <p:tav tm="0">
                                          <p:val>
                                            <p:strVal val="#ppt_x"/>
                                          </p:val>
                                        </p:tav>
                                        <p:tav tm="100000">
                                          <p:val>
                                            <p:strVal val="#ppt_x"/>
                                          </p:val>
                                        </p:tav>
                                      </p:tavLst>
                                    </p:anim>
                                    <p:anim calcmode="lin" valueType="num">
                                      <p:cBhvr>
                                        <p:cTn id="86" dur="1000" fill="hold"/>
                                        <p:tgtEl>
                                          <p:spTgt spid="6">
                                            <p:txEl>
                                              <p:pRg st="14" end="14"/>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6">
                                            <p:txEl>
                                              <p:pRg st="15" end="15"/>
                                            </p:txEl>
                                          </p:spTgt>
                                        </p:tgtEl>
                                        <p:attrNameLst>
                                          <p:attrName>style.visibility</p:attrName>
                                        </p:attrNameLst>
                                      </p:cBhvr>
                                      <p:to>
                                        <p:strVal val="visible"/>
                                      </p:to>
                                    </p:set>
                                    <p:animEffect transition="in" filter="fade">
                                      <p:cBhvr>
                                        <p:cTn id="91" dur="1000"/>
                                        <p:tgtEl>
                                          <p:spTgt spid="6">
                                            <p:txEl>
                                              <p:pRg st="15" end="15"/>
                                            </p:txEl>
                                          </p:spTgt>
                                        </p:tgtEl>
                                      </p:cBhvr>
                                    </p:animEffect>
                                    <p:anim calcmode="lin" valueType="num">
                                      <p:cBhvr>
                                        <p:cTn id="92" dur="1000" fill="hold"/>
                                        <p:tgtEl>
                                          <p:spTgt spid="6">
                                            <p:txEl>
                                              <p:pRg st="15" end="15"/>
                                            </p:txEl>
                                          </p:spTgt>
                                        </p:tgtEl>
                                        <p:attrNameLst>
                                          <p:attrName>ppt_x</p:attrName>
                                        </p:attrNameLst>
                                      </p:cBhvr>
                                      <p:tavLst>
                                        <p:tav tm="0">
                                          <p:val>
                                            <p:strVal val="#ppt_x"/>
                                          </p:val>
                                        </p:tav>
                                        <p:tav tm="100000">
                                          <p:val>
                                            <p:strVal val="#ppt_x"/>
                                          </p:val>
                                        </p:tav>
                                      </p:tavLst>
                                    </p:anim>
                                    <p:anim calcmode="lin" valueType="num">
                                      <p:cBhvr>
                                        <p:cTn id="93" dur="1000" fill="hold"/>
                                        <p:tgtEl>
                                          <p:spTgt spid="6">
                                            <p:txEl>
                                              <p:pRg st="15" end="15"/>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6">
                                            <p:txEl>
                                              <p:pRg st="16" end="16"/>
                                            </p:txEl>
                                          </p:spTgt>
                                        </p:tgtEl>
                                        <p:attrNameLst>
                                          <p:attrName>style.visibility</p:attrName>
                                        </p:attrNameLst>
                                      </p:cBhvr>
                                      <p:to>
                                        <p:strVal val="visible"/>
                                      </p:to>
                                    </p:set>
                                    <p:animEffect transition="in" filter="fade">
                                      <p:cBhvr>
                                        <p:cTn id="98" dur="1000"/>
                                        <p:tgtEl>
                                          <p:spTgt spid="6">
                                            <p:txEl>
                                              <p:pRg st="16" end="16"/>
                                            </p:txEl>
                                          </p:spTgt>
                                        </p:tgtEl>
                                      </p:cBhvr>
                                    </p:animEffect>
                                    <p:anim calcmode="lin" valueType="num">
                                      <p:cBhvr>
                                        <p:cTn id="99" dur="1000" fill="hold"/>
                                        <p:tgtEl>
                                          <p:spTgt spid="6">
                                            <p:txEl>
                                              <p:pRg st="16" end="16"/>
                                            </p:txEl>
                                          </p:spTgt>
                                        </p:tgtEl>
                                        <p:attrNameLst>
                                          <p:attrName>ppt_x</p:attrName>
                                        </p:attrNameLst>
                                      </p:cBhvr>
                                      <p:tavLst>
                                        <p:tav tm="0">
                                          <p:val>
                                            <p:strVal val="#ppt_x"/>
                                          </p:val>
                                        </p:tav>
                                        <p:tav tm="100000">
                                          <p:val>
                                            <p:strVal val="#ppt_x"/>
                                          </p:val>
                                        </p:tav>
                                      </p:tavLst>
                                    </p:anim>
                                    <p:anim calcmode="lin" valueType="num">
                                      <p:cBhvr>
                                        <p:cTn id="100" dur="1000" fill="hold"/>
                                        <p:tgtEl>
                                          <p:spTgt spid="6">
                                            <p:txEl>
                                              <p:pRg st="16" end="16"/>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9" presetClass="entr" presetSubtype="0" fill="hold" grpId="0" nodeType="clickEffect">
                                  <p:stCondLst>
                                    <p:cond delay="0"/>
                                  </p:stCondLst>
                                  <p:childTnLst>
                                    <p:set>
                                      <p:cBhvr>
                                        <p:cTn id="104" dur="1" fill="hold">
                                          <p:stCondLst>
                                            <p:cond delay="0"/>
                                          </p:stCondLst>
                                        </p:cTn>
                                        <p:tgtEl>
                                          <p:spTgt spid="7"/>
                                        </p:tgtEl>
                                        <p:attrNameLst>
                                          <p:attrName>style.visibility</p:attrName>
                                        </p:attrNameLst>
                                      </p:cBhvr>
                                      <p:to>
                                        <p:strVal val="visible"/>
                                      </p:to>
                                    </p:set>
                                    <p:animEffect transition="in" filter="dissolve">
                                      <p:cBhvr>
                                        <p:cTn id="10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bldLvl="5"/>
      <p:bldP spid="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122223450"/>
              </p:ext>
            </p:extLst>
          </p:nvPr>
        </p:nvGraphicFramePr>
        <p:xfrm>
          <a:off x="500034" y="857232"/>
          <a:ext cx="8286808" cy="4727727"/>
        </p:xfrm>
        <a:graphic>
          <a:graphicData uri="http://schemas.openxmlformats.org/drawingml/2006/table">
            <a:tbl>
              <a:tblPr/>
              <a:tblGrid>
                <a:gridCol w="597778">
                  <a:extLst>
                    <a:ext uri="{9D8B030D-6E8A-4147-A177-3AD203B41FA5}">
                      <a16:colId xmlns:a16="http://schemas.microsoft.com/office/drawing/2014/main" val="20000"/>
                    </a:ext>
                  </a:extLst>
                </a:gridCol>
                <a:gridCol w="5474452">
                  <a:extLst>
                    <a:ext uri="{9D8B030D-6E8A-4147-A177-3AD203B41FA5}">
                      <a16:colId xmlns:a16="http://schemas.microsoft.com/office/drawing/2014/main" val="20001"/>
                    </a:ext>
                  </a:extLst>
                </a:gridCol>
                <a:gridCol w="2214578">
                  <a:extLst>
                    <a:ext uri="{9D8B030D-6E8A-4147-A177-3AD203B41FA5}">
                      <a16:colId xmlns:a16="http://schemas.microsoft.com/office/drawing/2014/main" val="20002"/>
                    </a:ext>
                  </a:extLst>
                </a:gridCol>
              </a:tblGrid>
              <a:tr h="482156">
                <a:tc>
                  <a:txBody>
                    <a:bodyPr/>
                    <a:lstStyle/>
                    <a:p>
                      <a:pPr indent="-36000" algn="ctr">
                        <a:lnSpc>
                          <a:spcPct val="100000"/>
                        </a:lnSpc>
                        <a:spcAft>
                          <a:spcPts val="0"/>
                        </a:spcAft>
                      </a:pPr>
                      <a:r>
                        <a:rPr lang="en-US" sz="2400" dirty="0">
                          <a:latin typeface="Calibri"/>
                          <a:ea typeface="Arial Unicode MS"/>
                          <a:cs typeface="Arial Unicode MS"/>
                        </a:rPr>
                        <a:t>No</a:t>
                      </a:r>
                      <a:endParaRPr lang="en-US" sz="2400" dirty="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6000" algn="ctr">
                        <a:lnSpc>
                          <a:spcPct val="100000"/>
                        </a:lnSpc>
                        <a:spcAft>
                          <a:spcPts val="0"/>
                        </a:spcAft>
                      </a:pPr>
                      <a:r>
                        <a:rPr lang="en-US" sz="2400" dirty="0">
                          <a:latin typeface="Calibri"/>
                          <a:ea typeface="Arial Unicode MS"/>
                          <a:cs typeface="Arial Unicode MS"/>
                        </a:rPr>
                        <a:t>ASPEK MASA EMAS</a:t>
                      </a:r>
                      <a:endParaRPr lang="en-US" sz="2400" dirty="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6000" algn="ctr">
                        <a:lnSpc>
                          <a:spcPct val="100000"/>
                        </a:lnSpc>
                        <a:spcAft>
                          <a:spcPts val="0"/>
                        </a:spcAft>
                      </a:pPr>
                      <a:r>
                        <a:rPr lang="en-US" sz="2400" dirty="0">
                          <a:latin typeface="Calibri"/>
                          <a:ea typeface="Arial Unicode MS"/>
                          <a:cs typeface="Arial Unicode MS"/>
                        </a:rPr>
                        <a:t>KETERANGAN</a:t>
                      </a:r>
                      <a:endParaRPr lang="en-US" sz="2400" dirty="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82156">
                <a:tc>
                  <a:txBody>
                    <a:bodyPr/>
                    <a:lstStyle/>
                    <a:p>
                      <a:pPr indent="-36000" algn="ctr">
                        <a:lnSpc>
                          <a:spcPct val="100000"/>
                        </a:lnSpc>
                        <a:spcAft>
                          <a:spcPts val="0"/>
                        </a:spcAft>
                      </a:pPr>
                      <a:r>
                        <a:rPr lang="en-US" sz="2400" dirty="0">
                          <a:latin typeface="Calibri"/>
                          <a:ea typeface="Arial Unicode MS"/>
                          <a:cs typeface="Arial Unicode MS"/>
                        </a:rPr>
                        <a:t>1</a:t>
                      </a:r>
                      <a:endParaRPr lang="en-US" sz="2400" dirty="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2400" dirty="0" err="1">
                          <a:latin typeface="Calibri"/>
                          <a:ea typeface="Arial Unicode MS"/>
                          <a:cs typeface="Arial Unicode MS"/>
                        </a:rPr>
                        <a:t>Pendidikan</a:t>
                      </a:r>
                      <a:r>
                        <a:rPr lang="en-US" sz="2400" dirty="0">
                          <a:latin typeface="Calibri"/>
                          <a:ea typeface="Arial Unicode MS"/>
                          <a:cs typeface="Arial Unicode MS"/>
                        </a:rPr>
                        <a:t> </a:t>
                      </a:r>
                      <a:r>
                        <a:rPr lang="en-US" sz="2400" dirty="0" err="1">
                          <a:latin typeface="Calibri"/>
                          <a:ea typeface="Arial Unicode MS"/>
                          <a:cs typeface="Arial Unicode MS"/>
                        </a:rPr>
                        <a:t>fisik</a:t>
                      </a:r>
                      <a:endParaRPr lang="en-US" sz="2400" dirty="0">
                        <a:latin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6000" algn="l">
                        <a:lnSpc>
                          <a:spcPct val="100000"/>
                        </a:lnSpc>
                        <a:spcAft>
                          <a:spcPts val="0"/>
                        </a:spcAft>
                      </a:pPr>
                      <a:r>
                        <a:rPr lang="en-US" sz="2400" dirty="0" err="1">
                          <a:latin typeface="Calibri"/>
                          <a:ea typeface="Arial Unicode MS"/>
                          <a:cs typeface="Arial Unicode MS"/>
                        </a:rPr>
                        <a:t>Bagian</a:t>
                      </a:r>
                      <a:r>
                        <a:rPr lang="en-US" sz="2400" dirty="0">
                          <a:latin typeface="Calibri"/>
                          <a:ea typeface="Arial Unicode MS"/>
                          <a:cs typeface="Arial Unicode MS"/>
                        </a:rPr>
                        <a:t> </a:t>
                      </a:r>
                      <a:r>
                        <a:rPr lang="en-US" sz="2400" dirty="0" err="1">
                          <a:latin typeface="Calibri"/>
                          <a:ea typeface="Arial Unicode MS"/>
                          <a:cs typeface="Arial Unicode MS"/>
                        </a:rPr>
                        <a:t>jasad</a:t>
                      </a:r>
                      <a:r>
                        <a:rPr lang="en-US" sz="2400" dirty="0">
                          <a:latin typeface="Calibri"/>
                          <a:ea typeface="Arial Unicode MS"/>
                          <a:cs typeface="Arial Unicode MS"/>
                        </a:rPr>
                        <a:t> </a:t>
                      </a:r>
                      <a:endParaRPr lang="en-US" sz="2400" dirty="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82156">
                <a:tc>
                  <a:txBody>
                    <a:bodyPr/>
                    <a:lstStyle/>
                    <a:p>
                      <a:pPr indent="-36000" algn="ctr">
                        <a:lnSpc>
                          <a:spcPct val="100000"/>
                        </a:lnSpc>
                        <a:spcAft>
                          <a:spcPts val="0"/>
                        </a:spcAft>
                      </a:pPr>
                      <a:r>
                        <a:rPr lang="en-US" sz="2400" dirty="0">
                          <a:latin typeface="Calibri"/>
                          <a:ea typeface="Arial Unicode MS"/>
                          <a:cs typeface="Arial Unicode MS"/>
                        </a:rPr>
                        <a:t>2</a:t>
                      </a:r>
                      <a:endParaRPr lang="en-US" sz="2400" dirty="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2400" dirty="0" err="1">
                          <a:latin typeface="Calibri"/>
                          <a:ea typeface="Arial Unicode MS"/>
                          <a:cs typeface="Arial Unicode MS"/>
                        </a:rPr>
                        <a:t>Tauhid</a:t>
                      </a:r>
                      <a:r>
                        <a:rPr lang="en-US" sz="2400" dirty="0">
                          <a:latin typeface="Calibri"/>
                          <a:ea typeface="Arial Unicode MS"/>
                          <a:cs typeface="Arial Unicode MS"/>
                        </a:rPr>
                        <a:t> </a:t>
                      </a:r>
                      <a:r>
                        <a:rPr lang="en-US" sz="2400" dirty="0" err="1">
                          <a:latin typeface="Calibri"/>
                          <a:ea typeface="Arial Unicode MS"/>
                          <a:cs typeface="Arial Unicode MS"/>
                        </a:rPr>
                        <a:t>uluhiyyah</a:t>
                      </a:r>
                      <a:endParaRPr lang="en-US" sz="2400" dirty="0">
                        <a:latin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6000" algn="l">
                        <a:lnSpc>
                          <a:spcPct val="100000"/>
                        </a:lnSpc>
                        <a:spcAft>
                          <a:spcPts val="0"/>
                        </a:spcAft>
                      </a:pPr>
                      <a:r>
                        <a:rPr lang="en-US" sz="2400">
                          <a:latin typeface="Calibri"/>
                          <a:ea typeface="Arial Unicode MS"/>
                          <a:cs typeface="Arial Unicode MS"/>
                        </a:rPr>
                        <a:t>Tauhid </a:t>
                      </a:r>
                      <a:endParaRPr lang="en-US" sz="240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82156">
                <a:tc>
                  <a:txBody>
                    <a:bodyPr/>
                    <a:lstStyle/>
                    <a:p>
                      <a:pPr indent="-36000" algn="ctr">
                        <a:lnSpc>
                          <a:spcPct val="100000"/>
                        </a:lnSpc>
                        <a:spcAft>
                          <a:spcPts val="0"/>
                        </a:spcAft>
                      </a:pPr>
                      <a:r>
                        <a:rPr lang="en-US" sz="2400" dirty="0">
                          <a:latin typeface="Calibri"/>
                          <a:ea typeface="Arial Unicode MS"/>
                          <a:cs typeface="Arial Unicode MS"/>
                        </a:rPr>
                        <a:t>3</a:t>
                      </a:r>
                      <a:endParaRPr lang="en-US" sz="2400" dirty="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2400" dirty="0" err="1">
                          <a:latin typeface="Calibri"/>
                          <a:ea typeface="Arial Unicode MS"/>
                          <a:cs typeface="Arial Unicode MS"/>
                        </a:rPr>
                        <a:t>Khouf</a:t>
                      </a:r>
                      <a:r>
                        <a:rPr lang="en-US" sz="2400" dirty="0">
                          <a:latin typeface="Calibri"/>
                          <a:ea typeface="Arial Unicode MS"/>
                          <a:cs typeface="Arial Unicode MS"/>
                        </a:rPr>
                        <a:t> (rasa </a:t>
                      </a:r>
                      <a:r>
                        <a:rPr lang="en-US" sz="2400" dirty="0" err="1">
                          <a:latin typeface="Calibri"/>
                          <a:ea typeface="Arial Unicode MS"/>
                          <a:cs typeface="Arial Unicode MS"/>
                        </a:rPr>
                        <a:t>takut</a:t>
                      </a:r>
                      <a:r>
                        <a:rPr lang="en-US" sz="2400" dirty="0">
                          <a:latin typeface="Calibri"/>
                          <a:ea typeface="Arial Unicode MS"/>
                          <a:cs typeface="Arial Unicode MS"/>
                        </a:rPr>
                        <a:t>)</a:t>
                      </a:r>
                      <a:endParaRPr lang="en-US" sz="2400" dirty="0">
                        <a:latin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6000" algn="l">
                        <a:lnSpc>
                          <a:spcPct val="100000"/>
                        </a:lnSpc>
                        <a:spcAft>
                          <a:spcPts val="0"/>
                        </a:spcAft>
                      </a:pPr>
                      <a:r>
                        <a:rPr lang="en-US" sz="2400">
                          <a:latin typeface="Calibri"/>
                          <a:ea typeface="Arial Unicode MS"/>
                          <a:cs typeface="Arial Unicode MS"/>
                        </a:rPr>
                        <a:t>Rukun ibadah </a:t>
                      </a:r>
                      <a:endParaRPr lang="en-US" sz="240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82156">
                <a:tc>
                  <a:txBody>
                    <a:bodyPr/>
                    <a:lstStyle/>
                    <a:p>
                      <a:pPr indent="-36000" algn="ctr">
                        <a:lnSpc>
                          <a:spcPct val="100000"/>
                        </a:lnSpc>
                        <a:spcAft>
                          <a:spcPts val="0"/>
                        </a:spcAft>
                      </a:pPr>
                      <a:r>
                        <a:rPr lang="en-US" sz="2400" dirty="0">
                          <a:latin typeface="Calibri"/>
                          <a:ea typeface="Arial Unicode MS"/>
                          <a:cs typeface="Arial Unicode MS"/>
                        </a:rPr>
                        <a:t>4</a:t>
                      </a:r>
                      <a:endParaRPr lang="en-US" sz="2400" dirty="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2400" dirty="0" err="1">
                          <a:latin typeface="Calibri"/>
                          <a:ea typeface="Arial Unicode MS"/>
                          <a:cs typeface="Arial Unicode MS"/>
                        </a:rPr>
                        <a:t>Psikomotor</a:t>
                      </a:r>
                      <a:endParaRPr lang="en-US" sz="2400" dirty="0">
                        <a:latin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6000" algn="l">
                        <a:lnSpc>
                          <a:spcPct val="100000"/>
                        </a:lnSpc>
                        <a:spcAft>
                          <a:spcPts val="0"/>
                        </a:spcAft>
                      </a:pPr>
                      <a:r>
                        <a:rPr lang="en-US" sz="2400">
                          <a:latin typeface="Calibri"/>
                          <a:ea typeface="Arial Unicode MS"/>
                          <a:cs typeface="Arial Unicode MS"/>
                        </a:rPr>
                        <a:t>Unsur diri </a:t>
                      </a:r>
                      <a:endParaRPr lang="en-US" sz="240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82156">
                <a:tc>
                  <a:txBody>
                    <a:bodyPr/>
                    <a:lstStyle/>
                    <a:p>
                      <a:pPr indent="-36000" algn="ctr">
                        <a:lnSpc>
                          <a:spcPct val="100000"/>
                        </a:lnSpc>
                        <a:spcAft>
                          <a:spcPts val="0"/>
                        </a:spcAft>
                      </a:pPr>
                      <a:r>
                        <a:rPr lang="en-US" sz="2400" dirty="0">
                          <a:latin typeface="Calibri"/>
                          <a:ea typeface="Arial Unicode MS"/>
                          <a:cs typeface="Arial Unicode MS"/>
                        </a:rPr>
                        <a:t>5</a:t>
                      </a:r>
                      <a:endParaRPr lang="en-US" sz="2400" dirty="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2400" dirty="0">
                          <a:latin typeface="Calibri"/>
                          <a:ea typeface="Arial Unicode MS"/>
                        </a:rPr>
                        <a:t>An </a:t>
                      </a:r>
                      <a:r>
                        <a:rPr lang="en-US" sz="2400" dirty="0" err="1">
                          <a:latin typeface="Calibri"/>
                          <a:ea typeface="Arial Unicode MS"/>
                        </a:rPr>
                        <a:t>Nafsul</a:t>
                      </a:r>
                      <a:r>
                        <a:rPr lang="en-US" sz="2400" dirty="0">
                          <a:latin typeface="Calibri"/>
                          <a:ea typeface="Arial Unicode MS"/>
                        </a:rPr>
                        <a:t> </a:t>
                      </a:r>
                      <a:r>
                        <a:rPr lang="en-US" sz="2400" dirty="0" err="1">
                          <a:latin typeface="Calibri"/>
                          <a:ea typeface="Arial Unicode MS"/>
                        </a:rPr>
                        <a:t>Muthmainnah</a:t>
                      </a:r>
                      <a:endParaRPr lang="en-US" sz="2400" dirty="0">
                        <a:latin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6000" algn="l">
                        <a:lnSpc>
                          <a:spcPct val="100000"/>
                        </a:lnSpc>
                        <a:spcAft>
                          <a:spcPts val="0"/>
                        </a:spcAft>
                      </a:pPr>
                      <a:r>
                        <a:rPr lang="en-US" sz="2400" dirty="0" err="1">
                          <a:latin typeface="Calibri"/>
                          <a:ea typeface="Arial Unicode MS"/>
                        </a:rPr>
                        <a:t>Struktur</a:t>
                      </a:r>
                      <a:r>
                        <a:rPr lang="en-US" sz="2400" dirty="0">
                          <a:latin typeface="Calibri"/>
                          <a:ea typeface="Arial Unicode MS"/>
                        </a:rPr>
                        <a:t> Jiwa</a:t>
                      </a:r>
                      <a:endParaRPr lang="en-US" sz="2400" dirty="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36088">
                <a:tc>
                  <a:txBody>
                    <a:bodyPr/>
                    <a:lstStyle/>
                    <a:p>
                      <a:pPr indent="-36000" algn="ctr">
                        <a:lnSpc>
                          <a:spcPct val="100000"/>
                        </a:lnSpc>
                        <a:spcAft>
                          <a:spcPts val="0"/>
                        </a:spcAft>
                      </a:pPr>
                      <a:r>
                        <a:rPr lang="en-US" sz="2400" dirty="0">
                          <a:latin typeface="Calibri"/>
                          <a:ea typeface="Arial Unicode MS"/>
                          <a:cs typeface="Arial Unicode MS"/>
                        </a:rPr>
                        <a:t>6</a:t>
                      </a:r>
                      <a:endParaRPr lang="en-US" sz="2400" dirty="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2400" dirty="0" err="1">
                          <a:latin typeface="Calibri"/>
                          <a:ea typeface="Arial Unicode MS"/>
                          <a:cs typeface="Arial Unicode MS"/>
                        </a:rPr>
                        <a:t>Kemandirian</a:t>
                      </a:r>
                      <a:r>
                        <a:rPr lang="en-US" sz="2400" dirty="0">
                          <a:latin typeface="Calibri"/>
                          <a:ea typeface="Arial Unicode MS"/>
                          <a:cs typeface="Arial Unicode MS"/>
                        </a:rPr>
                        <a:t> </a:t>
                      </a:r>
                      <a:r>
                        <a:rPr lang="en-US" sz="2400" dirty="0" err="1">
                          <a:latin typeface="Calibri"/>
                          <a:ea typeface="Arial Unicode MS"/>
                          <a:cs typeface="Arial Unicode MS"/>
                        </a:rPr>
                        <a:t>belajar</a:t>
                      </a:r>
                      <a:endParaRPr lang="en-US" sz="2400" dirty="0">
                        <a:latin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6000" algn="l">
                        <a:lnSpc>
                          <a:spcPct val="100000"/>
                        </a:lnSpc>
                        <a:spcAft>
                          <a:spcPts val="0"/>
                        </a:spcAft>
                      </a:pPr>
                      <a:r>
                        <a:rPr lang="en-US" sz="2400">
                          <a:latin typeface="Calibri"/>
                          <a:ea typeface="Arial Unicode MS"/>
                          <a:cs typeface="Arial Unicode MS"/>
                        </a:rPr>
                        <a:t>Karakter Belajar </a:t>
                      </a:r>
                      <a:endParaRPr lang="en-US" sz="240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724455">
                <a:tc>
                  <a:txBody>
                    <a:bodyPr/>
                    <a:lstStyle/>
                    <a:p>
                      <a:pPr indent="-36000" algn="ctr">
                        <a:lnSpc>
                          <a:spcPct val="100000"/>
                        </a:lnSpc>
                        <a:spcAft>
                          <a:spcPts val="0"/>
                        </a:spcAft>
                      </a:pPr>
                      <a:r>
                        <a:rPr lang="en-US" sz="2400" dirty="0">
                          <a:latin typeface="Calibri"/>
                          <a:ea typeface="Arial Unicode MS"/>
                          <a:cs typeface="Arial Unicode MS"/>
                        </a:rPr>
                        <a:t>7</a:t>
                      </a:r>
                      <a:endParaRPr lang="en-US" sz="2400" dirty="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2400" dirty="0" err="1">
                          <a:latin typeface="Calibri"/>
                          <a:ea typeface="Arial Unicode MS"/>
                          <a:cs typeface="Arial Unicode MS"/>
                        </a:rPr>
                        <a:t>Kesukaan</a:t>
                      </a:r>
                      <a:r>
                        <a:rPr lang="en-US" sz="2400" dirty="0">
                          <a:latin typeface="Calibri"/>
                          <a:ea typeface="Arial Unicode MS"/>
                          <a:cs typeface="Arial Unicode MS"/>
                        </a:rPr>
                        <a:t>, </a:t>
                      </a:r>
                      <a:r>
                        <a:rPr lang="en-US" sz="2400" dirty="0" err="1">
                          <a:latin typeface="Calibri"/>
                          <a:ea typeface="Arial Unicode MS"/>
                          <a:cs typeface="Arial Unicode MS"/>
                        </a:rPr>
                        <a:t>kebisaan</a:t>
                      </a:r>
                      <a:r>
                        <a:rPr lang="en-US" sz="2400" dirty="0">
                          <a:latin typeface="Calibri"/>
                          <a:ea typeface="Arial Unicode MS"/>
                          <a:cs typeface="Arial Unicode MS"/>
                        </a:rPr>
                        <a:t>, </a:t>
                      </a:r>
                      <a:r>
                        <a:rPr lang="en-US" sz="2400" dirty="0" err="1">
                          <a:latin typeface="Calibri"/>
                          <a:ea typeface="Arial Unicode MS"/>
                          <a:cs typeface="Arial Unicode MS"/>
                        </a:rPr>
                        <a:t>dan</a:t>
                      </a:r>
                      <a:r>
                        <a:rPr lang="en-US" sz="2400" dirty="0">
                          <a:latin typeface="Calibri"/>
                          <a:ea typeface="Arial Unicode MS"/>
                          <a:cs typeface="Arial Unicode MS"/>
                        </a:rPr>
                        <a:t> </a:t>
                      </a:r>
                      <a:r>
                        <a:rPr lang="en-US" sz="2400" dirty="0" err="1">
                          <a:latin typeface="Calibri"/>
                          <a:ea typeface="Arial Unicode MS"/>
                          <a:cs typeface="Arial Unicode MS"/>
                        </a:rPr>
                        <a:t>kebermanfaatan</a:t>
                      </a:r>
                      <a:r>
                        <a:rPr lang="en-US" sz="2400" dirty="0">
                          <a:latin typeface="Calibri"/>
                          <a:ea typeface="Arial Unicode MS"/>
                          <a:cs typeface="Arial Unicode MS"/>
                        </a:rPr>
                        <a:t> </a:t>
                      </a:r>
                      <a:r>
                        <a:rPr lang="en-US" sz="2400" dirty="0" err="1">
                          <a:latin typeface="Calibri"/>
                          <a:ea typeface="Arial Unicode MS"/>
                          <a:cs typeface="Arial Unicode MS"/>
                        </a:rPr>
                        <a:t>bakat</a:t>
                      </a:r>
                      <a:r>
                        <a:rPr lang="en-US" sz="2400" dirty="0">
                          <a:latin typeface="Calibri"/>
                          <a:ea typeface="Arial Unicode MS"/>
                          <a:cs typeface="Arial Unicode MS"/>
                        </a:rPr>
                        <a:t> (</a:t>
                      </a:r>
                      <a:r>
                        <a:rPr lang="en-US" sz="2400" dirty="0" err="1">
                          <a:latin typeface="Calibri"/>
                          <a:ea typeface="Arial Unicode MS"/>
                          <a:cs typeface="Arial Unicode MS"/>
                        </a:rPr>
                        <a:t>Suka</a:t>
                      </a:r>
                      <a:r>
                        <a:rPr lang="en-US" sz="2400" dirty="0">
                          <a:latin typeface="Calibri"/>
                          <a:ea typeface="Arial Unicode MS"/>
                          <a:cs typeface="Arial Unicode MS"/>
                        </a:rPr>
                        <a:t>, </a:t>
                      </a:r>
                      <a:r>
                        <a:rPr lang="en-US" sz="2400" dirty="0" err="1">
                          <a:latin typeface="Calibri"/>
                          <a:ea typeface="Arial Unicode MS"/>
                          <a:cs typeface="Arial Unicode MS"/>
                        </a:rPr>
                        <a:t>Bisa</a:t>
                      </a:r>
                      <a:r>
                        <a:rPr lang="en-US" sz="2400" dirty="0">
                          <a:latin typeface="Calibri"/>
                          <a:ea typeface="Arial Unicode MS"/>
                          <a:cs typeface="Arial Unicode MS"/>
                        </a:rPr>
                        <a:t>,</a:t>
                      </a:r>
                      <a:r>
                        <a:rPr lang="en-US" sz="2400" baseline="0" dirty="0">
                          <a:latin typeface="Calibri"/>
                          <a:ea typeface="Arial Unicode MS"/>
                          <a:cs typeface="Arial Unicode MS"/>
                        </a:rPr>
                        <a:t> </a:t>
                      </a:r>
                      <a:r>
                        <a:rPr lang="en-US" sz="2400" baseline="0" dirty="0" err="1">
                          <a:latin typeface="Calibri"/>
                          <a:ea typeface="Arial Unicode MS"/>
                          <a:cs typeface="Arial Unicode MS"/>
                        </a:rPr>
                        <a:t>Berguna</a:t>
                      </a:r>
                      <a:r>
                        <a:rPr lang="en-US" sz="2400" baseline="0" dirty="0">
                          <a:latin typeface="Calibri"/>
                          <a:ea typeface="Arial Unicode MS"/>
                          <a:cs typeface="Arial Unicode MS"/>
                        </a:rPr>
                        <a:t>)</a:t>
                      </a:r>
                      <a:endParaRPr lang="en-US" sz="2400" dirty="0">
                        <a:latin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6000" algn="l">
                        <a:lnSpc>
                          <a:spcPct val="100000"/>
                        </a:lnSpc>
                        <a:spcAft>
                          <a:spcPts val="0"/>
                        </a:spcAft>
                      </a:pPr>
                      <a:r>
                        <a:rPr lang="en-US" sz="2400" dirty="0" err="1">
                          <a:latin typeface="Calibri"/>
                          <a:ea typeface="Arial Unicode MS"/>
                          <a:cs typeface="Arial Unicode MS"/>
                        </a:rPr>
                        <a:t>Karakter</a:t>
                      </a:r>
                      <a:r>
                        <a:rPr lang="en-US" sz="2400" dirty="0">
                          <a:latin typeface="Calibri"/>
                          <a:ea typeface="Arial Unicode MS"/>
                          <a:cs typeface="Arial Unicode MS"/>
                        </a:rPr>
                        <a:t> </a:t>
                      </a:r>
                      <a:r>
                        <a:rPr lang="en-US" sz="2400" dirty="0" err="1">
                          <a:latin typeface="Calibri"/>
                          <a:ea typeface="Arial Unicode MS"/>
                          <a:cs typeface="Arial Unicode MS"/>
                        </a:rPr>
                        <a:t>Bakat</a:t>
                      </a:r>
                      <a:endParaRPr lang="en-US" sz="2400" dirty="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482156">
                <a:tc>
                  <a:txBody>
                    <a:bodyPr/>
                    <a:lstStyle/>
                    <a:p>
                      <a:pPr indent="-36000" algn="ctr">
                        <a:lnSpc>
                          <a:spcPct val="100000"/>
                        </a:lnSpc>
                        <a:spcAft>
                          <a:spcPts val="0"/>
                        </a:spcAft>
                      </a:pPr>
                      <a:r>
                        <a:rPr lang="en-US" sz="2400" dirty="0">
                          <a:latin typeface="Calibri"/>
                        </a:rPr>
                        <a:t>8</a:t>
                      </a: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2400" dirty="0" err="1">
                          <a:latin typeface="Calibri"/>
                        </a:rPr>
                        <a:t>Berpikir</a:t>
                      </a:r>
                      <a:endParaRPr lang="en-US" sz="2400" dirty="0">
                        <a:latin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6000" algn="l">
                        <a:lnSpc>
                          <a:spcPct val="100000"/>
                        </a:lnSpc>
                        <a:spcAft>
                          <a:spcPts val="0"/>
                        </a:spcAft>
                      </a:pPr>
                      <a:r>
                        <a:rPr lang="en-US" sz="2400" dirty="0">
                          <a:latin typeface="Calibri"/>
                        </a:rPr>
                        <a:t>Cara </a:t>
                      </a:r>
                      <a:r>
                        <a:rPr lang="en-US" sz="2400" dirty="0" err="1">
                          <a:latin typeface="Calibri"/>
                        </a:rPr>
                        <a:t>belajar</a:t>
                      </a:r>
                      <a:endParaRPr lang="en-US" sz="2400" dirty="0">
                        <a:latin typeface="Calibri"/>
                      </a:endParaRPr>
                    </a:p>
                  </a:txBody>
                  <a:tcPr marL="36000" marR="360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124929" name="Rectangle 1"/>
          <p:cNvSpPr>
            <a:spLocks noChangeArrowheads="1"/>
          </p:cNvSpPr>
          <p:nvPr/>
        </p:nvSpPr>
        <p:spPr bwMode="auto">
          <a:xfrm>
            <a:off x="428596" y="283469"/>
            <a:ext cx="5057795" cy="430887"/>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Low" defTabSz="914400" rtl="0" eaLnBrk="1" fontAlgn="base" latinLnBrk="0" hangingPunct="1">
              <a:lnSpc>
                <a:spcPct val="100000"/>
              </a:lnSpc>
              <a:spcBef>
                <a:spcPct val="0"/>
              </a:spcBef>
              <a:spcAft>
                <a:spcPct val="0"/>
              </a:spcAft>
              <a:buClrTx/>
              <a:buSzTx/>
              <a:tabLst/>
            </a:pPr>
            <a:r>
              <a:rPr kumimoji="0" lang="en-US" altLang="ja-JP" sz="2200" b="0" i="0" u="none" strike="noStrike" cap="none" normalizeH="0" baseline="0" dirty="0" err="1">
                <a:ln>
                  <a:noFill/>
                </a:ln>
                <a:solidFill>
                  <a:schemeClr val="tx1"/>
                </a:solidFill>
                <a:effectLst/>
                <a:latin typeface="Arial Unicode MS" pitchFamily="34" charset="-128"/>
                <a:ea typeface="Arial Unicode MS" pitchFamily="34" charset="-128"/>
                <a:cs typeface="Arial Unicode MS" pitchFamily="34" charset="-128"/>
              </a:rPr>
              <a:t>Masa</a:t>
            </a:r>
            <a:r>
              <a:rPr kumimoji="0" lang="en-US" altLang="ja-JP" sz="2200" b="0" i="0" u="none" strike="noStrike" cap="none" normalizeH="0" baseline="0" dirty="0">
                <a:ln>
                  <a:noFill/>
                </a:ln>
                <a:solidFill>
                  <a:schemeClr val="tx1"/>
                </a:solidFill>
                <a:effectLst/>
                <a:latin typeface="Arial Unicode MS" pitchFamily="34" charset="-128"/>
                <a:ea typeface="Arial Unicode MS" pitchFamily="34" charset="-128"/>
                <a:cs typeface="Arial Unicode MS" pitchFamily="34" charset="-128"/>
              </a:rPr>
              <a:t> </a:t>
            </a:r>
            <a:r>
              <a:rPr kumimoji="0" lang="en-US" altLang="ja-JP" sz="2200" b="0" i="0" u="none" strike="noStrike" cap="none" normalizeH="0" baseline="0" dirty="0" err="1">
                <a:ln>
                  <a:noFill/>
                </a:ln>
                <a:solidFill>
                  <a:schemeClr val="tx1"/>
                </a:solidFill>
                <a:effectLst/>
                <a:latin typeface="Arial Unicode MS" pitchFamily="34" charset="-128"/>
                <a:ea typeface="Arial Unicode MS" pitchFamily="34" charset="-128"/>
                <a:cs typeface="Arial Unicode MS" pitchFamily="34" charset="-128"/>
              </a:rPr>
              <a:t>emas</a:t>
            </a:r>
            <a:r>
              <a:rPr kumimoji="0" lang="en-US" altLang="ja-JP" sz="2200" b="0" i="0" u="none" strike="noStrike" cap="none" normalizeH="0" baseline="0" dirty="0">
                <a:ln>
                  <a:noFill/>
                </a:ln>
                <a:solidFill>
                  <a:schemeClr val="tx1"/>
                </a:solidFill>
                <a:effectLst/>
                <a:latin typeface="Arial Unicode MS" pitchFamily="34" charset="-128"/>
                <a:ea typeface="Arial Unicode MS" pitchFamily="34" charset="-128"/>
                <a:cs typeface="Arial Unicode MS" pitchFamily="34" charset="-128"/>
              </a:rPr>
              <a:t> </a:t>
            </a:r>
            <a:r>
              <a:rPr kumimoji="0" lang="en-US" altLang="ja-JP" sz="2200" b="0" i="0" u="none" strike="noStrike" cap="none" normalizeH="0" baseline="0" dirty="0" err="1">
                <a:ln>
                  <a:noFill/>
                </a:ln>
                <a:solidFill>
                  <a:schemeClr val="tx1"/>
                </a:solidFill>
                <a:effectLst/>
                <a:latin typeface="Arial Unicode MS" pitchFamily="34" charset="-128"/>
                <a:ea typeface="Arial Unicode MS" pitchFamily="34" charset="-128"/>
                <a:cs typeface="Arial Unicode MS" pitchFamily="34" charset="-128"/>
              </a:rPr>
              <a:t>pendidikan</a:t>
            </a:r>
            <a:r>
              <a:rPr kumimoji="0" lang="en-US" altLang="ja-JP" sz="2200" b="0" i="0" u="none" strike="noStrike" cap="none" normalizeH="0" baseline="0" dirty="0">
                <a:ln>
                  <a:noFill/>
                </a:ln>
                <a:solidFill>
                  <a:schemeClr val="tx1"/>
                </a:solidFill>
                <a:effectLst/>
                <a:latin typeface="Arial Unicode MS" pitchFamily="34" charset="-128"/>
                <a:ea typeface="Arial Unicode MS" pitchFamily="34" charset="-128"/>
                <a:cs typeface="Arial Unicode MS" pitchFamily="34" charset="-128"/>
              </a:rPr>
              <a:t> </a:t>
            </a:r>
            <a:r>
              <a:rPr kumimoji="0" lang="en-US" altLang="ja-JP" sz="2200" b="0" i="0" u="none" strike="noStrike" cap="none" normalizeH="0" baseline="0" dirty="0" err="1">
                <a:ln>
                  <a:noFill/>
                </a:ln>
                <a:solidFill>
                  <a:schemeClr val="tx1"/>
                </a:solidFill>
                <a:effectLst/>
                <a:latin typeface="Arial Unicode MS" pitchFamily="34" charset="-128"/>
                <a:ea typeface="Arial Unicode MS" pitchFamily="34" charset="-128"/>
                <a:cs typeface="Arial Unicode MS" pitchFamily="34" charset="-128"/>
              </a:rPr>
              <a:t>karakter</a:t>
            </a:r>
            <a:r>
              <a:rPr kumimoji="0" lang="en-US" altLang="ja-JP" sz="2200" b="0" i="0" u="none" strike="noStrike" cap="none" normalizeH="0" baseline="0" dirty="0">
                <a:ln>
                  <a:noFill/>
                </a:ln>
                <a:solidFill>
                  <a:schemeClr val="tx1"/>
                </a:solidFill>
                <a:effectLst/>
                <a:latin typeface="Arial Unicode MS" pitchFamily="34" charset="-128"/>
                <a:ea typeface="Arial Unicode MS" pitchFamily="34" charset="-128"/>
                <a:cs typeface="Arial Unicode MS" pitchFamily="34" charset="-128"/>
              </a:rPr>
              <a:t> </a:t>
            </a:r>
            <a:r>
              <a:rPr lang="en-US" altLang="ja-JP" sz="2200" dirty="0" err="1">
                <a:latin typeface="Arial Unicode MS" pitchFamily="34" charset="-128"/>
                <a:ea typeface="Arial Unicode MS" pitchFamily="34" charset="-128"/>
                <a:cs typeface="Arial Unicode MS" pitchFamily="34" charset="-128"/>
              </a:rPr>
              <a:t>bakat</a:t>
            </a:r>
            <a:endParaRPr kumimoji="0" lang="en-US" altLang="ja-JP" sz="2200" b="0" i="0" u="none" strike="noStrike" cap="none" normalizeH="0" baseline="0" dirty="0">
              <a:ln>
                <a:noFill/>
              </a:ln>
              <a:solidFill>
                <a:schemeClr val="tx1"/>
              </a:solidFill>
              <a:effectLst/>
              <a:latin typeface="Arial" pitchFamily="34" charset="0"/>
              <a:cs typeface="Arial" pitchFamily="34" charset="0"/>
            </a:endParaRPr>
          </a:p>
        </p:txBody>
      </p:sp>
      <p:sp>
        <p:nvSpPr>
          <p:cNvPr id="4" name="TextBox 3"/>
          <p:cNvSpPr txBox="1"/>
          <p:nvPr/>
        </p:nvSpPr>
        <p:spPr>
          <a:xfrm>
            <a:off x="5786478" y="-24"/>
            <a:ext cx="3357554" cy="461665"/>
          </a:xfrm>
          <a:prstGeom prst="rect">
            <a:avLst/>
          </a:prstGeom>
          <a:solidFill>
            <a:srgbClr val="00B050"/>
          </a:solidFill>
        </p:spPr>
        <p:txBody>
          <a:bodyPr wrap="square" rtlCol="0">
            <a:spAutoFit/>
          </a:bodyPr>
          <a:lstStyle/>
          <a:p>
            <a:pPr algn="ctr"/>
            <a:r>
              <a:rPr lang="en-US" sz="2400" dirty="0">
                <a:solidFill>
                  <a:schemeClr val="bg1"/>
                </a:solidFill>
              </a:rPr>
              <a:t>KELAS 4-9 SD-SMP</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sz="2800" dirty="0" err="1"/>
              <a:t>Pendidikan</a:t>
            </a:r>
            <a:r>
              <a:rPr lang="en-US" sz="2800" dirty="0"/>
              <a:t> </a:t>
            </a:r>
            <a:r>
              <a:rPr lang="en-US" sz="2800" dirty="0" err="1"/>
              <a:t>usia</a:t>
            </a:r>
            <a:r>
              <a:rPr lang="en-US" sz="2800" dirty="0"/>
              <a:t> 10 </a:t>
            </a:r>
            <a:r>
              <a:rPr lang="en-US" sz="2800" dirty="0" err="1"/>
              <a:t>tahun</a:t>
            </a:r>
            <a:r>
              <a:rPr lang="en-US" sz="2800" dirty="0"/>
              <a:t> - </a:t>
            </a:r>
            <a:r>
              <a:rPr lang="en-US" sz="2800" dirty="0" err="1"/>
              <a:t>Baligh</a:t>
            </a:r>
            <a:br>
              <a:rPr lang="en-US" sz="2800" dirty="0"/>
            </a:br>
            <a:endParaRPr lang="en-US" sz="2800" dirty="0"/>
          </a:p>
        </p:txBody>
      </p:sp>
      <p:graphicFrame>
        <p:nvGraphicFramePr>
          <p:cNvPr id="3" name="Table 2"/>
          <p:cNvGraphicFramePr>
            <a:graphicFrameLocks noGrp="1"/>
          </p:cNvGraphicFramePr>
          <p:nvPr/>
        </p:nvGraphicFramePr>
        <p:xfrm>
          <a:off x="500034" y="1110060"/>
          <a:ext cx="8215370" cy="3670558"/>
        </p:xfrm>
        <a:graphic>
          <a:graphicData uri="http://schemas.openxmlformats.org/drawingml/2006/table">
            <a:tbl>
              <a:tblPr/>
              <a:tblGrid>
                <a:gridCol w="2000264">
                  <a:extLst>
                    <a:ext uri="{9D8B030D-6E8A-4147-A177-3AD203B41FA5}">
                      <a16:colId xmlns:a16="http://schemas.microsoft.com/office/drawing/2014/main" val="20000"/>
                    </a:ext>
                  </a:extLst>
                </a:gridCol>
                <a:gridCol w="6215106">
                  <a:extLst>
                    <a:ext uri="{9D8B030D-6E8A-4147-A177-3AD203B41FA5}">
                      <a16:colId xmlns:a16="http://schemas.microsoft.com/office/drawing/2014/main" val="20001"/>
                    </a:ext>
                  </a:extLst>
                </a:gridCol>
              </a:tblGrid>
              <a:tr h="571504">
                <a:tc>
                  <a:txBody>
                    <a:bodyPr/>
                    <a:lstStyle/>
                    <a:p>
                      <a:pPr algn="ctr">
                        <a:lnSpc>
                          <a:spcPct val="115000"/>
                        </a:lnSpc>
                      </a:pPr>
                      <a:r>
                        <a:rPr lang="en-US" sz="1800" dirty="0">
                          <a:latin typeface="Calibri"/>
                          <a:ea typeface="Arial Unicode MS"/>
                          <a:cs typeface="Arial Unicode MS"/>
                        </a:rPr>
                        <a:t>KARAKTER</a:t>
                      </a:r>
                      <a:endParaRPr lang="en-US" sz="1800" dirty="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alpha val="40000"/>
                      </a:srgbClr>
                    </a:solidFill>
                  </a:tcPr>
                </a:tc>
                <a:tc>
                  <a:txBody>
                    <a:bodyPr/>
                    <a:lstStyle/>
                    <a:p>
                      <a:pPr algn="ctr">
                        <a:lnSpc>
                          <a:spcPct val="115000"/>
                        </a:lnSpc>
                      </a:pPr>
                      <a:r>
                        <a:rPr lang="en-US" sz="1800" baseline="0" dirty="0">
                          <a:latin typeface="Calibri"/>
                          <a:ea typeface="Arial Unicode MS"/>
                          <a:cs typeface="Arial Unicode MS"/>
                        </a:rPr>
                        <a:t>DASAR PEMBELAJARAN</a:t>
                      </a:r>
                      <a:endParaRPr lang="en-US" sz="1800" dirty="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alpha val="40000"/>
                      </a:srgbClr>
                    </a:solidFill>
                  </a:tcPr>
                </a:tc>
                <a:extLst>
                  <a:ext uri="{0D108BD9-81ED-4DB2-BD59-A6C34878D82A}">
                    <a16:rowId xmlns:a16="http://schemas.microsoft.com/office/drawing/2014/main" val="10000"/>
                  </a:ext>
                </a:extLst>
              </a:tr>
              <a:tr h="571504">
                <a:tc>
                  <a:txBody>
                    <a:bodyPr/>
                    <a:lstStyle/>
                    <a:p>
                      <a:pPr marL="0" indent="0" algn="l">
                        <a:lnSpc>
                          <a:spcPct val="115000"/>
                        </a:lnSpc>
                      </a:pPr>
                      <a:r>
                        <a:rPr lang="en-US" sz="1800" dirty="0">
                          <a:latin typeface="Calibri"/>
                          <a:ea typeface="Arial Unicode MS"/>
                          <a:cs typeface="Arial Unicode MS"/>
                        </a:rPr>
                        <a:t>KARAKTER IMAN</a:t>
                      </a:r>
                      <a:endParaRPr lang="en-US" sz="1800" dirty="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77800" indent="-177800" algn="just">
                        <a:lnSpc>
                          <a:spcPct val="115000"/>
                        </a:lnSpc>
                        <a:buFontTx/>
                        <a:buChar char="-"/>
                      </a:pPr>
                      <a:r>
                        <a:rPr lang="en-US" sz="1800" dirty="0" err="1">
                          <a:latin typeface="Calibri"/>
                        </a:rPr>
                        <a:t>Menumbuhkan</a:t>
                      </a:r>
                      <a:r>
                        <a:rPr lang="en-US" sz="1800" dirty="0">
                          <a:latin typeface="Calibri"/>
                        </a:rPr>
                        <a:t> </a:t>
                      </a:r>
                      <a:r>
                        <a:rPr lang="en-US" sz="1800" baseline="0" dirty="0">
                          <a:latin typeface="Calibri"/>
                        </a:rPr>
                        <a:t> </a:t>
                      </a:r>
                      <a:r>
                        <a:rPr lang="en-US" sz="1800" baseline="0" dirty="0" err="1">
                          <a:latin typeface="Calibri"/>
                        </a:rPr>
                        <a:t>kesadaran</a:t>
                      </a:r>
                      <a:r>
                        <a:rPr lang="en-US" sz="1800" baseline="0" dirty="0">
                          <a:latin typeface="Calibri"/>
                        </a:rPr>
                        <a:t>  </a:t>
                      </a:r>
                      <a:r>
                        <a:rPr lang="en-US" sz="1800" baseline="0" dirty="0" err="1">
                          <a:latin typeface="Calibri"/>
                        </a:rPr>
                        <a:t>tentang</a:t>
                      </a:r>
                      <a:r>
                        <a:rPr lang="en-US" sz="1800" baseline="0" dirty="0">
                          <a:latin typeface="Calibri"/>
                        </a:rPr>
                        <a:t>  </a:t>
                      </a:r>
                      <a:r>
                        <a:rPr lang="en-US" sz="1800" baseline="0" dirty="0" err="1">
                          <a:latin typeface="Calibri"/>
                        </a:rPr>
                        <a:t>Uluhiyah</a:t>
                      </a:r>
                      <a:r>
                        <a:rPr lang="en-US" sz="1800" baseline="0" dirty="0">
                          <a:latin typeface="Calibri"/>
                        </a:rPr>
                        <a:t> Allah</a:t>
                      </a:r>
                    </a:p>
                    <a:p>
                      <a:pPr marL="177800" indent="-177800" algn="just">
                        <a:lnSpc>
                          <a:spcPct val="115000"/>
                        </a:lnSpc>
                        <a:buFontTx/>
                        <a:buChar char="-"/>
                      </a:pPr>
                      <a:r>
                        <a:rPr lang="en-US" sz="1800" baseline="0" dirty="0" err="1">
                          <a:latin typeface="Calibri"/>
                        </a:rPr>
                        <a:t>Menumbuhkan</a:t>
                      </a:r>
                      <a:r>
                        <a:rPr lang="en-US" sz="1800" baseline="0" dirty="0">
                          <a:latin typeface="Calibri"/>
                        </a:rPr>
                        <a:t>  </a:t>
                      </a:r>
                      <a:r>
                        <a:rPr lang="en-US" sz="1800" baseline="0" dirty="0" err="1">
                          <a:latin typeface="Calibri"/>
                        </a:rPr>
                        <a:t>pemahaman</a:t>
                      </a:r>
                      <a:r>
                        <a:rPr lang="en-US" sz="1800" baseline="0" dirty="0">
                          <a:latin typeface="Calibri"/>
                        </a:rPr>
                        <a:t> </a:t>
                      </a:r>
                      <a:r>
                        <a:rPr lang="en-US" sz="1800" baseline="0" dirty="0" err="1">
                          <a:latin typeface="Calibri"/>
                        </a:rPr>
                        <a:t>terhadap</a:t>
                      </a:r>
                      <a:r>
                        <a:rPr lang="en-US" sz="1800" baseline="0" dirty="0">
                          <a:latin typeface="Calibri"/>
                        </a:rPr>
                        <a:t>  </a:t>
                      </a:r>
                      <a:r>
                        <a:rPr lang="en-US" sz="1800" baseline="0" dirty="0" err="1">
                          <a:latin typeface="Calibri"/>
                        </a:rPr>
                        <a:t>uluhiyyah</a:t>
                      </a:r>
                      <a:r>
                        <a:rPr lang="en-US" sz="1800" baseline="0" dirty="0">
                          <a:latin typeface="Calibri"/>
                        </a:rPr>
                        <a:t> Allah</a:t>
                      </a:r>
                    </a:p>
                    <a:p>
                      <a:pPr marL="177800" indent="-177800" algn="just">
                        <a:lnSpc>
                          <a:spcPct val="115000"/>
                        </a:lnSpc>
                        <a:buFontTx/>
                        <a:buChar char="-"/>
                      </a:pPr>
                      <a:r>
                        <a:rPr lang="en-US" sz="1800" dirty="0" err="1">
                          <a:latin typeface="Calibri"/>
                        </a:rPr>
                        <a:t>Melatih</a:t>
                      </a:r>
                      <a:r>
                        <a:rPr lang="en-US" sz="1800" baseline="0" dirty="0">
                          <a:latin typeface="Calibri"/>
                        </a:rPr>
                        <a:t> </a:t>
                      </a:r>
                      <a:r>
                        <a:rPr lang="en-US" sz="1800" baseline="0" dirty="0" err="1">
                          <a:latin typeface="Calibri"/>
                        </a:rPr>
                        <a:t>untuk</a:t>
                      </a:r>
                      <a:r>
                        <a:rPr lang="en-US" sz="1800" baseline="0" dirty="0">
                          <a:latin typeface="Calibri"/>
                        </a:rPr>
                        <a:t> </a:t>
                      </a:r>
                      <a:r>
                        <a:rPr lang="en-US" sz="1800" baseline="0" dirty="0" err="1">
                          <a:latin typeface="Calibri"/>
                        </a:rPr>
                        <a:t>berperilaku</a:t>
                      </a:r>
                      <a:r>
                        <a:rPr lang="en-US" sz="1800" baseline="0" dirty="0">
                          <a:latin typeface="Calibri"/>
                        </a:rPr>
                        <a:t> </a:t>
                      </a:r>
                      <a:r>
                        <a:rPr lang="en-US" sz="1800" baseline="0" dirty="0" err="1">
                          <a:latin typeface="Calibri"/>
                        </a:rPr>
                        <a:t>sesuai</a:t>
                      </a:r>
                      <a:r>
                        <a:rPr lang="en-US" sz="1800" baseline="0" dirty="0">
                          <a:latin typeface="Calibri"/>
                        </a:rPr>
                        <a:t> </a:t>
                      </a:r>
                      <a:r>
                        <a:rPr lang="en-US" sz="1800" baseline="0" dirty="0" err="1">
                          <a:latin typeface="Calibri"/>
                        </a:rPr>
                        <a:t>kesadaran</a:t>
                      </a:r>
                      <a:r>
                        <a:rPr lang="en-US" sz="1800" baseline="0" dirty="0">
                          <a:latin typeface="Calibri"/>
                        </a:rPr>
                        <a:t> </a:t>
                      </a:r>
                      <a:r>
                        <a:rPr lang="en-US" sz="1800" baseline="0" dirty="0" err="1">
                          <a:latin typeface="Calibri"/>
                        </a:rPr>
                        <a:t>dan</a:t>
                      </a:r>
                      <a:r>
                        <a:rPr lang="en-US" sz="1800" baseline="0" dirty="0">
                          <a:latin typeface="Calibri"/>
                        </a:rPr>
                        <a:t> </a:t>
                      </a:r>
                      <a:r>
                        <a:rPr lang="en-US" sz="1800" baseline="0" dirty="0" err="1">
                          <a:latin typeface="Calibri"/>
                        </a:rPr>
                        <a:t>pemahamannya</a:t>
                      </a:r>
                      <a:r>
                        <a:rPr lang="en-US" sz="1800" baseline="0" dirty="0">
                          <a:latin typeface="Calibri"/>
                        </a:rPr>
                        <a:t> </a:t>
                      </a:r>
                      <a:r>
                        <a:rPr lang="en-US" sz="1800" baseline="0" dirty="0" err="1">
                          <a:latin typeface="Calibri"/>
                        </a:rPr>
                        <a:t>terhadap</a:t>
                      </a:r>
                      <a:r>
                        <a:rPr lang="en-US" sz="1800" baseline="0" dirty="0">
                          <a:latin typeface="Calibri"/>
                        </a:rPr>
                        <a:t>  </a:t>
                      </a:r>
                      <a:r>
                        <a:rPr lang="en-US" sz="1800" baseline="0" dirty="0" err="1">
                          <a:latin typeface="Calibri"/>
                        </a:rPr>
                        <a:t>uluhiyah</a:t>
                      </a:r>
                      <a:r>
                        <a:rPr lang="en-US" sz="1800" baseline="0" dirty="0">
                          <a:latin typeface="Calibri"/>
                        </a:rPr>
                        <a:t> Allah</a:t>
                      </a:r>
                      <a:endParaRPr lang="en-US" sz="1800" dirty="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71504">
                <a:tc>
                  <a:txBody>
                    <a:bodyPr/>
                    <a:lstStyle/>
                    <a:p>
                      <a:pPr marL="0" indent="0" algn="l">
                        <a:lnSpc>
                          <a:spcPct val="115000"/>
                        </a:lnSpc>
                      </a:pPr>
                      <a:r>
                        <a:rPr lang="en-US" sz="1800" dirty="0">
                          <a:latin typeface="Calibri"/>
                          <a:ea typeface="Arial Unicode MS"/>
                          <a:cs typeface="Arial Unicode MS"/>
                        </a:rPr>
                        <a:t>KARAKTER BELAJAR</a:t>
                      </a:r>
                      <a:endParaRPr lang="en-US" sz="1800" dirty="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77800" indent="-177800" algn="just">
                        <a:lnSpc>
                          <a:spcPct val="115000"/>
                        </a:lnSpc>
                        <a:buFontTx/>
                        <a:buChar char="-"/>
                      </a:pPr>
                      <a:r>
                        <a:rPr lang="en-US" sz="1800" baseline="0" dirty="0" err="1">
                          <a:latin typeface="Calibri"/>
                          <a:ea typeface="Arial Unicode MS"/>
                          <a:cs typeface="Arial Unicode MS"/>
                        </a:rPr>
                        <a:t>Menumbuhkan</a:t>
                      </a:r>
                      <a:r>
                        <a:rPr lang="en-US" sz="1800" baseline="0" dirty="0">
                          <a:latin typeface="Calibri"/>
                          <a:ea typeface="Arial Unicode MS"/>
                          <a:cs typeface="Arial Unicode MS"/>
                        </a:rPr>
                        <a:t> </a:t>
                      </a:r>
                      <a:r>
                        <a:rPr lang="en-US" sz="1800" baseline="0" dirty="0" err="1">
                          <a:latin typeface="Calibri"/>
                          <a:ea typeface="Arial Unicode MS"/>
                          <a:cs typeface="Arial Unicode MS"/>
                        </a:rPr>
                        <a:t>kesadaran</a:t>
                      </a:r>
                      <a:r>
                        <a:rPr lang="en-US" sz="1800" baseline="0" dirty="0">
                          <a:latin typeface="Calibri"/>
                          <a:ea typeface="Arial Unicode MS"/>
                          <a:cs typeface="Arial Unicode MS"/>
                        </a:rPr>
                        <a:t> </a:t>
                      </a:r>
                      <a:r>
                        <a:rPr lang="en-US" sz="1800" baseline="0" dirty="0" err="1">
                          <a:latin typeface="Calibri"/>
                          <a:ea typeface="Arial Unicode MS"/>
                          <a:cs typeface="Arial Unicode MS"/>
                        </a:rPr>
                        <a:t>belajar</a:t>
                      </a:r>
                      <a:r>
                        <a:rPr lang="en-US" sz="1800" baseline="0" dirty="0">
                          <a:latin typeface="Calibri"/>
                          <a:ea typeface="Arial Unicode MS"/>
                          <a:cs typeface="Arial Unicode MS"/>
                        </a:rPr>
                        <a:t> </a:t>
                      </a:r>
                      <a:r>
                        <a:rPr lang="en-US" sz="1800" baseline="0" dirty="0" err="1">
                          <a:latin typeface="Calibri"/>
                          <a:ea typeface="Arial Unicode MS"/>
                          <a:cs typeface="Arial Unicode MS"/>
                        </a:rPr>
                        <a:t>pada</a:t>
                      </a:r>
                      <a:r>
                        <a:rPr lang="en-US" sz="1800" baseline="0" dirty="0">
                          <a:latin typeface="Calibri"/>
                          <a:ea typeface="Arial Unicode MS"/>
                          <a:cs typeface="Arial Unicode MS"/>
                        </a:rPr>
                        <a:t> </a:t>
                      </a:r>
                      <a:r>
                        <a:rPr lang="en-US" sz="1800" baseline="0" dirty="0" err="1">
                          <a:latin typeface="Calibri"/>
                          <a:ea typeface="Arial Unicode MS"/>
                          <a:cs typeface="Arial Unicode MS"/>
                        </a:rPr>
                        <a:t>bakat</a:t>
                      </a:r>
                      <a:r>
                        <a:rPr lang="en-US" sz="1800" baseline="0" dirty="0">
                          <a:latin typeface="Calibri"/>
                          <a:ea typeface="Arial Unicode MS"/>
                          <a:cs typeface="Arial Unicode MS"/>
                        </a:rPr>
                        <a:t> </a:t>
                      </a:r>
                      <a:r>
                        <a:rPr lang="en-US" sz="1800" baseline="0" dirty="0" err="1">
                          <a:latin typeface="Calibri"/>
                          <a:ea typeface="Arial Unicode MS"/>
                          <a:cs typeface="Arial Unicode MS"/>
                        </a:rPr>
                        <a:t>uniknya</a:t>
                      </a:r>
                      <a:endParaRPr lang="en-US" sz="1800" baseline="0" dirty="0">
                        <a:latin typeface="Calibri"/>
                        <a:ea typeface="Arial Unicode MS"/>
                        <a:cs typeface="Arial Unicode MS"/>
                      </a:endParaRPr>
                    </a:p>
                    <a:p>
                      <a:pPr marL="177800" indent="-177800" algn="just">
                        <a:lnSpc>
                          <a:spcPct val="115000"/>
                        </a:lnSpc>
                        <a:buFontTx/>
                        <a:buChar char="-"/>
                      </a:pPr>
                      <a:r>
                        <a:rPr lang="en-US" sz="1800" baseline="0" dirty="0" err="1">
                          <a:latin typeface="Calibri"/>
                          <a:ea typeface="Arial Unicode MS"/>
                          <a:cs typeface="Arial Unicode MS"/>
                        </a:rPr>
                        <a:t>Fokus</a:t>
                      </a:r>
                      <a:r>
                        <a:rPr lang="en-US" sz="1800" baseline="0" dirty="0">
                          <a:latin typeface="Calibri"/>
                          <a:ea typeface="Arial Unicode MS"/>
                          <a:cs typeface="Arial Unicode MS"/>
                        </a:rPr>
                        <a:t> </a:t>
                      </a:r>
                      <a:r>
                        <a:rPr lang="en-US" sz="1800" baseline="0" dirty="0" err="1">
                          <a:latin typeface="Calibri"/>
                          <a:ea typeface="Arial Unicode MS"/>
                          <a:cs typeface="Arial Unicode MS"/>
                        </a:rPr>
                        <a:t>belajar</a:t>
                      </a:r>
                      <a:r>
                        <a:rPr lang="en-US" sz="1800" baseline="0" dirty="0">
                          <a:latin typeface="Calibri"/>
                          <a:ea typeface="Arial Unicode MS"/>
                          <a:cs typeface="Arial Unicode MS"/>
                        </a:rPr>
                        <a:t> </a:t>
                      </a:r>
                      <a:r>
                        <a:rPr lang="en-US" sz="1800" baseline="0" dirty="0" err="1">
                          <a:latin typeface="Calibri"/>
                          <a:ea typeface="Arial Unicode MS"/>
                          <a:cs typeface="Arial Unicode MS"/>
                        </a:rPr>
                        <a:t>pada</a:t>
                      </a:r>
                      <a:r>
                        <a:rPr lang="en-US" sz="1800" baseline="0" dirty="0">
                          <a:latin typeface="Calibri"/>
                          <a:ea typeface="Arial Unicode MS"/>
                          <a:cs typeface="Arial Unicode MS"/>
                        </a:rPr>
                        <a:t> </a:t>
                      </a:r>
                      <a:r>
                        <a:rPr lang="en-US" sz="1800" baseline="0" dirty="0" err="1">
                          <a:latin typeface="Calibri"/>
                          <a:ea typeface="Arial Unicode MS"/>
                          <a:cs typeface="Arial Unicode MS"/>
                        </a:rPr>
                        <a:t>potensi</a:t>
                      </a:r>
                      <a:r>
                        <a:rPr lang="en-US" sz="1800" baseline="0" dirty="0">
                          <a:latin typeface="Calibri"/>
                          <a:ea typeface="Arial Unicode MS"/>
                          <a:cs typeface="Arial Unicode MS"/>
                        </a:rPr>
                        <a:t> </a:t>
                      </a:r>
                      <a:r>
                        <a:rPr lang="en-US" sz="1800" baseline="0" dirty="0" err="1">
                          <a:latin typeface="Calibri"/>
                          <a:ea typeface="Arial Unicode MS"/>
                          <a:cs typeface="Arial Unicode MS"/>
                        </a:rPr>
                        <a:t>bakat</a:t>
                      </a:r>
                      <a:endParaRPr lang="en-US" sz="1800" baseline="0" dirty="0">
                        <a:latin typeface="Calibri"/>
                        <a:ea typeface="Arial Unicode MS"/>
                        <a:cs typeface="Arial Unicode MS"/>
                      </a:endParaRPr>
                    </a:p>
                    <a:p>
                      <a:pPr marL="177800" indent="-177800" algn="just">
                        <a:lnSpc>
                          <a:spcPct val="115000"/>
                        </a:lnSpc>
                        <a:buFontTx/>
                        <a:buChar char="-"/>
                      </a:pPr>
                      <a:r>
                        <a:rPr lang="en-US" sz="1800" baseline="0" dirty="0" err="1">
                          <a:latin typeface="Calibri"/>
                          <a:ea typeface="Arial Unicode MS"/>
                          <a:cs typeface="Arial Unicode MS"/>
                        </a:rPr>
                        <a:t>Belajar</a:t>
                      </a:r>
                      <a:r>
                        <a:rPr lang="en-US" sz="1800" baseline="0" dirty="0">
                          <a:latin typeface="Calibri"/>
                          <a:ea typeface="Arial Unicode MS"/>
                          <a:cs typeface="Arial Unicode MS"/>
                        </a:rPr>
                        <a:t> </a:t>
                      </a:r>
                      <a:r>
                        <a:rPr lang="en-US" sz="1800" baseline="0" dirty="0" err="1">
                          <a:latin typeface="Calibri"/>
                          <a:ea typeface="Arial Unicode MS"/>
                          <a:cs typeface="Arial Unicode MS"/>
                        </a:rPr>
                        <a:t>pada</a:t>
                      </a:r>
                      <a:r>
                        <a:rPr lang="en-US" sz="1800" baseline="0" dirty="0">
                          <a:latin typeface="Calibri"/>
                          <a:ea typeface="Arial Unicode MS"/>
                          <a:cs typeface="Arial Unicode MS"/>
                        </a:rPr>
                        <a:t> maestro </a:t>
                      </a:r>
                      <a:r>
                        <a:rPr lang="en-US" sz="1800" baseline="0" dirty="0" err="1">
                          <a:latin typeface="Calibri"/>
                          <a:ea typeface="Arial Unicode MS"/>
                          <a:cs typeface="Arial Unicode MS"/>
                        </a:rPr>
                        <a:t>bakat</a:t>
                      </a:r>
                      <a:endParaRPr lang="en-US" sz="1800" dirty="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71504">
                <a:tc>
                  <a:txBody>
                    <a:bodyPr/>
                    <a:lstStyle/>
                    <a:p>
                      <a:pPr algn="l">
                        <a:lnSpc>
                          <a:spcPct val="115000"/>
                        </a:lnSpc>
                      </a:pPr>
                      <a:r>
                        <a:rPr lang="en-US" sz="1800" dirty="0">
                          <a:latin typeface="Calibri"/>
                          <a:ea typeface="Arial Unicode MS"/>
                          <a:cs typeface="Arial Unicode MS"/>
                        </a:rPr>
                        <a:t>KARAKTER BAKAT</a:t>
                      </a:r>
                      <a:endParaRPr lang="en-US" sz="1800" dirty="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77800" indent="-177800" algn="just">
                        <a:lnSpc>
                          <a:spcPct val="115000"/>
                        </a:lnSpc>
                        <a:buFontTx/>
                        <a:buChar char="-"/>
                      </a:pPr>
                      <a:r>
                        <a:rPr lang="en-US" sz="1800" baseline="0" dirty="0" err="1">
                          <a:latin typeface="Calibri"/>
                          <a:ea typeface="Arial Unicode MS"/>
                          <a:cs typeface="Arial Unicode MS"/>
                        </a:rPr>
                        <a:t>Menumbuhkan</a:t>
                      </a:r>
                      <a:r>
                        <a:rPr lang="en-US" sz="1800" baseline="0" dirty="0">
                          <a:latin typeface="Calibri"/>
                          <a:ea typeface="Arial Unicode MS"/>
                          <a:cs typeface="Arial Unicode MS"/>
                        </a:rPr>
                        <a:t> </a:t>
                      </a:r>
                      <a:r>
                        <a:rPr lang="en-US" sz="1800" baseline="0" dirty="0" err="1">
                          <a:latin typeface="Calibri"/>
                          <a:ea typeface="Arial Unicode MS"/>
                          <a:cs typeface="Arial Unicode MS"/>
                        </a:rPr>
                        <a:t>kesadaran</a:t>
                      </a:r>
                      <a:r>
                        <a:rPr lang="en-US" sz="1800" baseline="0" dirty="0">
                          <a:latin typeface="Calibri"/>
                          <a:ea typeface="Arial Unicode MS"/>
                          <a:cs typeface="Arial Unicode MS"/>
                        </a:rPr>
                        <a:t> </a:t>
                      </a:r>
                      <a:r>
                        <a:rPr lang="en-US" sz="1800" baseline="0" dirty="0" err="1">
                          <a:latin typeface="Calibri"/>
                          <a:ea typeface="Arial Unicode MS"/>
                          <a:cs typeface="Arial Unicode MS"/>
                        </a:rPr>
                        <a:t>terhadap</a:t>
                      </a:r>
                      <a:r>
                        <a:rPr lang="en-US" sz="1800" baseline="0" dirty="0">
                          <a:latin typeface="Calibri"/>
                          <a:ea typeface="Arial Unicode MS"/>
                          <a:cs typeface="Arial Unicode MS"/>
                        </a:rPr>
                        <a:t> </a:t>
                      </a:r>
                      <a:r>
                        <a:rPr lang="en-US" sz="1800" baseline="0" dirty="0" err="1">
                          <a:latin typeface="Calibri"/>
                          <a:ea typeface="Arial Unicode MS"/>
                          <a:cs typeface="Arial Unicode MS"/>
                        </a:rPr>
                        <a:t>bakat</a:t>
                      </a:r>
                      <a:r>
                        <a:rPr lang="en-US" sz="1800" baseline="0" dirty="0">
                          <a:latin typeface="Calibri"/>
                          <a:ea typeface="Arial Unicode MS"/>
                          <a:cs typeface="Arial Unicode MS"/>
                        </a:rPr>
                        <a:t> </a:t>
                      </a:r>
                      <a:r>
                        <a:rPr lang="en-US" sz="1800" baseline="0" dirty="0" err="1">
                          <a:latin typeface="Calibri"/>
                          <a:ea typeface="Arial Unicode MS"/>
                          <a:cs typeface="Arial Unicode MS"/>
                        </a:rPr>
                        <a:t>uniknya</a:t>
                      </a:r>
                      <a:endParaRPr lang="en-US" sz="1800" baseline="0" dirty="0">
                        <a:latin typeface="Calibri"/>
                        <a:ea typeface="Arial Unicode MS"/>
                        <a:cs typeface="Arial Unicode MS"/>
                      </a:endParaRPr>
                    </a:p>
                    <a:p>
                      <a:pPr marL="177800" indent="-177800" algn="just">
                        <a:lnSpc>
                          <a:spcPct val="115000"/>
                        </a:lnSpc>
                        <a:buFontTx/>
                        <a:buChar char="-"/>
                      </a:pPr>
                      <a:r>
                        <a:rPr lang="en-US" sz="1800" baseline="0" dirty="0" err="1">
                          <a:latin typeface="Calibri"/>
                          <a:ea typeface="Arial Unicode MS"/>
                          <a:cs typeface="Arial Unicode MS"/>
                        </a:rPr>
                        <a:t>Menumbuhkan</a:t>
                      </a:r>
                      <a:r>
                        <a:rPr lang="en-US" sz="1800" baseline="0" dirty="0">
                          <a:latin typeface="Calibri"/>
                          <a:ea typeface="Arial Unicode MS"/>
                          <a:cs typeface="Arial Unicode MS"/>
                        </a:rPr>
                        <a:t>  </a:t>
                      </a:r>
                      <a:r>
                        <a:rPr lang="en-US" sz="1800" baseline="0" dirty="0" err="1">
                          <a:latin typeface="Calibri"/>
                          <a:ea typeface="Arial Unicode MS"/>
                          <a:cs typeface="Arial Unicode MS"/>
                        </a:rPr>
                        <a:t>pemahaman</a:t>
                      </a:r>
                      <a:r>
                        <a:rPr lang="en-US" sz="1800" baseline="0" dirty="0">
                          <a:latin typeface="Calibri"/>
                          <a:ea typeface="Arial Unicode MS"/>
                          <a:cs typeface="Arial Unicode MS"/>
                        </a:rPr>
                        <a:t> </a:t>
                      </a:r>
                      <a:r>
                        <a:rPr lang="en-US" sz="1800" baseline="0" dirty="0" err="1">
                          <a:latin typeface="Calibri"/>
                          <a:ea typeface="Arial Unicode MS"/>
                          <a:cs typeface="Arial Unicode MS"/>
                        </a:rPr>
                        <a:t>terhadap</a:t>
                      </a:r>
                      <a:r>
                        <a:rPr lang="en-US" sz="1800" baseline="0" dirty="0">
                          <a:latin typeface="Calibri"/>
                          <a:ea typeface="Arial Unicode MS"/>
                          <a:cs typeface="Arial Unicode MS"/>
                        </a:rPr>
                        <a:t> </a:t>
                      </a:r>
                      <a:r>
                        <a:rPr lang="en-US" sz="1800" baseline="0" dirty="0" err="1">
                          <a:latin typeface="Calibri"/>
                          <a:ea typeface="Arial Unicode MS"/>
                          <a:cs typeface="Arial Unicode MS"/>
                        </a:rPr>
                        <a:t>keunikan</a:t>
                      </a:r>
                      <a:r>
                        <a:rPr lang="en-US" sz="1800" baseline="0" dirty="0">
                          <a:latin typeface="Calibri"/>
                          <a:ea typeface="Arial Unicode MS"/>
                          <a:cs typeface="Arial Unicode MS"/>
                        </a:rPr>
                        <a:t> </a:t>
                      </a:r>
                      <a:r>
                        <a:rPr lang="en-US" sz="1800" baseline="0" dirty="0" err="1">
                          <a:latin typeface="Calibri"/>
                          <a:ea typeface="Arial Unicode MS"/>
                          <a:cs typeface="Arial Unicode MS"/>
                        </a:rPr>
                        <a:t>bakatnya</a:t>
                      </a:r>
                      <a:endParaRPr lang="en-US" sz="1800" baseline="0" dirty="0">
                        <a:latin typeface="Calibri"/>
                        <a:ea typeface="Arial Unicode MS"/>
                        <a:cs typeface="Arial Unicode MS"/>
                      </a:endParaRPr>
                    </a:p>
                    <a:p>
                      <a:pPr marL="177800" indent="-177800" algn="just">
                        <a:lnSpc>
                          <a:spcPct val="115000"/>
                        </a:lnSpc>
                        <a:buFontTx/>
                        <a:buChar char="-"/>
                      </a:pPr>
                      <a:r>
                        <a:rPr lang="en-US" sz="1800" baseline="0" dirty="0" err="1">
                          <a:latin typeface="Calibri"/>
                          <a:ea typeface="Arial Unicode MS"/>
                          <a:cs typeface="Arial Unicode MS"/>
                        </a:rPr>
                        <a:t>Magang</a:t>
                      </a:r>
                      <a:r>
                        <a:rPr lang="en-US" sz="1800" baseline="0" dirty="0">
                          <a:latin typeface="Calibri"/>
                          <a:ea typeface="Arial Unicode MS"/>
                          <a:cs typeface="Arial Unicode MS"/>
                        </a:rPr>
                        <a:t> </a:t>
                      </a:r>
                      <a:r>
                        <a:rPr lang="en-US" sz="1800" baseline="0" dirty="0" err="1">
                          <a:latin typeface="Calibri"/>
                          <a:ea typeface="Arial Unicode MS"/>
                          <a:cs typeface="Arial Unicode MS"/>
                        </a:rPr>
                        <a:t>kepada</a:t>
                      </a:r>
                      <a:r>
                        <a:rPr lang="en-US" sz="1800" baseline="0" dirty="0">
                          <a:latin typeface="Calibri"/>
                          <a:ea typeface="Arial Unicode MS"/>
                          <a:cs typeface="Arial Unicode MS"/>
                        </a:rPr>
                        <a:t> maestro </a:t>
                      </a:r>
                      <a:r>
                        <a:rPr lang="en-US" sz="1800" baseline="0">
                          <a:latin typeface="Calibri"/>
                          <a:ea typeface="Arial Unicode MS"/>
                          <a:cs typeface="Arial Unicode MS"/>
                        </a:rPr>
                        <a:t>bakat</a:t>
                      </a:r>
                      <a:endParaRPr lang="en-US" sz="1800" dirty="0">
                        <a:latin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TextBox 3"/>
          <p:cNvSpPr txBox="1"/>
          <p:nvPr/>
        </p:nvSpPr>
        <p:spPr>
          <a:xfrm>
            <a:off x="5786478" y="-24"/>
            <a:ext cx="3357554" cy="461665"/>
          </a:xfrm>
          <a:prstGeom prst="rect">
            <a:avLst/>
          </a:prstGeom>
          <a:solidFill>
            <a:srgbClr val="00B050"/>
          </a:solidFill>
        </p:spPr>
        <p:txBody>
          <a:bodyPr wrap="square" rtlCol="0">
            <a:spAutoFit/>
          </a:bodyPr>
          <a:lstStyle/>
          <a:p>
            <a:pPr algn="ctr"/>
            <a:r>
              <a:rPr lang="en-US" sz="2400" dirty="0">
                <a:solidFill>
                  <a:schemeClr val="bg1"/>
                </a:solidFill>
              </a:rPr>
              <a:t>KELAS 4-9 SD-SMP</a:t>
            </a:r>
          </a:p>
        </p:txBody>
      </p:sp>
      <p:sp>
        <p:nvSpPr>
          <p:cNvPr id="5" name="TextBox 4"/>
          <p:cNvSpPr txBox="1"/>
          <p:nvPr/>
        </p:nvSpPr>
        <p:spPr>
          <a:xfrm>
            <a:off x="500034" y="5002612"/>
            <a:ext cx="2071702" cy="1569660"/>
          </a:xfrm>
          <a:prstGeom prst="rect">
            <a:avLst/>
          </a:prstGeom>
          <a:solidFill>
            <a:srgbClr val="92D050"/>
          </a:solidFill>
        </p:spPr>
        <p:txBody>
          <a:bodyPr wrap="square" rtlCol="0">
            <a:spAutoFit/>
          </a:bodyPr>
          <a:lstStyle/>
          <a:p>
            <a:pPr>
              <a:buFontTx/>
              <a:buChar char="-"/>
            </a:pPr>
            <a:r>
              <a:rPr lang="en-US" sz="2400" dirty="0">
                <a:solidFill>
                  <a:schemeClr val="bg1"/>
                </a:solidFill>
              </a:rPr>
              <a:t> Start Up</a:t>
            </a:r>
          </a:p>
          <a:p>
            <a:pPr>
              <a:buFontTx/>
              <a:buChar char="-"/>
            </a:pPr>
            <a:r>
              <a:rPr lang="en-US" sz="2400" dirty="0">
                <a:solidFill>
                  <a:schemeClr val="bg1"/>
                </a:solidFill>
              </a:rPr>
              <a:t> Non </a:t>
            </a:r>
            <a:r>
              <a:rPr lang="en-US" sz="2400" dirty="0" err="1">
                <a:solidFill>
                  <a:schemeClr val="bg1"/>
                </a:solidFill>
              </a:rPr>
              <a:t>tematik</a:t>
            </a:r>
            <a:endParaRPr lang="en-US" sz="2400" dirty="0">
              <a:solidFill>
                <a:schemeClr val="bg1"/>
              </a:solidFill>
            </a:endParaRPr>
          </a:p>
          <a:p>
            <a:pPr>
              <a:buFontTx/>
              <a:buChar char="-"/>
            </a:pPr>
            <a:r>
              <a:rPr lang="en-US" sz="2400" dirty="0">
                <a:solidFill>
                  <a:schemeClr val="bg1"/>
                </a:solidFill>
              </a:rPr>
              <a:t> </a:t>
            </a:r>
            <a:r>
              <a:rPr lang="en-US" sz="2400" dirty="0" err="1">
                <a:solidFill>
                  <a:schemeClr val="bg1"/>
                </a:solidFill>
              </a:rPr>
              <a:t>Penjurusan</a:t>
            </a:r>
            <a:r>
              <a:rPr lang="en-US" sz="2400" dirty="0">
                <a:solidFill>
                  <a:schemeClr val="bg1"/>
                </a:solidFill>
              </a:rPr>
              <a:t> </a:t>
            </a:r>
          </a:p>
          <a:p>
            <a:pPr>
              <a:buFontTx/>
              <a:buChar char="-"/>
            </a:pPr>
            <a:r>
              <a:rPr lang="en-US" sz="2400" dirty="0">
                <a:solidFill>
                  <a:schemeClr val="bg1"/>
                </a:solidFill>
              </a:rPr>
              <a:t> </a:t>
            </a:r>
            <a:r>
              <a:rPr lang="en-US" sz="2400" dirty="0" err="1">
                <a:solidFill>
                  <a:schemeClr val="bg1"/>
                </a:solidFill>
              </a:rPr>
              <a:t>Pemagangan</a:t>
            </a:r>
            <a:endParaRPr lang="en-US" sz="24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505B351-CB84-4EC6-93C2-0C8FB13E56D4}"/>
              </a:ext>
            </a:extLst>
          </p:cNvPr>
          <p:cNvSpPr/>
          <p:nvPr/>
        </p:nvSpPr>
        <p:spPr>
          <a:xfrm>
            <a:off x="2027168" y="-27384"/>
            <a:ext cx="5089663" cy="954107"/>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P</a:t>
            </a:r>
            <a:r>
              <a:rPr kumimoji="0" lang="en-ID" sz="2800" b="0" i="0" u="none" strike="noStrike" kern="1200" cap="none" spc="0" normalizeH="0" baseline="0" noProof="0" dirty="0" err="1">
                <a:ln>
                  <a:noFill/>
                </a:ln>
                <a:solidFill>
                  <a:prstClr val="black"/>
                </a:solidFill>
                <a:effectLst/>
                <a:uLnTx/>
                <a:uFillTx/>
                <a:latin typeface="Calibri"/>
                <a:ea typeface="+mn-ea"/>
                <a:cs typeface="+mn-cs"/>
              </a:rPr>
              <a:t>ilar-pilar</a:t>
            </a:r>
            <a:r>
              <a:rPr kumimoji="0" lang="en-ID" sz="2800" b="0" i="0" u="none" strike="noStrike" kern="1200" cap="none" spc="0" normalizeH="0" baseline="0" noProof="0" dirty="0">
                <a:ln>
                  <a:noFill/>
                </a:ln>
                <a:solidFill>
                  <a:prstClr val="black"/>
                </a:solidFill>
                <a:effectLst/>
                <a:uLnTx/>
                <a:uFillTx/>
                <a:latin typeface="Calibri"/>
                <a:ea typeface="+mn-ea"/>
                <a:cs typeface="+mn-cs"/>
              </a:rPr>
              <a:t> </a:t>
            </a:r>
            <a:r>
              <a:rPr kumimoji="0" lang="en-ID" sz="2800" b="0" i="0" u="none" strike="noStrike" kern="1200" cap="none" spc="0" normalizeH="0" baseline="0" noProof="0" dirty="0" err="1">
                <a:ln>
                  <a:noFill/>
                </a:ln>
                <a:solidFill>
                  <a:prstClr val="black"/>
                </a:solidFill>
                <a:effectLst/>
                <a:uLnTx/>
                <a:uFillTx/>
                <a:latin typeface="Calibri"/>
                <a:ea typeface="+mn-ea"/>
                <a:cs typeface="+mn-cs"/>
              </a:rPr>
              <a:t>Karakter</a:t>
            </a:r>
            <a:r>
              <a:rPr kumimoji="0" lang="en-ID" sz="2800" b="0" i="0" u="none" strike="noStrike" kern="1200" cap="none" spc="0" normalizeH="0" baseline="0" noProof="0" dirty="0">
                <a:ln>
                  <a:noFill/>
                </a:ln>
                <a:solidFill>
                  <a:prstClr val="black"/>
                </a:solidFill>
                <a:effectLst/>
                <a:uLnTx/>
                <a:uFillTx/>
                <a:latin typeface="Calibri"/>
                <a:ea typeface="+mn-ea"/>
                <a:cs typeface="+mn-cs"/>
              </a:rPr>
              <a:t> Yang </a:t>
            </a:r>
            <a:r>
              <a:rPr kumimoji="0" lang="en-ID" sz="2800" b="0" i="0" u="none" strike="noStrike" kern="1200" cap="none" spc="0" normalizeH="0" baseline="0" noProof="0" dirty="0" err="1">
                <a:ln>
                  <a:noFill/>
                </a:ln>
                <a:solidFill>
                  <a:prstClr val="black"/>
                </a:solidFill>
                <a:effectLst/>
                <a:uLnTx/>
                <a:uFillTx/>
                <a:latin typeface="Calibri"/>
                <a:ea typeface="+mn-ea"/>
                <a:cs typeface="+mn-cs"/>
              </a:rPr>
              <a:t>Dikaitkan</a:t>
            </a:r>
            <a:endParaRPr kumimoji="0" lang="en-ID" sz="2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D" sz="2800" b="0" i="0" u="none" strike="noStrike" kern="1200" cap="none" spc="0" normalizeH="0" baseline="0" noProof="0" dirty="0" err="1">
                <a:ln>
                  <a:noFill/>
                </a:ln>
                <a:solidFill>
                  <a:prstClr val="black"/>
                </a:solidFill>
                <a:effectLst/>
                <a:uLnTx/>
                <a:uFillTx/>
                <a:latin typeface="Calibri"/>
                <a:ea typeface="+mn-ea"/>
                <a:cs typeface="+mn-cs"/>
              </a:rPr>
              <a:t>Dengan</a:t>
            </a:r>
            <a:r>
              <a:rPr kumimoji="0" lang="en-ID" sz="2800" b="0" i="0" u="none" strike="noStrike" kern="1200" cap="none" spc="0" normalizeH="0" baseline="0" noProof="0" dirty="0">
                <a:ln>
                  <a:noFill/>
                </a:ln>
                <a:solidFill>
                  <a:prstClr val="black"/>
                </a:solidFill>
                <a:effectLst/>
                <a:uLnTx/>
                <a:uFillTx/>
                <a:latin typeface="Calibri"/>
                <a:ea typeface="+mn-ea"/>
                <a:cs typeface="+mn-cs"/>
              </a:rPr>
              <a:t> </a:t>
            </a:r>
            <a:r>
              <a:rPr kumimoji="0" lang="en-ID" sz="2800" b="0" i="0" u="none" strike="noStrike" kern="1200" cap="none" spc="0" normalizeH="0" baseline="0" noProof="0" dirty="0" err="1">
                <a:ln>
                  <a:noFill/>
                </a:ln>
                <a:solidFill>
                  <a:prstClr val="black"/>
                </a:solidFill>
                <a:effectLst/>
                <a:uLnTx/>
                <a:uFillTx/>
                <a:latin typeface="Calibri"/>
                <a:ea typeface="+mn-ea"/>
                <a:cs typeface="+mn-cs"/>
              </a:rPr>
              <a:t>Kegiatan</a:t>
            </a:r>
            <a:r>
              <a:rPr kumimoji="0" lang="en-ID" sz="2800" b="0" i="0" u="none" strike="noStrike" kern="1200" cap="none" spc="0" normalizeH="0" baseline="0" noProof="0" dirty="0">
                <a:ln>
                  <a:noFill/>
                </a:ln>
                <a:solidFill>
                  <a:prstClr val="black"/>
                </a:solidFill>
                <a:effectLst/>
                <a:uLnTx/>
                <a:uFillTx/>
                <a:latin typeface="Calibri"/>
                <a:ea typeface="+mn-ea"/>
                <a:cs typeface="+mn-cs"/>
              </a:rPr>
              <a:t> Dan </a:t>
            </a:r>
            <a:r>
              <a:rPr kumimoji="0" lang="en-ID" sz="2800" b="0" i="0" u="none" strike="noStrike" kern="1200" cap="none" spc="0" normalizeH="0" baseline="0" noProof="0" dirty="0" err="1">
                <a:ln>
                  <a:noFill/>
                </a:ln>
                <a:solidFill>
                  <a:prstClr val="black"/>
                </a:solidFill>
                <a:effectLst/>
                <a:uLnTx/>
                <a:uFillTx/>
                <a:latin typeface="Calibri"/>
                <a:ea typeface="+mn-ea"/>
                <a:cs typeface="+mn-cs"/>
              </a:rPr>
              <a:t>Peristiwa</a:t>
            </a:r>
            <a:endParaRPr kumimoji="0" lang="en-ID" sz="2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Rectangle 6">
            <a:extLst>
              <a:ext uri="{FF2B5EF4-FFF2-40B4-BE49-F238E27FC236}">
                <a16:creationId xmlns:a16="http://schemas.microsoft.com/office/drawing/2014/main" id="{3A6F37B6-F930-417E-AEFF-218330532A76}"/>
              </a:ext>
            </a:extLst>
          </p:cNvPr>
          <p:cNvSpPr/>
          <p:nvPr/>
        </p:nvSpPr>
        <p:spPr>
          <a:xfrm>
            <a:off x="611560" y="1196752"/>
            <a:ext cx="5400600" cy="5262979"/>
          </a:xfrm>
          <a:prstGeom prst="rect">
            <a:avLst/>
          </a:prstGeom>
        </p:spPr>
        <p:txBody>
          <a:bodyPr wrap="square">
            <a:spAutoFit/>
          </a:bodyPr>
          <a:lstStyle/>
          <a:p>
            <a:pPr marL="285750" indent="-285750">
              <a:buFont typeface="Wingdings" panose="05000000000000000000" pitchFamily="2" charset="2"/>
              <a:buChar char="ü"/>
            </a:pPr>
            <a:r>
              <a:rPr lang="en-ID" sz="2400" i="1" dirty="0" err="1">
                <a:effectLst/>
                <a:latin typeface="Cambria" panose="02040503050406030204" pitchFamily="18" charset="0"/>
              </a:rPr>
              <a:t>Shidq</a:t>
            </a:r>
            <a:r>
              <a:rPr lang="en-ID" sz="2400" dirty="0">
                <a:effectLst/>
                <a:latin typeface="Cambria" panose="02040503050406030204" pitchFamily="18" charset="0"/>
              </a:rPr>
              <a:t> / </a:t>
            </a:r>
            <a:r>
              <a:rPr lang="ar-SA" sz="2400" dirty="0">
                <a:effectLst/>
                <a:latin typeface="Calibri" panose="020F0502020204030204" pitchFamily="34" charset="0"/>
                <a:cs typeface="Calibri" panose="020F0502020204030204" pitchFamily="34" charset="0"/>
              </a:rPr>
              <a:t>الصِّدْق</a:t>
            </a:r>
            <a:r>
              <a:rPr lang="en-ID" sz="2400" dirty="0">
                <a:effectLst/>
                <a:latin typeface="Cambria" panose="02040503050406030204" pitchFamily="18" charset="0"/>
              </a:rPr>
              <a:t> (</a:t>
            </a:r>
            <a:r>
              <a:rPr lang="en-ID" sz="2400" dirty="0" err="1">
                <a:effectLst/>
                <a:latin typeface="Cambria" panose="02040503050406030204" pitchFamily="18" charset="0"/>
              </a:rPr>
              <a:t>jujur</a:t>
            </a:r>
            <a:r>
              <a:rPr lang="en-ID" sz="2400" dirty="0">
                <a:effectLst/>
                <a:latin typeface="Cambria" panose="02040503050406030204" pitchFamily="18" charset="0"/>
              </a:rPr>
              <a:t>)</a:t>
            </a:r>
            <a:endParaRPr lang="en-ID" sz="2400" dirty="0">
              <a:effectLst/>
            </a:endParaRPr>
          </a:p>
          <a:p>
            <a:pPr marL="285750" indent="-285750">
              <a:buFont typeface="Wingdings" panose="05000000000000000000" pitchFamily="2" charset="2"/>
              <a:buChar char="ü"/>
            </a:pPr>
            <a:r>
              <a:rPr lang="en-ID" sz="2400" i="1" dirty="0">
                <a:effectLst/>
                <a:latin typeface="Cambria" panose="02040503050406030204" pitchFamily="18" charset="0"/>
              </a:rPr>
              <a:t>‘</a:t>
            </a:r>
            <a:r>
              <a:rPr lang="en-ID" sz="2400" i="1" dirty="0" err="1">
                <a:effectLst/>
                <a:latin typeface="Cambria" panose="02040503050406030204" pitchFamily="18" charset="0"/>
              </a:rPr>
              <a:t>Iffah</a:t>
            </a:r>
            <a:r>
              <a:rPr lang="en-ID" sz="2400" dirty="0">
                <a:effectLst/>
                <a:latin typeface="Cambria" panose="02040503050406030204" pitchFamily="18" charset="0"/>
              </a:rPr>
              <a:t> / </a:t>
            </a:r>
            <a:r>
              <a:rPr lang="ar-SA" sz="2400" dirty="0">
                <a:effectLst/>
                <a:latin typeface="Calibri" panose="020F0502020204030204" pitchFamily="34" charset="0"/>
                <a:cs typeface="Calibri" panose="020F0502020204030204" pitchFamily="34" charset="0"/>
              </a:rPr>
              <a:t>العِفَّة</a:t>
            </a:r>
            <a:r>
              <a:rPr lang="en-ID" sz="2400" dirty="0">
                <a:effectLst/>
                <a:latin typeface="Cambria" panose="02040503050406030204" pitchFamily="18" charset="0"/>
              </a:rPr>
              <a:t> (</a:t>
            </a:r>
            <a:r>
              <a:rPr lang="en-ID" sz="2400" dirty="0" err="1">
                <a:effectLst/>
                <a:latin typeface="Cambria" panose="02040503050406030204" pitchFamily="18" charset="0"/>
              </a:rPr>
              <a:t>jaga</a:t>
            </a:r>
            <a:r>
              <a:rPr lang="en-ID" sz="2400" dirty="0">
                <a:effectLst/>
                <a:latin typeface="Cambria" panose="02040503050406030204" pitchFamily="18" charset="0"/>
              </a:rPr>
              <a:t> </a:t>
            </a:r>
            <a:r>
              <a:rPr lang="en-ID" sz="2400" dirty="0" err="1">
                <a:effectLst/>
                <a:latin typeface="Cambria" panose="02040503050406030204" pitchFamily="18" charset="0"/>
              </a:rPr>
              <a:t>diri</a:t>
            </a:r>
            <a:r>
              <a:rPr lang="en-ID" sz="2400" dirty="0">
                <a:effectLst/>
                <a:latin typeface="Cambria" panose="02040503050406030204" pitchFamily="18" charset="0"/>
              </a:rPr>
              <a:t>)</a:t>
            </a:r>
            <a:endParaRPr lang="en-ID" sz="2400" dirty="0">
              <a:effectLst/>
            </a:endParaRPr>
          </a:p>
          <a:p>
            <a:pPr marL="285750" indent="-285750">
              <a:buFont typeface="Wingdings" panose="05000000000000000000" pitchFamily="2" charset="2"/>
              <a:buChar char="ü"/>
            </a:pPr>
            <a:r>
              <a:rPr lang="en-ID" sz="2400" i="1" dirty="0" err="1">
                <a:effectLst/>
                <a:latin typeface="Cambria" panose="02040503050406030204" pitchFamily="18" charset="0"/>
              </a:rPr>
              <a:t>Shamt</a:t>
            </a:r>
            <a:r>
              <a:rPr lang="en-ID" sz="2400" dirty="0">
                <a:effectLst/>
                <a:latin typeface="Cambria" panose="02040503050406030204" pitchFamily="18" charset="0"/>
              </a:rPr>
              <a:t> / </a:t>
            </a:r>
            <a:r>
              <a:rPr lang="ar-SA" sz="2400" dirty="0">
                <a:effectLst/>
                <a:latin typeface="Calibri" panose="020F0502020204030204" pitchFamily="34" charset="0"/>
                <a:cs typeface="Calibri" panose="020F0502020204030204" pitchFamily="34" charset="0"/>
              </a:rPr>
              <a:t>الصَّمْت</a:t>
            </a:r>
            <a:r>
              <a:rPr lang="en-ID" sz="2400" dirty="0">
                <a:effectLst/>
                <a:latin typeface="Cambria" panose="02040503050406030204" pitchFamily="18" charset="0"/>
              </a:rPr>
              <a:t> (</a:t>
            </a:r>
            <a:r>
              <a:rPr lang="en-ID" sz="2400" dirty="0" err="1">
                <a:effectLst/>
                <a:latin typeface="Cambria" panose="02040503050406030204" pitchFamily="18" charset="0"/>
              </a:rPr>
              <a:t>diam</a:t>
            </a:r>
            <a:r>
              <a:rPr lang="en-ID" sz="2400" dirty="0">
                <a:effectLst/>
                <a:latin typeface="Cambria" panose="02040503050406030204" pitchFamily="18" charset="0"/>
              </a:rPr>
              <a:t>)</a:t>
            </a:r>
            <a:endParaRPr lang="en-ID" sz="2400" dirty="0">
              <a:effectLst/>
            </a:endParaRPr>
          </a:p>
          <a:p>
            <a:pPr marL="285750" indent="-285750">
              <a:buFont typeface="Wingdings" panose="05000000000000000000" pitchFamily="2" charset="2"/>
              <a:buChar char="ü"/>
            </a:pPr>
            <a:r>
              <a:rPr lang="en-ID" sz="2400" i="1" dirty="0" err="1">
                <a:effectLst/>
                <a:latin typeface="Cambria" panose="02040503050406030204" pitchFamily="18" charset="0"/>
              </a:rPr>
              <a:t>Hayaa</a:t>
            </a:r>
            <a:r>
              <a:rPr lang="en-ID" sz="2400" i="1" dirty="0">
                <a:effectLst/>
                <a:latin typeface="Cambria" panose="02040503050406030204" pitchFamily="18" charset="0"/>
              </a:rPr>
              <a:t>’</a:t>
            </a:r>
            <a:r>
              <a:rPr lang="en-ID" sz="2400" dirty="0">
                <a:effectLst/>
                <a:latin typeface="Cambria" panose="02040503050406030204" pitchFamily="18" charset="0"/>
              </a:rPr>
              <a:t> / </a:t>
            </a:r>
            <a:r>
              <a:rPr lang="ar-SA" sz="2400" dirty="0">
                <a:effectLst/>
                <a:latin typeface="Calibri" panose="020F0502020204030204" pitchFamily="34" charset="0"/>
                <a:cs typeface="Calibri" panose="020F0502020204030204" pitchFamily="34" charset="0"/>
              </a:rPr>
              <a:t>الحَيَاء</a:t>
            </a:r>
            <a:r>
              <a:rPr lang="en-ID" sz="2400" dirty="0">
                <a:effectLst/>
                <a:latin typeface="Cambria" panose="02040503050406030204" pitchFamily="18" charset="0"/>
              </a:rPr>
              <a:t> (</a:t>
            </a:r>
            <a:r>
              <a:rPr lang="en-ID" sz="2400" dirty="0" err="1">
                <a:effectLst/>
                <a:latin typeface="Cambria" panose="02040503050406030204" pitchFamily="18" charset="0"/>
              </a:rPr>
              <a:t>malu</a:t>
            </a:r>
            <a:r>
              <a:rPr lang="en-ID" sz="2400" dirty="0">
                <a:effectLst/>
                <a:latin typeface="Cambria" panose="02040503050406030204" pitchFamily="18" charset="0"/>
              </a:rPr>
              <a:t>)</a:t>
            </a:r>
            <a:endParaRPr lang="en-ID" sz="2400" dirty="0">
              <a:effectLst/>
            </a:endParaRPr>
          </a:p>
          <a:p>
            <a:pPr marL="285750" indent="-285750">
              <a:buFont typeface="Wingdings" panose="05000000000000000000" pitchFamily="2" charset="2"/>
              <a:buChar char="ü"/>
            </a:pPr>
            <a:r>
              <a:rPr lang="en-ID" sz="2400" i="1" dirty="0" err="1">
                <a:effectLst/>
                <a:latin typeface="Cambria" panose="02040503050406030204" pitchFamily="18" charset="0"/>
              </a:rPr>
              <a:t>Qanaa’ah</a:t>
            </a:r>
            <a:r>
              <a:rPr lang="en-ID" sz="2400" dirty="0">
                <a:effectLst/>
                <a:latin typeface="Cambria" panose="02040503050406030204" pitchFamily="18" charset="0"/>
              </a:rPr>
              <a:t> /  </a:t>
            </a:r>
            <a:r>
              <a:rPr lang="ar-SA" sz="2400" dirty="0">
                <a:effectLst/>
                <a:latin typeface="Calibri" panose="020F0502020204030204" pitchFamily="34" charset="0"/>
                <a:cs typeface="Calibri" panose="020F0502020204030204" pitchFamily="34" charset="0"/>
              </a:rPr>
              <a:t>القَنَاعَة</a:t>
            </a:r>
            <a:r>
              <a:rPr lang="en-ID" sz="2400" dirty="0">
                <a:effectLst/>
                <a:latin typeface="Cambria" panose="02040503050406030204" pitchFamily="18" charset="0"/>
              </a:rPr>
              <a:t> (</a:t>
            </a:r>
            <a:r>
              <a:rPr lang="en-ID" sz="2400" dirty="0" err="1">
                <a:effectLst/>
                <a:latin typeface="Cambria" panose="02040503050406030204" pitchFamily="18" charset="0"/>
              </a:rPr>
              <a:t>sederhana</a:t>
            </a:r>
            <a:r>
              <a:rPr lang="en-ID" sz="2400" dirty="0">
                <a:effectLst/>
                <a:latin typeface="Cambria" panose="02040503050406030204" pitchFamily="18" charset="0"/>
              </a:rPr>
              <a:t>)</a:t>
            </a:r>
            <a:endParaRPr lang="en-ID" sz="2400" dirty="0">
              <a:effectLst/>
            </a:endParaRPr>
          </a:p>
          <a:p>
            <a:pPr marL="285750" indent="-285750">
              <a:buFont typeface="Wingdings" panose="05000000000000000000" pitchFamily="2" charset="2"/>
              <a:buChar char="ü"/>
            </a:pPr>
            <a:r>
              <a:rPr lang="en-US" sz="2400" i="1" dirty="0" err="1">
                <a:effectLst/>
                <a:latin typeface="Cambria" panose="02040503050406030204" pitchFamily="18" charset="0"/>
              </a:rPr>
              <a:t>Shabr</a:t>
            </a:r>
            <a:r>
              <a:rPr lang="en-US" sz="2400" dirty="0">
                <a:effectLst/>
                <a:latin typeface="Cambria" panose="02040503050406030204" pitchFamily="18" charset="0"/>
              </a:rPr>
              <a:t> / </a:t>
            </a:r>
            <a:r>
              <a:rPr lang="ar-SA" sz="2400" dirty="0">
                <a:effectLst/>
                <a:latin typeface="Calibri" panose="020F0502020204030204" pitchFamily="34" charset="0"/>
                <a:cs typeface="Calibri" panose="020F0502020204030204" pitchFamily="34" charset="0"/>
              </a:rPr>
              <a:t>الصَّبْر</a:t>
            </a:r>
            <a:r>
              <a:rPr lang="en-US" sz="2400" dirty="0">
                <a:effectLst/>
                <a:latin typeface="Cambria" panose="02040503050406030204" pitchFamily="18" charset="0"/>
              </a:rPr>
              <a:t> (</a:t>
            </a:r>
            <a:r>
              <a:rPr lang="en-US" sz="2400" dirty="0" err="1">
                <a:effectLst/>
                <a:latin typeface="Cambria" panose="02040503050406030204" pitchFamily="18" charset="0"/>
              </a:rPr>
              <a:t>sabar</a:t>
            </a:r>
            <a:r>
              <a:rPr lang="en-US" sz="2400" dirty="0">
                <a:effectLst/>
                <a:latin typeface="Cambria" panose="02040503050406030204" pitchFamily="18" charset="0"/>
              </a:rPr>
              <a:t>)</a:t>
            </a:r>
          </a:p>
          <a:p>
            <a:pPr marL="285750" indent="-285750">
              <a:buFont typeface="Wingdings" panose="05000000000000000000" pitchFamily="2" charset="2"/>
              <a:buChar char="ü"/>
            </a:pPr>
            <a:r>
              <a:rPr lang="en-US" sz="2400" i="1" dirty="0" err="1">
                <a:effectLst/>
                <a:latin typeface="Cambria" panose="02040503050406030204" pitchFamily="18" charset="0"/>
              </a:rPr>
              <a:t>Mahabbah</a:t>
            </a:r>
            <a:r>
              <a:rPr lang="en-US" sz="2400" dirty="0">
                <a:effectLst/>
                <a:latin typeface="Cambria" panose="02040503050406030204" pitchFamily="18" charset="0"/>
              </a:rPr>
              <a:t> / </a:t>
            </a:r>
            <a:r>
              <a:rPr lang="ar-SA" sz="2400" dirty="0">
                <a:effectLst/>
                <a:latin typeface="Calibri" panose="020F0502020204030204" pitchFamily="34" charset="0"/>
                <a:cs typeface="Calibri" panose="020F0502020204030204" pitchFamily="34" charset="0"/>
              </a:rPr>
              <a:t>المَحَبَّة</a:t>
            </a:r>
            <a:r>
              <a:rPr lang="en-US" sz="2400" dirty="0">
                <a:effectLst/>
                <a:latin typeface="Cambria" panose="02040503050406030204" pitchFamily="18" charset="0"/>
              </a:rPr>
              <a:t> (</a:t>
            </a:r>
            <a:r>
              <a:rPr lang="en-US" sz="2400" dirty="0" err="1">
                <a:effectLst/>
                <a:latin typeface="Cambria" panose="02040503050406030204" pitchFamily="18" charset="0"/>
              </a:rPr>
              <a:t>penuh</a:t>
            </a:r>
            <a:r>
              <a:rPr lang="en-US" sz="2400" dirty="0">
                <a:effectLst/>
                <a:latin typeface="Cambria" panose="02040503050406030204" pitchFamily="18" charset="0"/>
              </a:rPr>
              <a:t> </a:t>
            </a:r>
            <a:r>
              <a:rPr lang="en-US" sz="2400" dirty="0" err="1">
                <a:effectLst/>
                <a:latin typeface="Cambria" panose="02040503050406030204" pitchFamily="18" charset="0"/>
              </a:rPr>
              <a:t>cinta</a:t>
            </a:r>
            <a:r>
              <a:rPr lang="en-US" sz="2400" dirty="0">
                <a:effectLst/>
                <a:latin typeface="Cambria" panose="02040503050406030204" pitchFamily="18" charset="0"/>
              </a:rPr>
              <a:t>)</a:t>
            </a:r>
            <a:endParaRPr lang="en-ID" sz="2400" dirty="0">
              <a:effectLst/>
            </a:endParaRPr>
          </a:p>
          <a:p>
            <a:pPr marL="285750" indent="-285750">
              <a:buFont typeface="Wingdings" panose="05000000000000000000" pitchFamily="2" charset="2"/>
              <a:buChar char="ü"/>
            </a:pPr>
            <a:r>
              <a:rPr lang="en-US" sz="2400" i="1" dirty="0" err="1">
                <a:effectLst/>
                <a:latin typeface="Cambria" panose="02040503050406030204" pitchFamily="18" charset="0"/>
              </a:rPr>
              <a:t>Itsaar</a:t>
            </a:r>
            <a:r>
              <a:rPr lang="en-US" sz="2400" dirty="0">
                <a:effectLst/>
                <a:latin typeface="Cambria" panose="02040503050406030204" pitchFamily="18" charset="0"/>
              </a:rPr>
              <a:t> /</a:t>
            </a:r>
            <a:r>
              <a:rPr lang="ar-SA" sz="2400" dirty="0">
                <a:effectLst/>
                <a:latin typeface="Calibri" panose="020F0502020204030204" pitchFamily="34" charset="0"/>
                <a:cs typeface="Calibri" panose="020F0502020204030204" pitchFamily="34" charset="0"/>
              </a:rPr>
              <a:t>الاِيْثَار</a:t>
            </a:r>
            <a:r>
              <a:rPr lang="en-US" sz="2400" dirty="0">
                <a:effectLst/>
                <a:latin typeface="Cambria" panose="02040503050406030204" pitchFamily="18" charset="0"/>
              </a:rPr>
              <a:t> (</a:t>
            </a:r>
            <a:r>
              <a:rPr lang="en-US" sz="2400" dirty="0" err="1">
                <a:effectLst/>
                <a:latin typeface="Cambria" panose="02040503050406030204" pitchFamily="18" charset="0"/>
              </a:rPr>
              <a:t>melayani</a:t>
            </a:r>
            <a:r>
              <a:rPr lang="en-US" sz="2400" dirty="0">
                <a:effectLst/>
                <a:latin typeface="Cambria" panose="02040503050406030204" pitchFamily="18" charset="0"/>
              </a:rPr>
              <a:t>)</a:t>
            </a:r>
            <a:endParaRPr lang="en-ID" sz="2400" dirty="0">
              <a:effectLst/>
            </a:endParaRPr>
          </a:p>
          <a:p>
            <a:pPr marL="285750" indent="-285750">
              <a:buFont typeface="Wingdings" panose="05000000000000000000" pitchFamily="2" charset="2"/>
              <a:buChar char="ü"/>
            </a:pPr>
            <a:r>
              <a:rPr lang="en-US" sz="2400" i="1" dirty="0" err="1">
                <a:effectLst/>
                <a:latin typeface="Cambria" panose="02040503050406030204" pitchFamily="18" charset="0"/>
              </a:rPr>
              <a:t>Kitmaanus</a:t>
            </a:r>
            <a:r>
              <a:rPr lang="en-US" sz="2400" i="1" dirty="0">
                <a:effectLst/>
                <a:latin typeface="Cambria" panose="02040503050406030204" pitchFamily="18" charset="0"/>
              </a:rPr>
              <a:t> </a:t>
            </a:r>
            <a:r>
              <a:rPr lang="en-US" sz="2400" i="1" dirty="0" err="1">
                <a:effectLst/>
                <a:latin typeface="Cambria" panose="02040503050406030204" pitchFamily="18" charset="0"/>
              </a:rPr>
              <a:t>Sirr</a:t>
            </a:r>
            <a:r>
              <a:rPr lang="en-US" sz="2400" dirty="0">
                <a:effectLst/>
                <a:latin typeface="Cambria" panose="02040503050406030204" pitchFamily="18" charset="0"/>
              </a:rPr>
              <a:t> / </a:t>
            </a:r>
            <a:r>
              <a:rPr lang="ar-SA" sz="2400" dirty="0">
                <a:effectLst/>
                <a:latin typeface="Calibri" panose="020F0502020204030204" pitchFamily="34" charset="0"/>
                <a:cs typeface="Calibri" panose="020F0502020204030204" pitchFamily="34" charset="0"/>
              </a:rPr>
              <a:t>كِتْمَانُ السِّرِّ</a:t>
            </a:r>
            <a:r>
              <a:rPr lang="en-US" sz="2400" dirty="0">
                <a:effectLst/>
                <a:latin typeface="Cambria" panose="02040503050406030204" pitchFamily="18" charset="0"/>
              </a:rPr>
              <a:t> (</a:t>
            </a:r>
            <a:r>
              <a:rPr lang="en-US" sz="2400" dirty="0" err="1">
                <a:effectLst/>
                <a:latin typeface="Cambria" panose="02040503050406030204" pitchFamily="18" charset="0"/>
              </a:rPr>
              <a:t>jg.</a:t>
            </a:r>
            <a:r>
              <a:rPr lang="en-US" sz="2400" dirty="0">
                <a:effectLst/>
                <a:latin typeface="Cambria" panose="02040503050406030204" pitchFamily="18" charset="0"/>
              </a:rPr>
              <a:t> </a:t>
            </a:r>
            <a:r>
              <a:rPr lang="en-US" sz="2400" dirty="0" err="1">
                <a:effectLst/>
                <a:latin typeface="Cambria" panose="02040503050406030204" pitchFamily="18" charset="0"/>
              </a:rPr>
              <a:t>rahasia</a:t>
            </a:r>
            <a:r>
              <a:rPr lang="en-US" sz="2400" dirty="0">
                <a:effectLst/>
                <a:latin typeface="Cambria" panose="02040503050406030204" pitchFamily="18" charset="0"/>
              </a:rPr>
              <a:t>)</a:t>
            </a:r>
            <a:endParaRPr lang="en-ID" sz="2400" dirty="0">
              <a:effectLst/>
            </a:endParaRPr>
          </a:p>
          <a:p>
            <a:pPr marL="285750" indent="-285750">
              <a:buFont typeface="Wingdings" panose="05000000000000000000" pitchFamily="2" charset="2"/>
              <a:buChar char="ü"/>
            </a:pPr>
            <a:r>
              <a:rPr lang="en-US" sz="2400" i="1" dirty="0" err="1">
                <a:effectLst/>
                <a:latin typeface="Cambria" panose="02040503050406030204" pitchFamily="18" charset="0"/>
              </a:rPr>
              <a:t>Satr</a:t>
            </a:r>
            <a:r>
              <a:rPr lang="en-US" sz="2400" dirty="0">
                <a:effectLst/>
                <a:latin typeface="Cambria" panose="02040503050406030204" pitchFamily="18" charset="0"/>
              </a:rPr>
              <a:t> / </a:t>
            </a:r>
            <a:r>
              <a:rPr lang="ar-SA" sz="2400" dirty="0">
                <a:effectLst/>
                <a:latin typeface="Calibri" panose="020F0502020204030204" pitchFamily="34" charset="0"/>
                <a:cs typeface="Calibri" panose="020F0502020204030204" pitchFamily="34" charset="0"/>
              </a:rPr>
              <a:t>السَّتْرُ</a:t>
            </a:r>
            <a:r>
              <a:rPr lang="en-US" sz="2400" dirty="0">
                <a:effectLst/>
                <a:latin typeface="Cambria" panose="02040503050406030204" pitchFamily="18" charset="0"/>
              </a:rPr>
              <a:t> (</a:t>
            </a:r>
            <a:r>
              <a:rPr lang="en-US" sz="2400" dirty="0" err="1">
                <a:effectLst/>
                <a:latin typeface="Cambria" panose="02040503050406030204" pitchFamily="18" charset="0"/>
              </a:rPr>
              <a:t>menutup</a:t>
            </a:r>
            <a:r>
              <a:rPr lang="en-US" sz="2400" dirty="0">
                <a:effectLst/>
                <a:latin typeface="Cambria" panose="02040503050406030204" pitchFamily="18" charset="0"/>
              </a:rPr>
              <a:t> </a:t>
            </a:r>
            <a:r>
              <a:rPr lang="en-US" sz="2400" dirty="0" err="1">
                <a:effectLst/>
                <a:latin typeface="Cambria" panose="02040503050406030204" pitchFamily="18" charset="0"/>
              </a:rPr>
              <a:t>aib</a:t>
            </a:r>
            <a:r>
              <a:rPr lang="en-US" sz="2400" dirty="0">
                <a:effectLst/>
                <a:latin typeface="Cambria" panose="02040503050406030204" pitchFamily="18" charset="0"/>
              </a:rPr>
              <a:t>)</a:t>
            </a:r>
            <a:endParaRPr lang="en-ID" sz="2400" dirty="0">
              <a:effectLst/>
            </a:endParaRPr>
          </a:p>
          <a:p>
            <a:pPr marL="285750" indent="-285750">
              <a:buFont typeface="Wingdings" panose="05000000000000000000" pitchFamily="2" charset="2"/>
              <a:buChar char="ü"/>
            </a:pPr>
            <a:r>
              <a:rPr lang="en-US" sz="2400" i="1" dirty="0" err="1">
                <a:effectLst/>
                <a:latin typeface="Cambria" panose="02040503050406030204" pitchFamily="18" charset="0"/>
              </a:rPr>
              <a:t>Amaanah</a:t>
            </a:r>
            <a:r>
              <a:rPr lang="en-US" sz="2400" dirty="0">
                <a:effectLst/>
                <a:latin typeface="Cambria" panose="02040503050406030204" pitchFamily="18" charset="0"/>
              </a:rPr>
              <a:t> / </a:t>
            </a:r>
            <a:r>
              <a:rPr lang="ar-SA" sz="2400" dirty="0">
                <a:effectLst/>
                <a:latin typeface="Calibri" panose="020F0502020204030204" pitchFamily="34" charset="0"/>
                <a:cs typeface="Calibri" panose="020F0502020204030204" pitchFamily="34" charset="0"/>
              </a:rPr>
              <a:t>الاَمَانَة</a:t>
            </a:r>
            <a:r>
              <a:rPr lang="en-US" sz="2400" dirty="0">
                <a:effectLst/>
                <a:latin typeface="Cambria" panose="02040503050406030204" pitchFamily="18" charset="0"/>
              </a:rPr>
              <a:t> (</a:t>
            </a:r>
            <a:r>
              <a:rPr lang="en-US" sz="2400" dirty="0" err="1">
                <a:effectLst/>
                <a:latin typeface="Cambria" panose="02040503050406030204" pitchFamily="18" charset="0"/>
              </a:rPr>
              <a:t>tanggung</a:t>
            </a:r>
            <a:r>
              <a:rPr lang="en-US" sz="2400" dirty="0">
                <a:effectLst/>
                <a:latin typeface="Cambria" panose="02040503050406030204" pitchFamily="18" charset="0"/>
              </a:rPr>
              <a:t> Jawab)</a:t>
            </a:r>
            <a:endParaRPr lang="en-ID" sz="2400" dirty="0">
              <a:effectLst/>
            </a:endParaRPr>
          </a:p>
          <a:p>
            <a:pPr marL="285750" indent="-285750">
              <a:buFont typeface="Wingdings" panose="05000000000000000000" pitchFamily="2" charset="2"/>
              <a:buChar char="ü"/>
            </a:pPr>
            <a:r>
              <a:rPr lang="en-US" sz="2400" i="1" dirty="0" err="1">
                <a:effectLst/>
                <a:latin typeface="Cambria" panose="02040503050406030204" pitchFamily="18" charset="0"/>
              </a:rPr>
              <a:t>Anaah</a:t>
            </a:r>
            <a:r>
              <a:rPr lang="en-US" sz="2400" dirty="0">
                <a:effectLst/>
                <a:latin typeface="Cambria" panose="02040503050406030204" pitchFamily="18" charset="0"/>
              </a:rPr>
              <a:t> / </a:t>
            </a:r>
            <a:r>
              <a:rPr lang="ar-SA" sz="2400" dirty="0">
                <a:effectLst/>
                <a:latin typeface="Calibri" panose="020F0502020204030204" pitchFamily="34" charset="0"/>
                <a:cs typeface="Calibri" panose="020F0502020204030204" pitchFamily="34" charset="0"/>
              </a:rPr>
              <a:t>الاَنَاة</a:t>
            </a:r>
            <a:r>
              <a:rPr lang="en-US" sz="2400" dirty="0">
                <a:effectLst/>
                <a:latin typeface="Cambria" panose="02040503050406030204" pitchFamily="18" charset="0"/>
              </a:rPr>
              <a:t> (</a:t>
            </a:r>
            <a:r>
              <a:rPr lang="en-US" sz="2400" dirty="0" err="1">
                <a:effectLst/>
                <a:latin typeface="Cambria" panose="02040503050406030204" pitchFamily="18" charset="0"/>
              </a:rPr>
              <a:t>tidak</a:t>
            </a:r>
            <a:r>
              <a:rPr lang="en-US" sz="2400" dirty="0">
                <a:effectLst/>
                <a:latin typeface="Cambria" panose="02040503050406030204" pitchFamily="18" charset="0"/>
              </a:rPr>
              <a:t> </a:t>
            </a:r>
            <a:r>
              <a:rPr lang="en-US" sz="2400" dirty="0" err="1">
                <a:effectLst/>
                <a:latin typeface="Cambria" panose="02040503050406030204" pitchFamily="18" charset="0"/>
              </a:rPr>
              <a:t>tergesa</a:t>
            </a:r>
            <a:r>
              <a:rPr lang="en-US" sz="2400" dirty="0">
                <a:effectLst/>
                <a:latin typeface="Cambria" panose="02040503050406030204" pitchFamily="18" charset="0"/>
              </a:rPr>
              <a:t>)</a:t>
            </a:r>
            <a:endParaRPr lang="en-ID" sz="2400" dirty="0">
              <a:effectLst/>
            </a:endParaRPr>
          </a:p>
          <a:p>
            <a:pPr marL="285750" indent="-285750">
              <a:buFont typeface="Wingdings" panose="05000000000000000000" pitchFamily="2" charset="2"/>
              <a:buChar char="ü"/>
            </a:pPr>
            <a:r>
              <a:rPr lang="en-US" sz="2400" i="1" dirty="0" err="1">
                <a:effectLst/>
                <a:latin typeface="Cambria" panose="02040503050406030204" pitchFamily="18" charset="0"/>
              </a:rPr>
              <a:t>Hilm</a:t>
            </a:r>
            <a:r>
              <a:rPr lang="en-US" sz="2400" dirty="0">
                <a:effectLst/>
                <a:latin typeface="Cambria" panose="02040503050406030204" pitchFamily="18" charset="0"/>
              </a:rPr>
              <a:t> / </a:t>
            </a:r>
            <a:r>
              <a:rPr lang="ar-SA" sz="2400" dirty="0">
                <a:effectLst/>
                <a:latin typeface="Calibri" panose="020F0502020204030204" pitchFamily="34" charset="0"/>
                <a:cs typeface="Calibri" panose="020F0502020204030204" pitchFamily="34" charset="0"/>
              </a:rPr>
              <a:t>الحِلْم</a:t>
            </a:r>
            <a:r>
              <a:rPr lang="en-US" sz="2400" dirty="0">
                <a:effectLst/>
                <a:latin typeface="Cambria" panose="02040503050406030204" pitchFamily="18" charset="0"/>
              </a:rPr>
              <a:t> (</a:t>
            </a:r>
            <a:r>
              <a:rPr lang="en-US" sz="2400" dirty="0" err="1">
                <a:effectLst/>
                <a:latin typeface="Cambria" panose="02040503050406030204" pitchFamily="18" charset="0"/>
              </a:rPr>
              <a:t>santun</a:t>
            </a:r>
            <a:r>
              <a:rPr lang="en-US" sz="2400" dirty="0">
                <a:effectLst/>
                <a:latin typeface="Cambria" panose="02040503050406030204" pitchFamily="18" charset="0"/>
              </a:rPr>
              <a:t>)</a:t>
            </a:r>
            <a:r>
              <a:rPr lang="en-US" sz="2400" i="1" dirty="0">
                <a:effectLst/>
                <a:latin typeface="Cambria" panose="02040503050406030204" pitchFamily="18" charset="0"/>
              </a:rPr>
              <a:t> </a:t>
            </a:r>
            <a:endParaRPr lang="en-ID" sz="2400" dirty="0">
              <a:effectLst/>
            </a:endParaRPr>
          </a:p>
          <a:p>
            <a:pPr marL="285750" indent="-285750">
              <a:buFont typeface="Wingdings" panose="05000000000000000000" pitchFamily="2" charset="2"/>
              <a:buChar char="ü"/>
            </a:pPr>
            <a:r>
              <a:rPr lang="en-ID" sz="2400" i="1" dirty="0" err="1">
                <a:effectLst/>
                <a:latin typeface="Cambria" panose="02040503050406030204" pitchFamily="18" charset="0"/>
              </a:rPr>
              <a:t>Tawaadhu</a:t>
            </a:r>
            <a:r>
              <a:rPr lang="en-ID" sz="2400" i="1" dirty="0">
                <a:effectLst/>
                <a:latin typeface="Cambria" panose="02040503050406030204" pitchFamily="18" charset="0"/>
              </a:rPr>
              <a:t>’ </a:t>
            </a:r>
            <a:r>
              <a:rPr lang="en-ID" sz="2400" dirty="0">
                <a:effectLst/>
                <a:latin typeface="Cambria" panose="02040503050406030204" pitchFamily="18" charset="0"/>
              </a:rPr>
              <a:t>/ </a:t>
            </a:r>
            <a:r>
              <a:rPr lang="ar-SA" sz="2400" dirty="0">
                <a:effectLst/>
                <a:latin typeface="Calibri" panose="020F0502020204030204" pitchFamily="34" charset="0"/>
                <a:cs typeface="Calibri" panose="020F0502020204030204" pitchFamily="34" charset="0"/>
              </a:rPr>
              <a:t>التَّوَاضُع</a:t>
            </a:r>
            <a:r>
              <a:rPr lang="en-ID" sz="2400" dirty="0">
                <a:effectLst/>
                <a:latin typeface="Cambria" panose="02040503050406030204" pitchFamily="18" charset="0"/>
              </a:rPr>
              <a:t> (</a:t>
            </a:r>
            <a:r>
              <a:rPr lang="en-ID" sz="2400" dirty="0" err="1">
                <a:effectLst/>
                <a:latin typeface="Cambria" panose="02040503050406030204" pitchFamily="18" charset="0"/>
              </a:rPr>
              <a:t>rendah</a:t>
            </a:r>
            <a:r>
              <a:rPr lang="en-ID" sz="2400" dirty="0">
                <a:effectLst/>
                <a:latin typeface="Cambria" panose="02040503050406030204" pitchFamily="18" charset="0"/>
              </a:rPr>
              <a:t> </a:t>
            </a:r>
            <a:r>
              <a:rPr lang="en-ID" sz="2400" dirty="0" err="1">
                <a:effectLst/>
                <a:latin typeface="Cambria" panose="02040503050406030204" pitchFamily="18" charset="0"/>
              </a:rPr>
              <a:t>hati</a:t>
            </a:r>
            <a:r>
              <a:rPr lang="en-ID" sz="2400" dirty="0">
                <a:effectLst/>
                <a:latin typeface="Cambria" panose="02040503050406030204" pitchFamily="18" charset="0"/>
              </a:rPr>
              <a:t>)</a:t>
            </a:r>
            <a:endParaRPr lang="en-ID" sz="2400" dirty="0">
              <a:effectLst/>
            </a:endParaRPr>
          </a:p>
        </p:txBody>
      </p:sp>
      <p:sp>
        <p:nvSpPr>
          <p:cNvPr id="8" name="Content Placeholder 2">
            <a:extLst>
              <a:ext uri="{FF2B5EF4-FFF2-40B4-BE49-F238E27FC236}">
                <a16:creationId xmlns:a16="http://schemas.microsoft.com/office/drawing/2014/main" id="{6EBEE1CC-47E7-4FAD-A4D5-5950C2686F94}"/>
              </a:ext>
            </a:extLst>
          </p:cNvPr>
          <p:cNvSpPr txBox="1">
            <a:spLocks/>
          </p:cNvSpPr>
          <p:nvPr/>
        </p:nvSpPr>
        <p:spPr>
          <a:xfrm rot="19885689">
            <a:off x="4600149" y="2602079"/>
            <a:ext cx="4062326" cy="1152128"/>
          </a:xfrm>
          <a:prstGeom prst="rect">
            <a:avLst/>
          </a:prstGeom>
          <a:ln w="57150">
            <a:solidFill>
              <a:schemeClr val="bg1"/>
            </a:solidFill>
          </a:ln>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id-ID" sz="6000" dirty="0">
                <a:solidFill>
                  <a:srgbClr val="92D050"/>
                </a:solidFill>
                <a:effectLst>
                  <a:glow rad="292100">
                    <a:schemeClr val="tx1"/>
                  </a:glow>
                </a:effectLst>
              </a:rPr>
              <a:t>Ego</a:t>
            </a:r>
            <a:r>
              <a:rPr lang="en-US" sz="6000" dirty="0">
                <a:solidFill>
                  <a:srgbClr val="92D050"/>
                </a:solidFill>
                <a:effectLst>
                  <a:glow rad="292100">
                    <a:schemeClr val="tx1"/>
                  </a:glow>
                </a:effectLst>
              </a:rPr>
              <a:t> </a:t>
            </a:r>
            <a:r>
              <a:rPr lang="en-US" sz="6000" dirty="0" err="1">
                <a:solidFill>
                  <a:srgbClr val="92D050"/>
                </a:solidFill>
                <a:effectLst>
                  <a:glow rad="292100">
                    <a:schemeClr val="tx1"/>
                  </a:glow>
                </a:effectLst>
              </a:rPr>
              <a:t>Rendah</a:t>
            </a:r>
            <a:endParaRPr lang="id-ID" sz="6000" dirty="0">
              <a:solidFill>
                <a:srgbClr val="92D050"/>
              </a:solidFill>
              <a:effectLst>
                <a:glow rad="292100">
                  <a:schemeClr val="tx1"/>
                </a:glow>
              </a:effectLst>
            </a:endParaRPr>
          </a:p>
        </p:txBody>
      </p:sp>
    </p:spTree>
    <p:extLst>
      <p:ext uri="{BB962C8B-B14F-4D97-AF65-F5344CB8AC3E}">
        <p14:creationId xmlns:p14="http://schemas.microsoft.com/office/powerpoint/2010/main" val="3215133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326EA-78AF-42A3-A40E-B12E0626EBEE}"/>
              </a:ext>
            </a:extLst>
          </p:cNvPr>
          <p:cNvSpPr>
            <a:spLocks noGrp="1"/>
          </p:cNvSpPr>
          <p:nvPr>
            <p:ph type="title"/>
          </p:nvPr>
        </p:nvSpPr>
        <p:spPr>
          <a:xfrm>
            <a:off x="457200" y="2708920"/>
            <a:ext cx="8229600" cy="1143000"/>
          </a:xfrm>
        </p:spPr>
        <p:txBody>
          <a:bodyPr>
            <a:noAutofit/>
          </a:bodyPr>
          <a:lstStyle/>
          <a:p>
            <a:r>
              <a:rPr lang="en-US" sz="3600" dirty="0" err="1"/>
              <a:t>Jenis</a:t>
            </a:r>
            <a:r>
              <a:rPr lang="en-US" sz="3600" dirty="0"/>
              <a:t> </a:t>
            </a:r>
            <a:r>
              <a:rPr lang="en-US" sz="3600" dirty="0" err="1"/>
              <a:t>kegiatan</a:t>
            </a:r>
            <a:r>
              <a:rPr lang="en-US" sz="3600" dirty="0"/>
              <a:t> </a:t>
            </a:r>
            <a:r>
              <a:rPr lang="en-US" sz="3600" dirty="0" err="1"/>
              <a:t>atau</a:t>
            </a:r>
            <a:r>
              <a:rPr lang="en-US" sz="3600" dirty="0"/>
              <a:t> </a:t>
            </a:r>
            <a:r>
              <a:rPr lang="en-US" sz="3600" dirty="0" err="1"/>
              <a:t>peristiwa</a:t>
            </a:r>
            <a:r>
              <a:rPr lang="en-US" sz="3600" dirty="0"/>
              <a:t> yang </a:t>
            </a:r>
            <a:r>
              <a:rPr lang="en-US" sz="3600" dirty="0" err="1"/>
              <a:t>dimanfaatkan</a:t>
            </a:r>
            <a:r>
              <a:rPr lang="en-US" sz="3600" dirty="0"/>
              <a:t> </a:t>
            </a:r>
            <a:r>
              <a:rPr lang="en-US" sz="3600" dirty="0" err="1"/>
              <a:t>untuk</a:t>
            </a:r>
            <a:r>
              <a:rPr lang="en-US" sz="3600" dirty="0"/>
              <a:t> </a:t>
            </a:r>
            <a:r>
              <a:rPr lang="en-US" sz="3600" dirty="0" err="1"/>
              <a:t>pembelajaran</a:t>
            </a:r>
            <a:r>
              <a:rPr lang="en-US" sz="3600" dirty="0"/>
              <a:t> </a:t>
            </a:r>
            <a:r>
              <a:rPr lang="en-US" sz="3600" dirty="0" err="1"/>
              <a:t>adalah</a:t>
            </a:r>
            <a:r>
              <a:rPr lang="en-US" sz="3600" dirty="0"/>
              <a:t> yang </a:t>
            </a:r>
            <a:r>
              <a:rPr lang="en-US" sz="3600" dirty="0" err="1"/>
              <a:t>terkait</a:t>
            </a:r>
            <a:r>
              <a:rPr lang="en-US" sz="3600" dirty="0"/>
              <a:t> </a:t>
            </a:r>
            <a:r>
              <a:rPr lang="en-US" sz="3600" dirty="0" err="1"/>
              <a:t>dengan</a:t>
            </a:r>
            <a:r>
              <a:rPr lang="en-US" sz="3600" dirty="0"/>
              <a:t> </a:t>
            </a:r>
            <a:r>
              <a:rPr lang="en-US" sz="3600" dirty="0" err="1"/>
              <a:t>pengembangan</a:t>
            </a:r>
            <a:r>
              <a:rPr lang="en-US" sz="3600" dirty="0"/>
              <a:t> </a:t>
            </a:r>
            <a:r>
              <a:rPr lang="en-US" sz="3600" b="1" dirty="0" err="1"/>
              <a:t>potensi</a:t>
            </a:r>
            <a:r>
              <a:rPr lang="en-US" sz="3600" b="1" dirty="0"/>
              <a:t> </a:t>
            </a:r>
            <a:r>
              <a:rPr lang="en-US" sz="3600" b="1" dirty="0" err="1"/>
              <a:t>bakat</a:t>
            </a:r>
            <a:r>
              <a:rPr lang="en-US" sz="3600" b="1" dirty="0"/>
              <a:t> </a:t>
            </a:r>
            <a:r>
              <a:rPr lang="en-US" sz="3600" dirty="0" err="1"/>
              <a:t>santri</a:t>
            </a:r>
            <a:r>
              <a:rPr lang="en-US" sz="3600" dirty="0"/>
              <a:t>.</a:t>
            </a:r>
            <a:endParaRPr lang="en-ID" sz="3600" dirty="0"/>
          </a:p>
        </p:txBody>
      </p:sp>
    </p:spTree>
    <p:extLst>
      <p:ext uri="{BB962C8B-B14F-4D97-AF65-F5344CB8AC3E}">
        <p14:creationId xmlns:p14="http://schemas.microsoft.com/office/powerpoint/2010/main" val="17324783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2A88F-185A-4748-8C6B-DB95E059EA98}"/>
              </a:ext>
            </a:extLst>
          </p:cNvPr>
          <p:cNvSpPr>
            <a:spLocks noGrp="1"/>
          </p:cNvSpPr>
          <p:nvPr>
            <p:ph type="title"/>
          </p:nvPr>
        </p:nvSpPr>
        <p:spPr>
          <a:xfrm>
            <a:off x="457200" y="2297679"/>
            <a:ext cx="8229600" cy="1143000"/>
          </a:xfrm>
        </p:spPr>
        <p:txBody>
          <a:bodyPr>
            <a:normAutofit fontScale="90000"/>
          </a:bodyPr>
          <a:lstStyle/>
          <a:p>
            <a:r>
              <a:rPr lang="en-US" dirty="0" err="1"/>
              <a:t>Jika</a:t>
            </a:r>
            <a:r>
              <a:rPr lang="en-US" dirty="0"/>
              <a:t> </a:t>
            </a:r>
            <a:r>
              <a:rPr lang="en-US" dirty="0" err="1"/>
              <a:t>santri</a:t>
            </a:r>
            <a:r>
              <a:rPr lang="en-US" dirty="0"/>
              <a:t> </a:t>
            </a:r>
            <a:r>
              <a:rPr lang="en-US" dirty="0" err="1"/>
              <a:t>melakukan</a:t>
            </a:r>
            <a:r>
              <a:rPr lang="en-US" dirty="0"/>
              <a:t> </a:t>
            </a:r>
            <a:r>
              <a:rPr lang="en-US" dirty="0" err="1"/>
              <a:t>pelanggaran</a:t>
            </a:r>
            <a:r>
              <a:rPr lang="en-US" dirty="0"/>
              <a:t>, </a:t>
            </a:r>
            <a:r>
              <a:rPr lang="en-US" dirty="0" err="1"/>
              <a:t>nasehati</a:t>
            </a:r>
            <a:r>
              <a:rPr lang="en-US" dirty="0"/>
              <a:t>!</a:t>
            </a:r>
            <a:br>
              <a:rPr lang="en-US" dirty="0"/>
            </a:br>
            <a:r>
              <a:rPr lang="en-US" dirty="0" err="1"/>
              <a:t>Jika</a:t>
            </a:r>
            <a:r>
              <a:rPr lang="en-US" dirty="0"/>
              <a:t> </a:t>
            </a:r>
            <a:r>
              <a:rPr lang="en-US" dirty="0" err="1"/>
              <a:t>masih</a:t>
            </a:r>
            <a:r>
              <a:rPr lang="en-US" dirty="0"/>
              <a:t> </a:t>
            </a:r>
            <a:r>
              <a:rPr lang="en-US" dirty="0" err="1"/>
              <a:t>melanggar</a:t>
            </a:r>
            <a:r>
              <a:rPr lang="en-US" dirty="0"/>
              <a:t> </a:t>
            </a:r>
            <a:r>
              <a:rPr lang="en-US" dirty="0" err="1"/>
              <a:t>perlu</a:t>
            </a:r>
            <a:r>
              <a:rPr lang="en-US" dirty="0"/>
              <a:t> </a:t>
            </a:r>
            <a:r>
              <a:rPr lang="en-US" dirty="0" err="1"/>
              <a:t>ditegasi</a:t>
            </a:r>
            <a:r>
              <a:rPr lang="en-US" dirty="0"/>
              <a:t> </a:t>
            </a:r>
            <a:r>
              <a:rPr lang="en-US" dirty="0" err="1"/>
              <a:t>dengan</a:t>
            </a:r>
            <a:r>
              <a:rPr lang="en-US" dirty="0"/>
              <a:t> </a:t>
            </a:r>
            <a:r>
              <a:rPr lang="en-US" dirty="0" err="1"/>
              <a:t>catatan</a:t>
            </a:r>
            <a:r>
              <a:rPr lang="en-US" dirty="0"/>
              <a:t> </a:t>
            </a:r>
            <a:r>
              <a:rPr lang="en-US" dirty="0" err="1"/>
              <a:t>fase</a:t>
            </a:r>
            <a:r>
              <a:rPr lang="en-US" dirty="0"/>
              <a:t> </a:t>
            </a:r>
            <a:r>
              <a:rPr lang="en-US" dirty="0" err="1"/>
              <a:t>sebelumnya</a:t>
            </a:r>
            <a:r>
              <a:rPr lang="en-US" dirty="0"/>
              <a:t> </a:t>
            </a:r>
            <a:r>
              <a:rPr lang="en-US" dirty="0" err="1"/>
              <a:t>sudah</a:t>
            </a:r>
            <a:r>
              <a:rPr lang="en-US" dirty="0"/>
              <a:t> </a:t>
            </a:r>
            <a:r>
              <a:rPr lang="en-US" dirty="0" err="1"/>
              <a:t>tuntas</a:t>
            </a:r>
            <a:r>
              <a:rPr lang="en-US" dirty="0"/>
              <a:t>. </a:t>
            </a:r>
            <a:r>
              <a:rPr lang="en-US" dirty="0" err="1"/>
              <a:t>Jika</a:t>
            </a:r>
            <a:r>
              <a:rPr lang="en-US" dirty="0"/>
              <a:t> </a:t>
            </a:r>
            <a:r>
              <a:rPr lang="en-US" dirty="0" err="1"/>
              <a:t>belum</a:t>
            </a:r>
            <a:r>
              <a:rPr lang="en-US" dirty="0"/>
              <a:t> </a:t>
            </a:r>
            <a:r>
              <a:rPr lang="en-US" dirty="0" err="1"/>
              <a:t>tuntas</a:t>
            </a:r>
            <a:r>
              <a:rPr lang="en-US" dirty="0"/>
              <a:t>, </a:t>
            </a:r>
            <a:r>
              <a:rPr lang="en-US" dirty="0" err="1"/>
              <a:t>maka</a:t>
            </a:r>
            <a:r>
              <a:rPr lang="en-US" dirty="0"/>
              <a:t> </a:t>
            </a:r>
            <a:r>
              <a:rPr lang="en-US" dirty="0" err="1"/>
              <a:t>perlu</a:t>
            </a:r>
            <a:r>
              <a:rPr lang="en-US" dirty="0"/>
              <a:t> </a:t>
            </a:r>
            <a:r>
              <a:rPr lang="en-US" dirty="0" err="1"/>
              <a:t>diulang</a:t>
            </a:r>
            <a:r>
              <a:rPr lang="en-US" dirty="0"/>
              <a:t> </a:t>
            </a:r>
            <a:r>
              <a:rPr lang="en-US" dirty="0" err="1"/>
              <a:t>kembali</a:t>
            </a:r>
            <a:r>
              <a:rPr lang="en-US" dirty="0"/>
              <a:t>.</a:t>
            </a:r>
            <a:endParaRPr lang="en-ID" dirty="0"/>
          </a:p>
        </p:txBody>
      </p:sp>
    </p:spTree>
    <p:extLst>
      <p:ext uri="{BB962C8B-B14F-4D97-AF65-F5344CB8AC3E}">
        <p14:creationId xmlns:p14="http://schemas.microsoft.com/office/powerpoint/2010/main" val="32689473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0" y="214290"/>
            <a:ext cx="9144000" cy="1143000"/>
          </a:xfrm>
        </p:spPr>
        <p:txBody>
          <a:bodyPr>
            <a:noAutofit/>
          </a:bodyPr>
          <a:lstStyle/>
          <a:p>
            <a:pPr marL="536575" indent="-536575"/>
            <a:r>
              <a:rPr lang="en-US" sz="3200" dirty="0"/>
              <a:t>4. </a:t>
            </a:r>
            <a:r>
              <a:rPr lang="en-US" sz="3200" dirty="0" err="1"/>
              <a:t>Pembelajaran</a:t>
            </a:r>
            <a:r>
              <a:rPr lang="en-US" sz="3200" dirty="0"/>
              <a:t> SMP – SMA (UMUM)</a:t>
            </a:r>
          </a:p>
        </p:txBody>
      </p:sp>
      <p:grpSp>
        <p:nvGrpSpPr>
          <p:cNvPr id="4" name="Group 3"/>
          <p:cNvGrpSpPr/>
          <p:nvPr/>
        </p:nvGrpSpPr>
        <p:grpSpPr>
          <a:xfrm>
            <a:off x="1142976" y="1665273"/>
            <a:ext cx="7316381" cy="4764123"/>
            <a:chOff x="1142976" y="1665273"/>
            <a:chExt cx="7316381" cy="4764123"/>
          </a:xfrm>
        </p:grpSpPr>
        <p:pic>
          <p:nvPicPr>
            <p:cNvPr id="5" name="Picture 4" descr="Gambar terkait"/>
            <p:cNvPicPr>
              <a:picLocks noChangeAspect="1" noChangeArrowheads="1"/>
            </p:cNvPicPr>
            <p:nvPr/>
          </p:nvPicPr>
          <p:blipFill>
            <a:blip r:embed="rId2"/>
            <a:srcRect/>
            <a:stretch>
              <a:fillRect/>
            </a:stretch>
          </p:blipFill>
          <p:spPr bwMode="auto">
            <a:xfrm>
              <a:off x="1142976" y="1665273"/>
              <a:ext cx="7267303" cy="4764123"/>
            </a:xfrm>
            <a:prstGeom prst="rect">
              <a:avLst/>
            </a:prstGeom>
            <a:noFill/>
          </p:spPr>
        </p:pic>
        <p:sp>
          <p:nvSpPr>
            <p:cNvPr id="6" name="TextBox 5"/>
            <p:cNvSpPr txBox="1"/>
            <p:nvPr/>
          </p:nvSpPr>
          <p:spPr>
            <a:xfrm rot="21315678">
              <a:off x="2761673" y="2560241"/>
              <a:ext cx="4591814" cy="1569660"/>
            </a:xfrm>
            <a:prstGeom prst="rect">
              <a:avLst/>
            </a:prstGeom>
            <a:noFill/>
            <a:scene3d>
              <a:camera prst="isometricOffAxis2Top">
                <a:rot lat="19500000" lon="3000000" rev="18000000"/>
              </a:camera>
              <a:lightRig rig="threePt" dir="t"/>
            </a:scene3d>
          </p:spPr>
          <p:txBody>
            <a:bodyPr wrap="square" rtlCol="0">
              <a:spAutoFit/>
            </a:bodyPr>
            <a:lstStyle/>
            <a:p>
              <a:pPr algn="ctr"/>
              <a:r>
                <a:rPr lang="en-US" sz="6000" b="1" dirty="0">
                  <a:solidFill>
                    <a:schemeClr val="bg1"/>
                  </a:solidFill>
                  <a:effectLst>
                    <a:glow rad="228600">
                      <a:schemeClr val="tx1">
                        <a:alpha val="40000"/>
                      </a:schemeClr>
                    </a:glow>
                  </a:effectLst>
                </a:rPr>
                <a:t>SMP-SMA</a:t>
              </a:r>
            </a:p>
            <a:p>
              <a:pPr algn="ctr"/>
              <a:r>
                <a:rPr lang="en-US" sz="3600" b="1" dirty="0">
                  <a:solidFill>
                    <a:schemeClr val="bg1"/>
                  </a:solidFill>
                  <a:effectLst>
                    <a:glow rad="228600">
                      <a:schemeClr val="tx1">
                        <a:alpha val="40000"/>
                      </a:schemeClr>
                    </a:glow>
                  </a:effectLst>
                </a:rPr>
                <a:t>(UMUM)</a:t>
              </a:r>
            </a:p>
          </p:txBody>
        </p:sp>
        <p:sp>
          <p:nvSpPr>
            <p:cNvPr id="7" name="TextBox 6"/>
            <p:cNvSpPr txBox="1"/>
            <p:nvPr/>
          </p:nvSpPr>
          <p:spPr>
            <a:xfrm rot="21315678">
              <a:off x="3867543" y="1898177"/>
              <a:ext cx="4591814" cy="1200329"/>
            </a:xfrm>
            <a:prstGeom prst="rect">
              <a:avLst/>
            </a:prstGeom>
            <a:noFill/>
            <a:scene3d>
              <a:camera prst="isometricOffAxis2Top">
                <a:rot lat="19200000" lon="3000000" rev="18000000"/>
              </a:camera>
              <a:lightRig rig="threePt" dir="t"/>
            </a:scene3d>
          </p:spPr>
          <p:txBody>
            <a:bodyPr wrap="square" rtlCol="0">
              <a:spAutoFit/>
            </a:bodyPr>
            <a:lstStyle/>
            <a:p>
              <a:pPr algn="ctr"/>
              <a:r>
                <a:rPr lang="en-US" sz="3600" b="1" dirty="0">
                  <a:solidFill>
                    <a:schemeClr val="bg1"/>
                  </a:solidFill>
                  <a:effectLst>
                    <a:glow rad="228600">
                      <a:schemeClr val="tx1">
                        <a:alpha val="40000"/>
                      </a:schemeClr>
                    </a:glow>
                  </a:effectLst>
                </a:rPr>
                <a:t>LEMBAR PEMBELAJARAN</a:t>
              </a:r>
              <a:endParaRPr lang="en-US" sz="2800" b="1" dirty="0">
                <a:solidFill>
                  <a:schemeClr val="bg1"/>
                </a:solidFill>
                <a:effectLst>
                  <a:glow rad="228600">
                    <a:schemeClr val="tx1">
                      <a:alpha val="40000"/>
                    </a:schemeClr>
                  </a:glow>
                </a:effectLst>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 name="Rectangle 5"/>
          <p:cNvSpPr/>
          <p:nvPr/>
        </p:nvSpPr>
        <p:spPr>
          <a:xfrm>
            <a:off x="1428728" y="725647"/>
            <a:ext cx="7715304" cy="5909310"/>
          </a:xfrm>
          <a:prstGeom prst="rect">
            <a:avLst/>
          </a:prstGeom>
        </p:spPr>
        <p:txBody>
          <a:bodyPr wrap="square">
            <a:spAutoFit/>
          </a:bodyPr>
          <a:lstStyle/>
          <a:p>
            <a:pPr marL="266700" indent="-266700" defTabSz="0"/>
            <a:r>
              <a:rPr lang="en-US" dirty="0">
                <a:solidFill>
                  <a:schemeClr val="bg1"/>
                </a:solidFill>
                <a:ea typeface="Times New Roman" pitchFamily="18" charset="0"/>
                <a:cs typeface="Traditional Arabic" pitchFamily="2" charset="-78"/>
              </a:rPr>
              <a:t>KONDISI ANAK:</a:t>
            </a:r>
            <a:endParaRPr lang="id-ID" dirty="0">
              <a:solidFill>
                <a:schemeClr val="bg1"/>
              </a:solidFill>
              <a:ea typeface="Times New Roman" pitchFamily="18" charset="0"/>
              <a:cs typeface="Traditional Arabic" pitchFamily="2" charset="-78"/>
            </a:endParaRPr>
          </a:p>
          <a:p>
            <a:pPr>
              <a:buFont typeface="Wingdings" pitchFamily="2" charset="2"/>
              <a:buChar char="ü"/>
            </a:pPr>
            <a:r>
              <a:rPr lang="id-ID" dirty="0">
                <a:solidFill>
                  <a:srgbClr val="FFFF00"/>
                </a:solidFill>
              </a:rPr>
              <a:t>Penumbuhan karakter belum tuntas, santri condong:</a:t>
            </a:r>
          </a:p>
          <a:p>
            <a:pPr marL="531813" indent="-258763">
              <a:buFont typeface="Calibri" pitchFamily="34" charset="0"/>
              <a:buChar char="–"/>
            </a:pPr>
            <a:r>
              <a:rPr lang="en-US" dirty="0" err="1">
                <a:solidFill>
                  <a:srgbClr val="FFFF00"/>
                </a:solidFill>
              </a:rPr>
              <a:t>Fokus</a:t>
            </a:r>
            <a:r>
              <a:rPr lang="en-US" dirty="0">
                <a:solidFill>
                  <a:srgbClr val="FFFF00"/>
                </a:solidFill>
              </a:rPr>
              <a:t> </a:t>
            </a:r>
            <a:r>
              <a:rPr lang="en-US" dirty="0" err="1">
                <a:solidFill>
                  <a:srgbClr val="FFFF00"/>
                </a:solidFill>
              </a:rPr>
              <a:t>pada</a:t>
            </a:r>
            <a:r>
              <a:rPr lang="en-US" dirty="0">
                <a:solidFill>
                  <a:srgbClr val="FFFF00"/>
                </a:solidFill>
              </a:rPr>
              <a:t> </a:t>
            </a:r>
            <a:r>
              <a:rPr lang="en-US" dirty="0" err="1">
                <a:solidFill>
                  <a:srgbClr val="FFFF00"/>
                </a:solidFill>
              </a:rPr>
              <a:t>bidang</a:t>
            </a:r>
            <a:r>
              <a:rPr lang="en-US" dirty="0">
                <a:solidFill>
                  <a:srgbClr val="FFFF00"/>
                </a:solidFill>
              </a:rPr>
              <a:t> </a:t>
            </a:r>
            <a:r>
              <a:rPr lang="en-US" dirty="0" err="1">
                <a:solidFill>
                  <a:srgbClr val="FFFF00"/>
                </a:solidFill>
              </a:rPr>
              <a:t>tertentu</a:t>
            </a:r>
            <a:endParaRPr lang="en-US" dirty="0">
              <a:solidFill>
                <a:srgbClr val="FFFF00"/>
              </a:solidFill>
            </a:endParaRPr>
          </a:p>
          <a:p>
            <a:pPr marL="531813" indent="-258763">
              <a:buFont typeface="Calibri" pitchFamily="34" charset="0"/>
              <a:buChar char="–"/>
            </a:pPr>
            <a:r>
              <a:rPr lang="en-US" dirty="0" err="1">
                <a:solidFill>
                  <a:srgbClr val="FFFF00"/>
                </a:solidFill>
              </a:rPr>
              <a:t>Senang</a:t>
            </a:r>
            <a:r>
              <a:rPr lang="en-US" dirty="0">
                <a:solidFill>
                  <a:srgbClr val="FFFF00"/>
                </a:solidFill>
              </a:rPr>
              <a:t> </a:t>
            </a:r>
            <a:r>
              <a:rPr lang="en-US" dirty="0" err="1">
                <a:solidFill>
                  <a:srgbClr val="FFFF00"/>
                </a:solidFill>
              </a:rPr>
              <a:t>berkarya</a:t>
            </a:r>
            <a:r>
              <a:rPr lang="en-US" dirty="0">
                <a:solidFill>
                  <a:srgbClr val="FFFF00"/>
                </a:solidFill>
              </a:rPr>
              <a:t> </a:t>
            </a:r>
          </a:p>
          <a:p>
            <a:pPr marL="531813" indent="-258763">
              <a:buFont typeface="Calibri" pitchFamily="34" charset="0"/>
              <a:buChar char="–"/>
            </a:pPr>
            <a:r>
              <a:rPr lang="en-US" dirty="0" err="1">
                <a:solidFill>
                  <a:srgbClr val="FFFF00"/>
                </a:solidFill>
              </a:rPr>
              <a:t>Mulai</a:t>
            </a:r>
            <a:r>
              <a:rPr lang="en-US" dirty="0">
                <a:solidFill>
                  <a:srgbClr val="FFFF00"/>
                </a:solidFill>
              </a:rPr>
              <a:t> </a:t>
            </a:r>
            <a:r>
              <a:rPr lang="en-US" dirty="0" err="1">
                <a:solidFill>
                  <a:srgbClr val="FFFF00"/>
                </a:solidFill>
              </a:rPr>
              <a:t>mandiri</a:t>
            </a:r>
            <a:r>
              <a:rPr lang="en-US" dirty="0">
                <a:solidFill>
                  <a:srgbClr val="FFFF00"/>
                </a:solidFill>
              </a:rPr>
              <a:t>  </a:t>
            </a:r>
          </a:p>
          <a:p>
            <a:pPr marL="449263" lvl="0" indent="-449263"/>
            <a:endParaRPr lang="en-US" i="1" dirty="0">
              <a:solidFill>
                <a:srgbClr val="FFFF00"/>
              </a:solidFill>
            </a:endParaRPr>
          </a:p>
          <a:p>
            <a:pPr marL="449263" lvl="0" indent="-449263"/>
            <a:r>
              <a:rPr lang="en-US" dirty="0">
                <a:solidFill>
                  <a:schemeClr val="bg1"/>
                </a:solidFill>
              </a:rPr>
              <a:t>DASAR PEMBELAJARAN:</a:t>
            </a:r>
          </a:p>
          <a:p>
            <a:pPr>
              <a:buFont typeface="Wingdings" pitchFamily="2" charset="2"/>
              <a:buChar char="ü"/>
            </a:pPr>
            <a:r>
              <a:rPr lang="id-ID" i="1" dirty="0">
                <a:solidFill>
                  <a:srgbClr val="FFFF00"/>
                </a:solidFill>
              </a:rPr>
              <a:t>Recovery, </a:t>
            </a:r>
            <a:r>
              <a:rPr lang="id-ID" dirty="0">
                <a:solidFill>
                  <a:srgbClr val="FFFF00"/>
                </a:solidFill>
              </a:rPr>
              <a:t>setelah </a:t>
            </a:r>
            <a:r>
              <a:rPr lang="id-ID" i="1" dirty="0">
                <a:solidFill>
                  <a:srgbClr val="FFFF00"/>
                </a:solidFill>
              </a:rPr>
              <a:t>recovery </a:t>
            </a:r>
            <a:r>
              <a:rPr lang="id-ID" dirty="0">
                <a:solidFill>
                  <a:srgbClr val="FFFF00"/>
                </a:solidFill>
              </a:rPr>
              <a:t>tuntas:</a:t>
            </a:r>
            <a:endParaRPr lang="id-ID" i="1" dirty="0">
              <a:solidFill>
                <a:srgbClr val="FFFF00"/>
              </a:solidFill>
            </a:endParaRPr>
          </a:p>
          <a:p>
            <a:pPr marL="531813" indent="-258763">
              <a:buFont typeface="Calibri" pitchFamily="34" charset="0"/>
              <a:buChar char="–"/>
            </a:pPr>
            <a:r>
              <a:rPr lang="en-US" dirty="0" err="1">
                <a:solidFill>
                  <a:srgbClr val="FFFF00"/>
                </a:solidFill>
              </a:rPr>
              <a:t>Pembelajaran</a:t>
            </a:r>
            <a:r>
              <a:rPr lang="en-US" dirty="0">
                <a:solidFill>
                  <a:srgbClr val="FFFF00"/>
                </a:solidFill>
              </a:rPr>
              <a:t> </a:t>
            </a:r>
            <a:r>
              <a:rPr lang="en-US" dirty="0" err="1">
                <a:solidFill>
                  <a:srgbClr val="FFFF00"/>
                </a:solidFill>
              </a:rPr>
              <a:t>dengan</a:t>
            </a:r>
            <a:r>
              <a:rPr lang="en-US" dirty="0">
                <a:solidFill>
                  <a:srgbClr val="FFFF00"/>
                </a:solidFill>
              </a:rPr>
              <a:t> </a:t>
            </a:r>
            <a:r>
              <a:rPr lang="en-US" dirty="0" err="1">
                <a:solidFill>
                  <a:srgbClr val="FFFF00"/>
                </a:solidFill>
              </a:rPr>
              <a:t>pendisiplinan</a:t>
            </a:r>
            <a:r>
              <a:rPr lang="en-US" dirty="0">
                <a:solidFill>
                  <a:srgbClr val="FFFF00"/>
                </a:solidFill>
              </a:rPr>
              <a:t> </a:t>
            </a:r>
            <a:r>
              <a:rPr lang="en-US" dirty="0" err="1">
                <a:solidFill>
                  <a:srgbClr val="FFFF00"/>
                </a:solidFill>
              </a:rPr>
              <a:t>dan</a:t>
            </a:r>
            <a:r>
              <a:rPr lang="en-US" dirty="0">
                <a:solidFill>
                  <a:srgbClr val="FFFF00"/>
                </a:solidFill>
              </a:rPr>
              <a:t> </a:t>
            </a:r>
            <a:r>
              <a:rPr lang="en-US" dirty="0" err="1">
                <a:solidFill>
                  <a:srgbClr val="FFFF00"/>
                </a:solidFill>
              </a:rPr>
              <a:t>tanggung</a:t>
            </a:r>
            <a:r>
              <a:rPr lang="en-US" dirty="0">
                <a:solidFill>
                  <a:srgbClr val="FFFF00"/>
                </a:solidFill>
              </a:rPr>
              <a:t> </a:t>
            </a:r>
            <a:r>
              <a:rPr lang="en-US" dirty="0" err="1">
                <a:solidFill>
                  <a:srgbClr val="FFFF00"/>
                </a:solidFill>
              </a:rPr>
              <a:t>jawab</a:t>
            </a:r>
            <a:endParaRPr lang="en-US" dirty="0">
              <a:solidFill>
                <a:srgbClr val="FFFF00"/>
              </a:solidFill>
            </a:endParaRPr>
          </a:p>
          <a:p>
            <a:pPr marL="531813" indent="-258763">
              <a:buFont typeface="Calibri" pitchFamily="34" charset="0"/>
              <a:buChar char="–"/>
            </a:pPr>
            <a:r>
              <a:rPr lang="en-US" dirty="0" err="1">
                <a:solidFill>
                  <a:srgbClr val="FFFF00"/>
                </a:solidFill>
              </a:rPr>
              <a:t>Menjuruskan</a:t>
            </a:r>
            <a:r>
              <a:rPr lang="en-US" dirty="0">
                <a:solidFill>
                  <a:srgbClr val="FFFF00"/>
                </a:solidFill>
              </a:rPr>
              <a:t> </a:t>
            </a:r>
            <a:r>
              <a:rPr lang="en-US" dirty="0" err="1">
                <a:solidFill>
                  <a:srgbClr val="FFFF00"/>
                </a:solidFill>
              </a:rPr>
              <a:t>pada</a:t>
            </a:r>
            <a:r>
              <a:rPr lang="en-US" dirty="0">
                <a:solidFill>
                  <a:srgbClr val="FFFF00"/>
                </a:solidFill>
              </a:rPr>
              <a:t> </a:t>
            </a:r>
            <a:r>
              <a:rPr lang="en-US" dirty="0" err="1">
                <a:solidFill>
                  <a:srgbClr val="FFFF00"/>
                </a:solidFill>
              </a:rPr>
              <a:t>potensi</a:t>
            </a:r>
            <a:r>
              <a:rPr lang="en-US" dirty="0">
                <a:solidFill>
                  <a:srgbClr val="FFFF00"/>
                </a:solidFill>
              </a:rPr>
              <a:t> </a:t>
            </a:r>
            <a:r>
              <a:rPr lang="en-US" dirty="0" err="1">
                <a:solidFill>
                  <a:srgbClr val="FFFF00"/>
                </a:solidFill>
              </a:rPr>
              <a:t>uniknya</a:t>
            </a:r>
            <a:endParaRPr lang="en-US" dirty="0">
              <a:solidFill>
                <a:srgbClr val="FFFF00"/>
              </a:solidFill>
            </a:endParaRPr>
          </a:p>
          <a:p>
            <a:pPr marL="531813" indent="-258763">
              <a:buFont typeface="Calibri" pitchFamily="34" charset="0"/>
              <a:buChar char="–"/>
            </a:pPr>
            <a:r>
              <a:rPr lang="en-US" dirty="0" err="1">
                <a:solidFill>
                  <a:srgbClr val="FFFF00"/>
                </a:solidFill>
              </a:rPr>
              <a:t>Memagangkan</a:t>
            </a:r>
            <a:r>
              <a:rPr lang="en-US" dirty="0">
                <a:solidFill>
                  <a:srgbClr val="FFFF00"/>
                </a:solidFill>
              </a:rPr>
              <a:t> </a:t>
            </a:r>
            <a:r>
              <a:rPr lang="en-US" dirty="0" err="1">
                <a:solidFill>
                  <a:srgbClr val="FFFF00"/>
                </a:solidFill>
              </a:rPr>
              <a:t>pada</a:t>
            </a:r>
            <a:r>
              <a:rPr lang="en-US" dirty="0">
                <a:solidFill>
                  <a:srgbClr val="FFFF00"/>
                </a:solidFill>
              </a:rPr>
              <a:t> </a:t>
            </a:r>
            <a:r>
              <a:rPr lang="en-US" dirty="0" err="1">
                <a:solidFill>
                  <a:srgbClr val="FFFF00"/>
                </a:solidFill>
              </a:rPr>
              <a:t>bidang</a:t>
            </a:r>
            <a:r>
              <a:rPr lang="en-US" dirty="0">
                <a:solidFill>
                  <a:srgbClr val="FFFF00"/>
                </a:solidFill>
              </a:rPr>
              <a:t> </a:t>
            </a:r>
            <a:r>
              <a:rPr lang="en-US" dirty="0" err="1">
                <a:solidFill>
                  <a:srgbClr val="FFFF00"/>
                </a:solidFill>
              </a:rPr>
              <a:t>bakatnya</a:t>
            </a:r>
            <a:endParaRPr lang="en-US" dirty="0">
              <a:solidFill>
                <a:srgbClr val="FFFF00"/>
              </a:solidFill>
            </a:endParaRPr>
          </a:p>
          <a:p>
            <a:pPr marL="449263" lvl="0" indent="-449263">
              <a:buFont typeface="Wingdings" pitchFamily="2" charset="2"/>
              <a:buChar char="ü"/>
            </a:pPr>
            <a:endParaRPr lang="en-US" dirty="0">
              <a:solidFill>
                <a:srgbClr val="FFFF00"/>
              </a:solidFill>
            </a:endParaRPr>
          </a:p>
          <a:p>
            <a:r>
              <a:rPr lang="en-US" dirty="0">
                <a:solidFill>
                  <a:schemeClr val="bg1"/>
                </a:solidFill>
              </a:rPr>
              <a:t>CARA BELAJAR ANAK:</a:t>
            </a:r>
          </a:p>
          <a:p>
            <a:pPr>
              <a:buFont typeface="Wingdings" pitchFamily="2" charset="2"/>
              <a:buChar char="ü"/>
            </a:pPr>
            <a:r>
              <a:rPr lang="en-US" dirty="0" err="1">
                <a:solidFill>
                  <a:srgbClr val="FFFF00"/>
                </a:solidFill>
              </a:rPr>
              <a:t>Berpikir</a:t>
            </a:r>
            <a:endParaRPr lang="en-US" dirty="0">
              <a:solidFill>
                <a:srgbClr val="FFFF00"/>
              </a:solidFill>
            </a:endParaRPr>
          </a:p>
          <a:p>
            <a:endParaRPr lang="en-US" dirty="0">
              <a:solidFill>
                <a:srgbClr val="FFFF00"/>
              </a:solidFill>
            </a:endParaRPr>
          </a:p>
          <a:p>
            <a:pPr marL="449263" lvl="0" indent="-449263"/>
            <a:r>
              <a:rPr lang="en-US" dirty="0">
                <a:solidFill>
                  <a:schemeClr val="bg1"/>
                </a:solidFill>
              </a:rPr>
              <a:t>CARA PEMBELAJARAN:</a:t>
            </a:r>
          </a:p>
          <a:p>
            <a:pPr>
              <a:buFont typeface="Wingdings" pitchFamily="2" charset="2"/>
              <a:buChar char="ü"/>
            </a:pPr>
            <a:r>
              <a:rPr lang="id-ID" dirty="0">
                <a:solidFill>
                  <a:srgbClr val="FFFF00"/>
                </a:solidFill>
              </a:rPr>
              <a:t>EMISOL (Empati, Imajinasi, Solusi),  setelah tuntas:</a:t>
            </a:r>
          </a:p>
          <a:p>
            <a:pPr marL="531813" indent="-258763">
              <a:buFont typeface="Calibri" pitchFamily="34" charset="0"/>
              <a:buChar char="–"/>
            </a:pPr>
            <a:r>
              <a:rPr lang="en-US" dirty="0" err="1">
                <a:solidFill>
                  <a:srgbClr val="FFFF00"/>
                </a:solidFill>
              </a:rPr>
              <a:t>Penerapan</a:t>
            </a:r>
            <a:r>
              <a:rPr lang="en-US" dirty="0">
                <a:solidFill>
                  <a:srgbClr val="FFFF00"/>
                </a:solidFill>
              </a:rPr>
              <a:t> </a:t>
            </a:r>
            <a:r>
              <a:rPr lang="en-US" i="1" dirty="0">
                <a:solidFill>
                  <a:srgbClr val="FFFF00"/>
                </a:solidFill>
              </a:rPr>
              <a:t>reward and punishment</a:t>
            </a:r>
          </a:p>
          <a:p>
            <a:pPr marL="531813" indent="-258763">
              <a:buFont typeface="Calibri" pitchFamily="34" charset="0"/>
              <a:buChar char="–"/>
            </a:pPr>
            <a:r>
              <a:rPr lang="en-US" dirty="0" err="1">
                <a:solidFill>
                  <a:srgbClr val="FFFF00"/>
                </a:solidFill>
              </a:rPr>
              <a:t>Pembelajaran</a:t>
            </a:r>
            <a:r>
              <a:rPr lang="en-US" dirty="0">
                <a:solidFill>
                  <a:srgbClr val="FFFF00"/>
                </a:solidFill>
              </a:rPr>
              <a:t> </a:t>
            </a:r>
            <a:r>
              <a:rPr lang="en-US" dirty="0" err="1">
                <a:solidFill>
                  <a:srgbClr val="FFFF00"/>
                </a:solidFill>
              </a:rPr>
              <a:t>berbasis</a:t>
            </a:r>
            <a:r>
              <a:rPr lang="en-US" dirty="0">
                <a:solidFill>
                  <a:srgbClr val="FFFF00"/>
                </a:solidFill>
              </a:rPr>
              <a:t> </a:t>
            </a:r>
            <a:r>
              <a:rPr lang="en-US" dirty="0" err="1">
                <a:solidFill>
                  <a:srgbClr val="FFFF00"/>
                </a:solidFill>
              </a:rPr>
              <a:t>proyek</a:t>
            </a:r>
            <a:r>
              <a:rPr lang="en-US" dirty="0">
                <a:solidFill>
                  <a:srgbClr val="FFFF00"/>
                </a:solidFill>
              </a:rPr>
              <a:t> (project based learning)</a:t>
            </a:r>
          </a:p>
          <a:p>
            <a:pPr marL="531813" indent="-258763">
              <a:buFont typeface="Calibri" pitchFamily="34" charset="0"/>
              <a:buChar char="–"/>
            </a:pPr>
            <a:r>
              <a:rPr lang="en-US" dirty="0" err="1">
                <a:solidFill>
                  <a:srgbClr val="FFFF00"/>
                </a:solidFill>
              </a:rPr>
              <a:t>Memagangkan</a:t>
            </a:r>
            <a:r>
              <a:rPr lang="en-US" dirty="0">
                <a:solidFill>
                  <a:srgbClr val="FFFF00"/>
                </a:solidFill>
              </a:rPr>
              <a:t> </a:t>
            </a:r>
            <a:r>
              <a:rPr lang="en-US" dirty="0" err="1">
                <a:solidFill>
                  <a:srgbClr val="FFFF00"/>
                </a:solidFill>
              </a:rPr>
              <a:t>pada</a:t>
            </a:r>
            <a:r>
              <a:rPr lang="en-US" dirty="0">
                <a:solidFill>
                  <a:srgbClr val="FFFF00"/>
                </a:solidFill>
              </a:rPr>
              <a:t> </a:t>
            </a:r>
            <a:r>
              <a:rPr lang="en-US" dirty="0" err="1">
                <a:solidFill>
                  <a:srgbClr val="FFFF00"/>
                </a:solidFill>
              </a:rPr>
              <a:t>lembaga</a:t>
            </a:r>
            <a:r>
              <a:rPr lang="en-US" dirty="0">
                <a:solidFill>
                  <a:srgbClr val="FFFF00"/>
                </a:solidFill>
              </a:rPr>
              <a:t>/</a:t>
            </a:r>
            <a:r>
              <a:rPr lang="en-US" dirty="0" err="1">
                <a:solidFill>
                  <a:srgbClr val="FFFF00"/>
                </a:solidFill>
              </a:rPr>
              <a:t>dunia</a:t>
            </a:r>
            <a:r>
              <a:rPr lang="en-US" dirty="0">
                <a:solidFill>
                  <a:srgbClr val="FFFF00"/>
                </a:solidFill>
              </a:rPr>
              <a:t> </a:t>
            </a:r>
            <a:r>
              <a:rPr lang="en-US" dirty="0" err="1">
                <a:solidFill>
                  <a:srgbClr val="FFFF00"/>
                </a:solidFill>
              </a:rPr>
              <a:t>usaha</a:t>
            </a:r>
            <a:r>
              <a:rPr lang="en-US" dirty="0">
                <a:solidFill>
                  <a:srgbClr val="FFFF00"/>
                </a:solidFill>
              </a:rPr>
              <a:t>/</a:t>
            </a:r>
            <a:r>
              <a:rPr lang="en-US" dirty="0" err="1">
                <a:solidFill>
                  <a:srgbClr val="FFFF00"/>
                </a:solidFill>
              </a:rPr>
              <a:t>industri</a:t>
            </a:r>
            <a:endParaRPr lang="en-US" dirty="0">
              <a:solidFill>
                <a:srgbClr val="FFFF00"/>
              </a:solidFill>
            </a:endParaRPr>
          </a:p>
          <a:p>
            <a:pPr>
              <a:buFont typeface="Wingdings" pitchFamily="2" charset="2"/>
              <a:buChar char="ü"/>
            </a:pPr>
            <a:endParaRPr lang="en-US" dirty="0">
              <a:solidFill>
                <a:srgbClr val="FFFF00"/>
              </a:solidFill>
            </a:endParaRPr>
          </a:p>
        </p:txBody>
      </p:sp>
      <p:sp>
        <p:nvSpPr>
          <p:cNvPr id="4" name="TextBox 3"/>
          <p:cNvSpPr txBox="1"/>
          <p:nvPr/>
        </p:nvSpPr>
        <p:spPr>
          <a:xfrm>
            <a:off x="5786478" y="-24"/>
            <a:ext cx="3357554" cy="461665"/>
          </a:xfrm>
          <a:prstGeom prst="rect">
            <a:avLst/>
          </a:prstGeom>
          <a:solidFill>
            <a:srgbClr val="00B050"/>
          </a:solidFill>
        </p:spPr>
        <p:txBody>
          <a:bodyPr wrap="square" rtlCol="0">
            <a:spAutoFit/>
          </a:bodyPr>
          <a:lstStyle/>
          <a:p>
            <a:pPr algn="ctr"/>
            <a:r>
              <a:rPr lang="en-US" sz="2400" dirty="0">
                <a:solidFill>
                  <a:schemeClr val="bg1"/>
                </a:solidFill>
              </a:rPr>
              <a:t>SMP</a:t>
            </a:r>
            <a:r>
              <a:rPr lang="id-ID" sz="2400" dirty="0">
                <a:solidFill>
                  <a:schemeClr val="bg1"/>
                </a:solidFill>
              </a:rPr>
              <a:t> (umum)</a:t>
            </a:r>
            <a:r>
              <a:rPr lang="en-US" sz="2400" dirty="0">
                <a:solidFill>
                  <a:schemeClr val="bg1"/>
                </a:solidFill>
              </a:rPr>
              <a:t> </a:t>
            </a:r>
          </a:p>
        </p:txBody>
      </p:sp>
      <p:sp>
        <p:nvSpPr>
          <p:cNvPr id="7" name="TextBox 6"/>
          <p:cNvSpPr txBox="1"/>
          <p:nvPr/>
        </p:nvSpPr>
        <p:spPr>
          <a:xfrm>
            <a:off x="785786" y="785794"/>
            <a:ext cx="513410" cy="5643602"/>
          </a:xfrm>
          <a:prstGeom prst="rect">
            <a:avLst/>
          </a:prstGeom>
          <a:solidFill>
            <a:srgbClr val="FFFF00"/>
          </a:solidFill>
        </p:spPr>
        <p:txBody>
          <a:bodyPr vert="wordArtVert" wrap="square" rtlCol="0">
            <a:spAutoFit/>
          </a:bodyPr>
          <a:lstStyle/>
          <a:p>
            <a:pPr algn="ctr"/>
            <a:r>
              <a:rPr lang="en-US" b="1" dirty="0"/>
              <a:t>PENDIDIKAN BAKAT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Effect transition="in" filter="fade">
                                      <p:cBhvr>
                                        <p:cTn id="14" dur="1000"/>
                                        <p:tgtEl>
                                          <p:spTgt spid="6">
                                            <p:txEl>
                                              <p:pRg st="1" end="1"/>
                                            </p:txEl>
                                          </p:spTgt>
                                        </p:tgtEl>
                                      </p:cBhvr>
                                    </p:animEffect>
                                    <p:anim calcmode="lin" valueType="num">
                                      <p:cBhvr>
                                        <p:cTn id="15"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Effect transition="in" filter="fade">
                                      <p:cBhvr>
                                        <p:cTn id="21" dur="1000"/>
                                        <p:tgtEl>
                                          <p:spTgt spid="6">
                                            <p:txEl>
                                              <p:pRg st="2" end="2"/>
                                            </p:txEl>
                                          </p:spTgt>
                                        </p:tgtEl>
                                      </p:cBhvr>
                                    </p:animEffect>
                                    <p:anim calcmode="lin" valueType="num">
                                      <p:cBhvr>
                                        <p:cTn id="22"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xEl>
                                              <p:pRg st="3" end="3"/>
                                            </p:txEl>
                                          </p:spTgt>
                                        </p:tgtEl>
                                        <p:attrNameLst>
                                          <p:attrName>style.visibility</p:attrName>
                                        </p:attrNameLst>
                                      </p:cBhvr>
                                      <p:to>
                                        <p:strVal val="visible"/>
                                      </p:to>
                                    </p:set>
                                    <p:animEffect transition="in" filter="fade">
                                      <p:cBhvr>
                                        <p:cTn id="28" dur="1000"/>
                                        <p:tgtEl>
                                          <p:spTgt spid="6">
                                            <p:txEl>
                                              <p:pRg st="3" end="3"/>
                                            </p:txEl>
                                          </p:spTgt>
                                        </p:tgtEl>
                                      </p:cBhvr>
                                    </p:animEffect>
                                    <p:anim calcmode="lin" valueType="num">
                                      <p:cBhvr>
                                        <p:cTn id="29"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6">
                                            <p:txEl>
                                              <p:pRg st="4" end="4"/>
                                            </p:txEl>
                                          </p:spTgt>
                                        </p:tgtEl>
                                        <p:attrNameLst>
                                          <p:attrName>style.visibility</p:attrName>
                                        </p:attrNameLst>
                                      </p:cBhvr>
                                      <p:to>
                                        <p:strVal val="visible"/>
                                      </p:to>
                                    </p:set>
                                    <p:animEffect transition="in" filter="fade">
                                      <p:cBhvr>
                                        <p:cTn id="35" dur="1000"/>
                                        <p:tgtEl>
                                          <p:spTgt spid="6">
                                            <p:txEl>
                                              <p:pRg st="4" end="4"/>
                                            </p:txEl>
                                          </p:spTgt>
                                        </p:tgtEl>
                                      </p:cBhvr>
                                    </p:animEffect>
                                    <p:anim calcmode="lin" valueType="num">
                                      <p:cBhvr>
                                        <p:cTn id="36"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6">
                                            <p:txEl>
                                              <p:pRg st="6" end="6"/>
                                            </p:txEl>
                                          </p:spTgt>
                                        </p:tgtEl>
                                        <p:attrNameLst>
                                          <p:attrName>style.visibility</p:attrName>
                                        </p:attrNameLst>
                                      </p:cBhvr>
                                      <p:to>
                                        <p:strVal val="visible"/>
                                      </p:to>
                                    </p:set>
                                    <p:animEffect transition="in" filter="fade">
                                      <p:cBhvr>
                                        <p:cTn id="42" dur="1000"/>
                                        <p:tgtEl>
                                          <p:spTgt spid="6">
                                            <p:txEl>
                                              <p:pRg st="6" end="6"/>
                                            </p:txEl>
                                          </p:spTgt>
                                        </p:tgtEl>
                                      </p:cBhvr>
                                    </p:animEffect>
                                    <p:anim calcmode="lin" valueType="num">
                                      <p:cBhvr>
                                        <p:cTn id="43"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6">
                                            <p:txEl>
                                              <p:pRg st="7" end="7"/>
                                            </p:txEl>
                                          </p:spTgt>
                                        </p:tgtEl>
                                        <p:attrNameLst>
                                          <p:attrName>style.visibility</p:attrName>
                                        </p:attrNameLst>
                                      </p:cBhvr>
                                      <p:to>
                                        <p:strVal val="visible"/>
                                      </p:to>
                                    </p:set>
                                    <p:animEffect transition="in" filter="fade">
                                      <p:cBhvr>
                                        <p:cTn id="49" dur="1000"/>
                                        <p:tgtEl>
                                          <p:spTgt spid="6">
                                            <p:txEl>
                                              <p:pRg st="7" end="7"/>
                                            </p:txEl>
                                          </p:spTgt>
                                        </p:tgtEl>
                                      </p:cBhvr>
                                    </p:animEffect>
                                    <p:anim calcmode="lin" valueType="num">
                                      <p:cBhvr>
                                        <p:cTn id="50"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6">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6">
                                            <p:txEl>
                                              <p:pRg st="8" end="8"/>
                                            </p:txEl>
                                          </p:spTgt>
                                        </p:tgtEl>
                                        <p:attrNameLst>
                                          <p:attrName>style.visibility</p:attrName>
                                        </p:attrNameLst>
                                      </p:cBhvr>
                                      <p:to>
                                        <p:strVal val="visible"/>
                                      </p:to>
                                    </p:set>
                                    <p:animEffect transition="in" filter="fade">
                                      <p:cBhvr>
                                        <p:cTn id="56" dur="1000"/>
                                        <p:tgtEl>
                                          <p:spTgt spid="6">
                                            <p:txEl>
                                              <p:pRg st="8" end="8"/>
                                            </p:txEl>
                                          </p:spTgt>
                                        </p:tgtEl>
                                      </p:cBhvr>
                                    </p:animEffect>
                                    <p:anim calcmode="lin" valueType="num">
                                      <p:cBhvr>
                                        <p:cTn id="57"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58"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6">
                                            <p:txEl>
                                              <p:pRg st="9" end="9"/>
                                            </p:txEl>
                                          </p:spTgt>
                                        </p:tgtEl>
                                        <p:attrNameLst>
                                          <p:attrName>style.visibility</p:attrName>
                                        </p:attrNameLst>
                                      </p:cBhvr>
                                      <p:to>
                                        <p:strVal val="visible"/>
                                      </p:to>
                                    </p:set>
                                    <p:animEffect transition="in" filter="fade">
                                      <p:cBhvr>
                                        <p:cTn id="63" dur="1000"/>
                                        <p:tgtEl>
                                          <p:spTgt spid="6">
                                            <p:txEl>
                                              <p:pRg st="9" end="9"/>
                                            </p:txEl>
                                          </p:spTgt>
                                        </p:tgtEl>
                                      </p:cBhvr>
                                    </p:animEffect>
                                    <p:anim calcmode="lin" valueType="num">
                                      <p:cBhvr>
                                        <p:cTn id="64" dur="1000" fill="hold"/>
                                        <p:tgtEl>
                                          <p:spTgt spid="6">
                                            <p:txEl>
                                              <p:pRg st="9" end="9"/>
                                            </p:txEl>
                                          </p:spTgt>
                                        </p:tgtEl>
                                        <p:attrNameLst>
                                          <p:attrName>ppt_x</p:attrName>
                                        </p:attrNameLst>
                                      </p:cBhvr>
                                      <p:tavLst>
                                        <p:tav tm="0">
                                          <p:val>
                                            <p:strVal val="#ppt_x"/>
                                          </p:val>
                                        </p:tav>
                                        <p:tav tm="100000">
                                          <p:val>
                                            <p:strVal val="#ppt_x"/>
                                          </p:val>
                                        </p:tav>
                                      </p:tavLst>
                                    </p:anim>
                                    <p:anim calcmode="lin" valueType="num">
                                      <p:cBhvr>
                                        <p:cTn id="65" dur="1000" fill="hold"/>
                                        <p:tgtEl>
                                          <p:spTgt spid="6">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6">
                                            <p:txEl>
                                              <p:pRg st="10" end="10"/>
                                            </p:txEl>
                                          </p:spTgt>
                                        </p:tgtEl>
                                        <p:attrNameLst>
                                          <p:attrName>style.visibility</p:attrName>
                                        </p:attrNameLst>
                                      </p:cBhvr>
                                      <p:to>
                                        <p:strVal val="visible"/>
                                      </p:to>
                                    </p:set>
                                    <p:animEffect transition="in" filter="fade">
                                      <p:cBhvr>
                                        <p:cTn id="70" dur="1000"/>
                                        <p:tgtEl>
                                          <p:spTgt spid="6">
                                            <p:txEl>
                                              <p:pRg st="10" end="10"/>
                                            </p:txEl>
                                          </p:spTgt>
                                        </p:tgtEl>
                                      </p:cBhvr>
                                    </p:animEffect>
                                    <p:anim calcmode="lin" valueType="num">
                                      <p:cBhvr>
                                        <p:cTn id="71" dur="1000" fill="hold"/>
                                        <p:tgtEl>
                                          <p:spTgt spid="6">
                                            <p:txEl>
                                              <p:pRg st="10" end="10"/>
                                            </p:txEl>
                                          </p:spTgt>
                                        </p:tgtEl>
                                        <p:attrNameLst>
                                          <p:attrName>ppt_x</p:attrName>
                                        </p:attrNameLst>
                                      </p:cBhvr>
                                      <p:tavLst>
                                        <p:tav tm="0">
                                          <p:val>
                                            <p:strVal val="#ppt_x"/>
                                          </p:val>
                                        </p:tav>
                                        <p:tav tm="100000">
                                          <p:val>
                                            <p:strVal val="#ppt_x"/>
                                          </p:val>
                                        </p:tav>
                                      </p:tavLst>
                                    </p:anim>
                                    <p:anim calcmode="lin" valueType="num">
                                      <p:cBhvr>
                                        <p:cTn id="72" dur="1000" fill="hold"/>
                                        <p:tgtEl>
                                          <p:spTgt spid="6">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6">
                                            <p:txEl>
                                              <p:pRg st="12" end="12"/>
                                            </p:txEl>
                                          </p:spTgt>
                                        </p:tgtEl>
                                        <p:attrNameLst>
                                          <p:attrName>style.visibility</p:attrName>
                                        </p:attrNameLst>
                                      </p:cBhvr>
                                      <p:to>
                                        <p:strVal val="visible"/>
                                      </p:to>
                                    </p:set>
                                    <p:animEffect transition="in" filter="fade">
                                      <p:cBhvr>
                                        <p:cTn id="77" dur="1000"/>
                                        <p:tgtEl>
                                          <p:spTgt spid="6">
                                            <p:txEl>
                                              <p:pRg st="12" end="12"/>
                                            </p:txEl>
                                          </p:spTgt>
                                        </p:tgtEl>
                                      </p:cBhvr>
                                    </p:animEffect>
                                    <p:anim calcmode="lin" valueType="num">
                                      <p:cBhvr>
                                        <p:cTn id="78" dur="1000" fill="hold"/>
                                        <p:tgtEl>
                                          <p:spTgt spid="6">
                                            <p:txEl>
                                              <p:pRg st="12" end="12"/>
                                            </p:txEl>
                                          </p:spTgt>
                                        </p:tgtEl>
                                        <p:attrNameLst>
                                          <p:attrName>ppt_x</p:attrName>
                                        </p:attrNameLst>
                                      </p:cBhvr>
                                      <p:tavLst>
                                        <p:tav tm="0">
                                          <p:val>
                                            <p:strVal val="#ppt_x"/>
                                          </p:val>
                                        </p:tav>
                                        <p:tav tm="100000">
                                          <p:val>
                                            <p:strVal val="#ppt_x"/>
                                          </p:val>
                                        </p:tav>
                                      </p:tavLst>
                                    </p:anim>
                                    <p:anim calcmode="lin" valueType="num">
                                      <p:cBhvr>
                                        <p:cTn id="79" dur="1000" fill="hold"/>
                                        <p:tgtEl>
                                          <p:spTgt spid="6">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6">
                                            <p:txEl>
                                              <p:pRg st="13" end="13"/>
                                            </p:txEl>
                                          </p:spTgt>
                                        </p:tgtEl>
                                        <p:attrNameLst>
                                          <p:attrName>style.visibility</p:attrName>
                                        </p:attrNameLst>
                                      </p:cBhvr>
                                      <p:to>
                                        <p:strVal val="visible"/>
                                      </p:to>
                                    </p:set>
                                    <p:animEffect transition="in" filter="fade">
                                      <p:cBhvr>
                                        <p:cTn id="84" dur="1000"/>
                                        <p:tgtEl>
                                          <p:spTgt spid="6">
                                            <p:txEl>
                                              <p:pRg st="13" end="13"/>
                                            </p:txEl>
                                          </p:spTgt>
                                        </p:tgtEl>
                                      </p:cBhvr>
                                    </p:animEffect>
                                    <p:anim calcmode="lin" valueType="num">
                                      <p:cBhvr>
                                        <p:cTn id="85" dur="1000" fill="hold"/>
                                        <p:tgtEl>
                                          <p:spTgt spid="6">
                                            <p:txEl>
                                              <p:pRg st="13" end="13"/>
                                            </p:txEl>
                                          </p:spTgt>
                                        </p:tgtEl>
                                        <p:attrNameLst>
                                          <p:attrName>ppt_x</p:attrName>
                                        </p:attrNameLst>
                                      </p:cBhvr>
                                      <p:tavLst>
                                        <p:tav tm="0">
                                          <p:val>
                                            <p:strVal val="#ppt_x"/>
                                          </p:val>
                                        </p:tav>
                                        <p:tav tm="100000">
                                          <p:val>
                                            <p:strVal val="#ppt_x"/>
                                          </p:val>
                                        </p:tav>
                                      </p:tavLst>
                                    </p:anim>
                                    <p:anim calcmode="lin" valueType="num">
                                      <p:cBhvr>
                                        <p:cTn id="86" dur="1000" fill="hold"/>
                                        <p:tgtEl>
                                          <p:spTgt spid="6">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6">
                                            <p:txEl>
                                              <p:pRg st="15" end="15"/>
                                            </p:txEl>
                                          </p:spTgt>
                                        </p:tgtEl>
                                        <p:attrNameLst>
                                          <p:attrName>style.visibility</p:attrName>
                                        </p:attrNameLst>
                                      </p:cBhvr>
                                      <p:to>
                                        <p:strVal val="visible"/>
                                      </p:to>
                                    </p:set>
                                    <p:animEffect transition="in" filter="fade">
                                      <p:cBhvr>
                                        <p:cTn id="91" dur="1000"/>
                                        <p:tgtEl>
                                          <p:spTgt spid="6">
                                            <p:txEl>
                                              <p:pRg st="15" end="15"/>
                                            </p:txEl>
                                          </p:spTgt>
                                        </p:tgtEl>
                                      </p:cBhvr>
                                    </p:animEffect>
                                    <p:anim calcmode="lin" valueType="num">
                                      <p:cBhvr>
                                        <p:cTn id="92" dur="1000" fill="hold"/>
                                        <p:tgtEl>
                                          <p:spTgt spid="6">
                                            <p:txEl>
                                              <p:pRg st="15" end="15"/>
                                            </p:txEl>
                                          </p:spTgt>
                                        </p:tgtEl>
                                        <p:attrNameLst>
                                          <p:attrName>ppt_x</p:attrName>
                                        </p:attrNameLst>
                                      </p:cBhvr>
                                      <p:tavLst>
                                        <p:tav tm="0">
                                          <p:val>
                                            <p:strVal val="#ppt_x"/>
                                          </p:val>
                                        </p:tav>
                                        <p:tav tm="100000">
                                          <p:val>
                                            <p:strVal val="#ppt_x"/>
                                          </p:val>
                                        </p:tav>
                                      </p:tavLst>
                                    </p:anim>
                                    <p:anim calcmode="lin" valueType="num">
                                      <p:cBhvr>
                                        <p:cTn id="93" dur="1000" fill="hold"/>
                                        <p:tgtEl>
                                          <p:spTgt spid="6">
                                            <p:txEl>
                                              <p:pRg st="15" end="15"/>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6">
                                            <p:txEl>
                                              <p:pRg st="16" end="16"/>
                                            </p:txEl>
                                          </p:spTgt>
                                        </p:tgtEl>
                                        <p:attrNameLst>
                                          <p:attrName>style.visibility</p:attrName>
                                        </p:attrNameLst>
                                      </p:cBhvr>
                                      <p:to>
                                        <p:strVal val="visible"/>
                                      </p:to>
                                    </p:set>
                                    <p:animEffect transition="in" filter="fade">
                                      <p:cBhvr>
                                        <p:cTn id="98" dur="1000"/>
                                        <p:tgtEl>
                                          <p:spTgt spid="6">
                                            <p:txEl>
                                              <p:pRg st="16" end="16"/>
                                            </p:txEl>
                                          </p:spTgt>
                                        </p:tgtEl>
                                      </p:cBhvr>
                                    </p:animEffect>
                                    <p:anim calcmode="lin" valueType="num">
                                      <p:cBhvr>
                                        <p:cTn id="99" dur="1000" fill="hold"/>
                                        <p:tgtEl>
                                          <p:spTgt spid="6">
                                            <p:txEl>
                                              <p:pRg st="16" end="16"/>
                                            </p:txEl>
                                          </p:spTgt>
                                        </p:tgtEl>
                                        <p:attrNameLst>
                                          <p:attrName>ppt_x</p:attrName>
                                        </p:attrNameLst>
                                      </p:cBhvr>
                                      <p:tavLst>
                                        <p:tav tm="0">
                                          <p:val>
                                            <p:strVal val="#ppt_x"/>
                                          </p:val>
                                        </p:tav>
                                        <p:tav tm="100000">
                                          <p:val>
                                            <p:strVal val="#ppt_x"/>
                                          </p:val>
                                        </p:tav>
                                      </p:tavLst>
                                    </p:anim>
                                    <p:anim calcmode="lin" valueType="num">
                                      <p:cBhvr>
                                        <p:cTn id="100" dur="1000" fill="hold"/>
                                        <p:tgtEl>
                                          <p:spTgt spid="6">
                                            <p:txEl>
                                              <p:pRg st="16" end="16"/>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6">
                                            <p:txEl>
                                              <p:pRg st="17" end="17"/>
                                            </p:txEl>
                                          </p:spTgt>
                                        </p:tgtEl>
                                        <p:attrNameLst>
                                          <p:attrName>style.visibility</p:attrName>
                                        </p:attrNameLst>
                                      </p:cBhvr>
                                      <p:to>
                                        <p:strVal val="visible"/>
                                      </p:to>
                                    </p:set>
                                    <p:animEffect transition="in" filter="fade">
                                      <p:cBhvr>
                                        <p:cTn id="105" dur="1000"/>
                                        <p:tgtEl>
                                          <p:spTgt spid="6">
                                            <p:txEl>
                                              <p:pRg st="17" end="17"/>
                                            </p:txEl>
                                          </p:spTgt>
                                        </p:tgtEl>
                                      </p:cBhvr>
                                    </p:animEffect>
                                    <p:anim calcmode="lin" valueType="num">
                                      <p:cBhvr>
                                        <p:cTn id="106" dur="1000" fill="hold"/>
                                        <p:tgtEl>
                                          <p:spTgt spid="6">
                                            <p:txEl>
                                              <p:pRg st="17" end="17"/>
                                            </p:txEl>
                                          </p:spTgt>
                                        </p:tgtEl>
                                        <p:attrNameLst>
                                          <p:attrName>ppt_x</p:attrName>
                                        </p:attrNameLst>
                                      </p:cBhvr>
                                      <p:tavLst>
                                        <p:tav tm="0">
                                          <p:val>
                                            <p:strVal val="#ppt_x"/>
                                          </p:val>
                                        </p:tav>
                                        <p:tav tm="100000">
                                          <p:val>
                                            <p:strVal val="#ppt_x"/>
                                          </p:val>
                                        </p:tav>
                                      </p:tavLst>
                                    </p:anim>
                                    <p:anim calcmode="lin" valueType="num">
                                      <p:cBhvr>
                                        <p:cTn id="107" dur="1000" fill="hold"/>
                                        <p:tgtEl>
                                          <p:spTgt spid="6">
                                            <p:txEl>
                                              <p:pRg st="17" end="17"/>
                                            </p:txEl>
                                          </p:spTgt>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6">
                                            <p:txEl>
                                              <p:pRg st="18" end="18"/>
                                            </p:txEl>
                                          </p:spTgt>
                                        </p:tgtEl>
                                        <p:attrNameLst>
                                          <p:attrName>style.visibility</p:attrName>
                                        </p:attrNameLst>
                                      </p:cBhvr>
                                      <p:to>
                                        <p:strVal val="visible"/>
                                      </p:to>
                                    </p:set>
                                    <p:animEffect transition="in" filter="fade">
                                      <p:cBhvr>
                                        <p:cTn id="112" dur="1000"/>
                                        <p:tgtEl>
                                          <p:spTgt spid="6">
                                            <p:txEl>
                                              <p:pRg st="18" end="18"/>
                                            </p:txEl>
                                          </p:spTgt>
                                        </p:tgtEl>
                                      </p:cBhvr>
                                    </p:animEffect>
                                    <p:anim calcmode="lin" valueType="num">
                                      <p:cBhvr>
                                        <p:cTn id="113" dur="1000" fill="hold"/>
                                        <p:tgtEl>
                                          <p:spTgt spid="6">
                                            <p:txEl>
                                              <p:pRg st="18" end="18"/>
                                            </p:txEl>
                                          </p:spTgt>
                                        </p:tgtEl>
                                        <p:attrNameLst>
                                          <p:attrName>ppt_x</p:attrName>
                                        </p:attrNameLst>
                                      </p:cBhvr>
                                      <p:tavLst>
                                        <p:tav tm="0">
                                          <p:val>
                                            <p:strVal val="#ppt_x"/>
                                          </p:val>
                                        </p:tav>
                                        <p:tav tm="100000">
                                          <p:val>
                                            <p:strVal val="#ppt_x"/>
                                          </p:val>
                                        </p:tav>
                                      </p:tavLst>
                                    </p:anim>
                                    <p:anim calcmode="lin" valueType="num">
                                      <p:cBhvr>
                                        <p:cTn id="114" dur="1000" fill="hold"/>
                                        <p:tgtEl>
                                          <p:spTgt spid="6">
                                            <p:txEl>
                                              <p:pRg st="18" end="18"/>
                                            </p:txEl>
                                          </p:spTgt>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grpId="0" nodeType="clickEffect">
                                  <p:stCondLst>
                                    <p:cond delay="0"/>
                                  </p:stCondLst>
                                  <p:childTnLst>
                                    <p:set>
                                      <p:cBhvr>
                                        <p:cTn id="118" dur="1" fill="hold">
                                          <p:stCondLst>
                                            <p:cond delay="0"/>
                                          </p:stCondLst>
                                        </p:cTn>
                                        <p:tgtEl>
                                          <p:spTgt spid="6">
                                            <p:txEl>
                                              <p:pRg st="19" end="19"/>
                                            </p:txEl>
                                          </p:spTgt>
                                        </p:tgtEl>
                                        <p:attrNameLst>
                                          <p:attrName>style.visibility</p:attrName>
                                        </p:attrNameLst>
                                      </p:cBhvr>
                                      <p:to>
                                        <p:strVal val="visible"/>
                                      </p:to>
                                    </p:set>
                                    <p:animEffect transition="in" filter="fade">
                                      <p:cBhvr>
                                        <p:cTn id="119" dur="1000"/>
                                        <p:tgtEl>
                                          <p:spTgt spid="6">
                                            <p:txEl>
                                              <p:pRg st="19" end="19"/>
                                            </p:txEl>
                                          </p:spTgt>
                                        </p:tgtEl>
                                      </p:cBhvr>
                                    </p:animEffect>
                                    <p:anim calcmode="lin" valueType="num">
                                      <p:cBhvr>
                                        <p:cTn id="120" dur="1000" fill="hold"/>
                                        <p:tgtEl>
                                          <p:spTgt spid="6">
                                            <p:txEl>
                                              <p:pRg st="19" end="19"/>
                                            </p:txEl>
                                          </p:spTgt>
                                        </p:tgtEl>
                                        <p:attrNameLst>
                                          <p:attrName>ppt_x</p:attrName>
                                        </p:attrNameLst>
                                      </p:cBhvr>
                                      <p:tavLst>
                                        <p:tav tm="0">
                                          <p:val>
                                            <p:strVal val="#ppt_x"/>
                                          </p:val>
                                        </p:tav>
                                        <p:tav tm="100000">
                                          <p:val>
                                            <p:strVal val="#ppt_x"/>
                                          </p:val>
                                        </p:tav>
                                      </p:tavLst>
                                    </p:anim>
                                    <p:anim calcmode="lin" valueType="num">
                                      <p:cBhvr>
                                        <p:cTn id="121" dur="1000" fill="hold"/>
                                        <p:tgtEl>
                                          <p:spTgt spid="6">
                                            <p:txEl>
                                              <p:pRg st="19" end="19"/>
                                            </p:txEl>
                                          </p:spTgt>
                                        </p:tgtEl>
                                        <p:attrNameLst>
                                          <p:attrName>ppt_y</p:attrName>
                                        </p:attrNameLst>
                                      </p:cBhvr>
                                      <p:tavLst>
                                        <p:tav tm="0">
                                          <p:val>
                                            <p:strVal val="#ppt_y+.1"/>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9" presetClass="entr" presetSubtype="0" fill="hold" grpId="0" nodeType="clickEffect">
                                  <p:stCondLst>
                                    <p:cond delay="0"/>
                                  </p:stCondLst>
                                  <p:childTnLst>
                                    <p:set>
                                      <p:cBhvr>
                                        <p:cTn id="125" dur="1" fill="hold">
                                          <p:stCondLst>
                                            <p:cond delay="0"/>
                                          </p:stCondLst>
                                        </p:cTn>
                                        <p:tgtEl>
                                          <p:spTgt spid="7"/>
                                        </p:tgtEl>
                                        <p:attrNameLst>
                                          <p:attrName>style.visibility</p:attrName>
                                        </p:attrNameLst>
                                      </p:cBhvr>
                                      <p:to>
                                        <p:strVal val="visible"/>
                                      </p:to>
                                    </p:set>
                                    <p:animEffect transition="in" filter="dissolve">
                                      <p:cBhvr>
                                        <p:cTn id="12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bldLvl="5"/>
      <p:bldP spid="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14290"/>
            <a:ext cx="8229600" cy="6000792"/>
          </a:xfrm>
          <a:ln w="3175">
            <a:noFill/>
          </a:ln>
        </p:spPr>
        <p:txBody>
          <a:bodyPr wrap="none" lIns="108000" tIns="0" rIns="0" bIns="0">
            <a:noAutofit/>
          </a:bodyPr>
          <a:lstStyle/>
          <a:p>
            <a:pPr marL="0">
              <a:spcBef>
                <a:spcPts val="0"/>
              </a:spcBef>
              <a:buNone/>
            </a:pPr>
            <a:endParaRPr lang="id-ID" sz="1700" dirty="0"/>
          </a:p>
          <a:p>
            <a:pPr marL="0">
              <a:spcBef>
                <a:spcPts val="0"/>
              </a:spcBef>
              <a:buNone/>
            </a:pPr>
            <a:r>
              <a:rPr lang="en-US" sz="1700" b="1" dirty="0"/>
              <a:t>PERSIAPAN:</a:t>
            </a:r>
          </a:p>
          <a:p>
            <a:pPr marL="0">
              <a:spcBef>
                <a:spcPts val="0"/>
              </a:spcBef>
              <a:buNone/>
            </a:pPr>
            <a:r>
              <a:rPr lang="en-US" sz="1700" dirty="0" err="1"/>
              <a:t>Pemaparan</a:t>
            </a:r>
            <a:r>
              <a:rPr lang="en-US" sz="1700" dirty="0"/>
              <a:t> </a:t>
            </a:r>
            <a:r>
              <a:rPr lang="en-US" sz="1700" dirty="0" err="1"/>
              <a:t>kepada</a:t>
            </a:r>
            <a:r>
              <a:rPr lang="en-US" sz="1700" dirty="0"/>
              <a:t> </a:t>
            </a:r>
            <a:r>
              <a:rPr lang="en-US" sz="1700" dirty="0" err="1"/>
              <a:t>orangtua</a:t>
            </a:r>
            <a:r>
              <a:rPr lang="en-US" sz="1700" dirty="0"/>
              <a:t> </a:t>
            </a:r>
            <a:r>
              <a:rPr lang="en-US" sz="1700" dirty="0" err="1"/>
              <a:t>santri</a:t>
            </a:r>
            <a:endParaRPr lang="en-US" sz="1700" dirty="0"/>
          </a:p>
          <a:p>
            <a:pPr marL="0">
              <a:spcBef>
                <a:spcPts val="0"/>
              </a:spcBef>
              <a:buNone/>
            </a:pPr>
            <a:endParaRPr lang="en-US" sz="1700" dirty="0"/>
          </a:p>
          <a:p>
            <a:pPr marL="0">
              <a:spcBef>
                <a:spcPts val="0"/>
              </a:spcBef>
              <a:buNone/>
            </a:pPr>
            <a:r>
              <a:rPr lang="id-ID" sz="1700" b="1" dirty="0"/>
              <a:t>KELAS 7 (Santri baru):</a:t>
            </a:r>
            <a:endParaRPr lang="en-US" sz="1700" b="1" dirty="0"/>
          </a:p>
          <a:p>
            <a:pPr marL="0">
              <a:spcBef>
                <a:spcPts val="0"/>
              </a:spcBef>
              <a:buNone/>
            </a:pPr>
            <a:r>
              <a:rPr lang="en-US" sz="1700" dirty="0"/>
              <a:t>Semester </a:t>
            </a:r>
            <a:r>
              <a:rPr lang="en-US" sz="1700" dirty="0" err="1"/>
              <a:t>gasal</a:t>
            </a:r>
            <a:r>
              <a:rPr lang="en-US" sz="1700" dirty="0"/>
              <a:t>:</a:t>
            </a:r>
          </a:p>
          <a:p>
            <a:pPr marL="0">
              <a:spcBef>
                <a:spcPts val="0"/>
              </a:spcBef>
            </a:pPr>
            <a:r>
              <a:rPr lang="en-US" sz="1700" dirty="0" err="1"/>
              <a:t>Menjadikan</a:t>
            </a:r>
            <a:r>
              <a:rPr lang="en-US" sz="1700" dirty="0"/>
              <a:t> </a:t>
            </a:r>
            <a:r>
              <a:rPr lang="en-US" sz="1700" dirty="0" err="1"/>
              <a:t>kesan</a:t>
            </a:r>
            <a:r>
              <a:rPr lang="en-US" sz="1700" dirty="0"/>
              <a:t> </a:t>
            </a:r>
            <a:r>
              <a:rPr lang="en-US" sz="1700" dirty="0" err="1"/>
              <a:t>pertama</a:t>
            </a:r>
            <a:r>
              <a:rPr lang="en-US" sz="1700" dirty="0"/>
              <a:t> </a:t>
            </a:r>
            <a:r>
              <a:rPr lang="en-US" sz="1700" dirty="0" err="1"/>
              <a:t>santri</a:t>
            </a:r>
            <a:r>
              <a:rPr lang="en-US" sz="1700" dirty="0"/>
              <a:t> </a:t>
            </a:r>
            <a:r>
              <a:rPr lang="en-US" sz="1700" dirty="0" err="1"/>
              <a:t>terhadap</a:t>
            </a:r>
            <a:r>
              <a:rPr lang="en-US" sz="1700" dirty="0"/>
              <a:t> </a:t>
            </a:r>
            <a:r>
              <a:rPr lang="en-US" sz="1700" dirty="0" err="1"/>
              <a:t>sekolah</a:t>
            </a:r>
            <a:r>
              <a:rPr lang="en-US" sz="1700" dirty="0"/>
              <a:t> </a:t>
            </a:r>
            <a:r>
              <a:rPr lang="en-US" sz="1700" dirty="0" err="1"/>
              <a:t>adalah</a:t>
            </a:r>
            <a:r>
              <a:rPr lang="en-US" sz="1700" dirty="0"/>
              <a:t> “</a:t>
            </a:r>
            <a:r>
              <a:rPr lang="en-US" sz="1700" dirty="0" err="1"/>
              <a:t>mempesona</a:t>
            </a:r>
            <a:r>
              <a:rPr lang="en-US" sz="1700" dirty="0"/>
              <a:t>”</a:t>
            </a:r>
          </a:p>
          <a:p>
            <a:pPr marL="0">
              <a:spcBef>
                <a:spcPts val="0"/>
              </a:spcBef>
            </a:pPr>
            <a:r>
              <a:rPr lang="en-US" sz="1700" dirty="0" err="1"/>
              <a:t>Menggali</a:t>
            </a:r>
            <a:r>
              <a:rPr lang="en-US" sz="1700" dirty="0"/>
              <a:t> </a:t>
            </a:r>
            <a:r>
              <a:rPr lang="en-US" sz="1700" dirty="0" err="1"/>
              <a:t>potensi</a:t>
            </a:r>
            <a:r>
              <a:rPr lang="en-US" sz="1700" dirty="0"/>
              <a:t> </a:t>
            </a:r>
            <a:r>
              <a:rPr lang="en-US" sz="1700" dirty="0" err="1"/>
              <a:t>unik</a:t>
            </a:r>
            <a:r>
              <a:rPr lang="en-US" sz="1700" dirty="0"/>
              <a:t> </a:t>
            </a:r>
            <a:r>
              <a:rPr lang="en-US" sz="1700" dirty="0" err="1"/>
              <a:t>santri</a:t>
            </a:r>
            <a:endParaRPr lang="en-US" sz="1700" dirty="0"/>
          </a:p>
          <a:p>
            <a:pPr marL="0">
              <a:spcBef>
                <a:spcPts val="0"/>
              </a:spcBef>
            </a:pPr>
            <a:r>
              <a:rPr lang="en-US" sz="1700" dirty="0" err="1"/>
              <a:t>Memfasilitasi</a:t>
            </a:r>
            <a:r>
              <a:rPr lang="en-US" sz="1700" dirty="0"/>
              <a:t> </a:t>
            </a:r>
            <a:r>
              <a:rPr lang="en-US" sz="1700" dirty="0" err="1"/>
              <a:t>potensi</a:t>
            </a:r>
            <a:r>
              <a:rPr lang="en-US" sz="1700" dirty="0"/>
              <a:t> </a:t>
            </a:r>
            <a:r>
              <a:rPr lang="en-US" sz="1700" dirty="0" err="1"/>
              <a:t>unik</a:t>
            </a:r>
            <a:r>
              <a:rPr lang="en-US" sz="1700" dirty="0"/>
              <a:t> </a:t>
            </a:r>
            <a:r>
              <a:rPr lang="en-US" sz="1700" dirty="0" err="1"/>
              <a:t>santri</a:t>
            </a:r>
            <a:r>
              <a:rPr lang="id-ID" sz="1700" dirty="0"/>
              <a:t> (menjuruskan)</a:t>
            </a:r>
            <a:endParaRPr lang="en-US" sz="1700" dirty="0"/>
          </a:p>
          <a:p>
            <a:pPr marL="0">
              <a:spcBef>
                <a:spcPts val="0"/>
              </a:spcBef>
              <a:buNone/>
            </a:pPr>
            <a:r>
              <a:rPr lang="id-ID" sz="1700" i="1" dirty="0"/>
              <a:t>Recovery</a:t>
            </a:r>
            <a:r>
              <a:rPr lang="en-US" sz="1700" dirty="0"/>
              <a:t> personal </a:t>
            </a:r>
          </a:p>
          <a:p>
            <a:pPr marL="0">
              <a:spcBef>
                <a:spcPts val="0"/>
              </a:spcBef>
              <a:buNone/>
            </a:pPr>
            <a:r>
              <a:rPr lang="en-US" sz="1700" dirty="0" err="1"/>
              <a:t>Ada</a:t>
            </a:r>
            <a:r>
              <a:rPr lang="en-US" sz="1700" dirty="0"/>
              <a:t> </a:t>
            </a:r>
            <a:r>
              <a:rPr lang="en-US" sz="1700" dirty="0" err="1"/>
              <a:t>efek</a:t>
            </a:r>
            <a:r>
              <a:rPr lang="en-US" sz="1700" dirty="0"/>
              <a:t> </a:t>
            </a:r>
            <a:r>
              <a:rPr lang="en-US" sz="1700" dirty="0" err="1"/>
              <a:t>samping</a:t>
            </a:r>
            <a:r>
              <a:rPr lang="en-US" sz="1700" dirty="0"/>
              <a:t> </a:t>
            </a:r>
            <a:r>
              <a:rPr lang="en-US" sz="1700" i="1" dirty="0"/>
              <a:t>“</a:t>
            </a:r>
            <a:r>
              <a:rPr lang="en-US" sz="1700" i="1" dirty="0" err="1"/>
              <a:t>euforia</a:t>
            </a:r>
            <a:r>
              <a:rPr lang="en-US" sz="1700" i="1" dirty="0"/>
              <a:t>”</a:t>
            </a:r>
          </a:p>
          <a:p>
            <a:pPr marL="0">
              <a:spcBef>
                <a:spcPts val="0"/>
              </a:spcBef>
              <a:buNone/>
            </a:pPr>
            <a:endParaRPr lang="en-US" sz="1700" dirty="0"/>
          </a:p>
          <a:p>
            <a:pPr marL="0">
              <a:spcBef>
                <a:spcPts val="0"/>
              </a:spcBef>
              <a:buNone/>
            </a:pPr>
            <a:r>
              <a:rPr lang="en-US" sz="1700" dirty="0"/>
              <a:t>Semester </a:t>
            </a:r>
            <a:r>
              <a:rPr lang="en-US" sz="1700" dirty="0" err="1"/>
              <a:t>genap</a:t>
            </a:r>
            <a:r>
              <a:rPr lang="en-US" sz="1700" dirty="0"/>
              <a:t>:</a:t>
            </a:r>
          </a:p>
          <a:p>
            <a:pPr marL="0">
              <a:spcBef>
                <a:spcPts val="0"/>
              </a:spcBef>
            </a:pPr>
            <a:r>
              <a:rPr lang="en-US" sz="1700" dirty="0" err="1"/>
              <a:t>Memulai</a:t>
            </a:r>
            <a:r>
              <a:rPr lang="en-US" sz="1700" dirty="0"/>
              <a:t> </a:t>
            </a:r>
            <a:r>
              <a:rPr lang="en-US" sz="1700" i="1" dirty="0"/>
              <a:t>start up</a:t>
            </a:r>
            <a:r>
              <a:rPr lang="en-US" sz="1700" dirty="0"/>
              <a:t> </a:t>
            </a:r>
            <a:r>
              <a:rPr lang="en-US" sz="1700" dirty="0" err="1"/>
              <a:t>pembelajaran</a:t>
            </a:r>
            <a:r>
              <a:rPr lang="en-US" sz="1700" dirty="0"/>
              <a:t> formal</a:t>
            </a:r>
            <a:r>
              <a:rPr lang="id-ID" sz="1700" dirty="0"/>
              <a:t>/</a:t>
            </a:r>
            <a:r>
              <a:rPr lang="en-US" sz="1700" dirty="0"/>
              <a:t> </a:t>
            </a:r>
            <a:r>
              <a:rPr lang="en-US" sz="1700" dirty="0" err="1"/>
              <a:t>diknas</a:t>
            </a:r>
            <a:endParaRPr lang="en-US" sz="1700" dirty="0"/>
          </a:p>
          <a:p>
            <a:pPr marL="0">
              <a:spcBef>
                <a:spcPts val="0"/>
              </a:spcBef>
            </a:pPr>
            <a:r>
              <a:rPr lang="en-US" sz="1700" dirty="0" err="1"/>
              <a:t>Mempertimbangkan</a:t>
            </a:r>
            <a:r>
              <a:rPr lang="en-US" sz="1700" dirty="0"/>
              <a:t> </a:t>
            </a:r>
            <a:r>
              <a:rPr lang="en-US" sz="1700" dirty="0" err="1"/>
              <a:t>potensi</a:t>
            </a:r>
            <a:r>
              <a:rPr lang="en-US" sz="1700" dirty="0"/>
              <a:t> </a:t>
            </a:r>
            <a:r>
              <a:rPr lang="en-US" sz="1700" dirty="0" err="1"/>
              <a:t>unik</a:t>
            </a:r>
            <a:r>
              <a:rPr lang="en-US" sz="1700" dirty="0"/>
              <a:t> </a:t>
            </a:r>
            <a:r>
              <a:rPr lang="id-ID" sz="1700" dirty="0"/>
              <a:t>santri</a:t>
            </a:r>
            <a:endParaRPr lang="en-US" sz="1700" dirty="0"/>
          </a:p>
          <a:p>
            <a:pPr marL="0">
              <a:spcBef>
                <a:spcPts val="0"/>
              </a:spcBef>
            </a:pPr>
            <a:r>
              <a:rPr lang="en-US" sz="1700" dirty="0" err="1"/>
              <a:t>Pemagangan</a:t>
            </a:r>
            <a:r>
              <a:rPr lang="en-US" sz="1700" dirty="0"/>
              <a:t> </a:t>
            </a:r>
            <a:r>
              <a:rPr lang="en-US" sz="1700" dirty="0" err="1"/>
              <a:t>di</a:t>
            </a:r>
            <a:r>
              <a:rPr lang="en-US" sz="1700" dirty="0"/>
              <a:t> </a:t>
            </a:r>
            <a:r>
              <a:rPr lang="en-US" sz="1700" dirty="0" err="1"/>
              <a:t>luar</a:t>
            </a:r>
            <a:r>
              <a:rPr lang="en-US" sz="1700" dirty="0"/>
              <a:t> </a:t>
            </a:r>
            <a:r>
              <a:rPr lang="en-US" sz="1700" dirty="0" err="1"/>
              <a:t>hari</a:t>
            </a:r>
            <a:r>
              <a:rPr lang="en-US" sz="1700" dirty="0"/>
              <a:t> </a:t>
            </a:r>
            <a:r>
              <a:rPr lang="en-US" sz="1700" dirty="0" err="1"/>
              <a:t>efektif</a:t>
            </a:r>
            <a:r>
              <a:rPr lang="en-US" sz="1700" dirty="0"/>
              <a:t> </a:t>
            </a:r>
            <a:r>
              <a:rPr lang="en-US" sz="1700" dirty="0" err="1"/>
              <a:t>pembelajaran</a:t>
            </a:r>
            <a:endParaRPr lang="en-US" sz="1700" dirty="0"/>
          </a:p>
          <a:p>
            <a:pPr marL="0">
              <a:spcBef>
                <a:spcPts val="0"/>
              </a:spcBef>
            </a:pPr>
            <a:r>
              <a:rPr lang="en-US" sz="1700" dirty="0" err="1"/>
              <a:t>Pelatihan</a:t>
            </a:r>
            <a:r>
              <a:rPr lang="en-US" sz="1700" dirty="0"/>
              <a:t> </a:t>
            </a:r>
            <a:r>
              <a:rPr lang="en-US" sz="1700" dirty="0" err="1"/>
              <a:t>pengasuhan</a:t>
            </a:r>
            <a:r>
              <a:rPr lang="en-US" sz="1700" dirty="0"/>
              <a:t> </a:t>
            </a:r>
            <a:r>
              <a:rPr lang="en-US" sz="1700" dirty="0" err="1"/>
              <a:t>terhadap</a:t>
            </a:r>
            <a:r>
              <a:rPr lang="en-US" sz="1700" dirty="0"/>
              <a:t> </a:t>
            </a:r>
            <a:r>
              <a:rPr lang="id-ID" sz="1700" dirty="0"/>
              <a:t>santri baru tahun depan </a:t>
            </a:r>
            <a:r>
              <a:rPr lang="en-US" sz="1700" dirty="0"/>
              <a:t>(mentor)</a:t>
            </a:r>
            <a:endParaRPr lang="id-ID" sz="1700" dirty="0"/>
          </a:p>
          <a:p>
            <a:pPr marL="0">
              <a:spcBef>
                <a:spcPts val="0"/>
              </a:spcBef>
            </a:pPr>
            <a:r>
              <a:rPr lang="id-ID" sz="1700" dirty="0"/>
              <a:t>Memberi tugas khusus kepada setiap santri terkait proses pembelajaran di sekolah</a:t>
            </a:r>
            <a:endParaRPr lang="en-US" sz="1700" dirty="0"/>
          </a:p>
          <a:p>
            <a:pPr marL="0">
              <a:spcBef>
                <a:spcPts val="0"/>
              </a:spcBef>
              <a:buNone/>
            </a:pPr>
            <a:r>
              <a:rPr lang="id-ID" sz="1700" dirty="0"/>
              <a:t>Ada “e</a:t>
            </a:r>
            <a:r>
              <a:rPr lang="en-US" sz="1700" i="1" dirty="0" err="1"/>
              <a:t>uforia</a:t>
            </a:r>
            <a:r>
              <a:rPr lang="id-ID" sz="1700" i="1" dirty="0"/>
              <a:t>”</a:t>
            </a:r>
            <a:r>
              <a:rPr lang="en-US" sz="1700" i="1" dirty="0"/>
              <a:t> </a:t>
            </a:r>
            <a:r>
              <a:rPr lang="en-US" sz="1700" dirty="0" err="1"/>
              <a:t>kedua</a:t>
            </a:r>
            <a:r>
              <a:rPr lang="en-US" sz="1700" dirty="0"/>
              <a:t> </a:t>
            </a:r>
          </a:p>
          <a:p>
            <a:pPr marL="0">
              <a:spcBef>
                <a:spcPts val="0"/>
              </a:spcBef>
              <a:buNone/>
            </a:pPr>
            <a:endParaRPr lang="id-ID" sz="1700" dirty="0"/>
          </a:p>
          <a:p>
            <a:pPr marL="0">
              <a:spcBef>
                <a:spcPts val="0"/>
              </a:spcBef>
              <a:buNone/>
            </a:pPr>
            <a:r>
              <a:rPr lang="id-ID" sz="1700" b="1" dirty="0"/>
              <a:t>KELAS 8 &amp; 9</a:t>
            </a:r>
            <a:r>
              <a:rPr lang="en-US" sz="1700" b="1" dirty="0"/>
              <a:t>:</a:t>
            </a:r>
          </a:p>
          <a:p>
            <a:pPr marL="0">
              <a:spcBef>
                <a:spcPts val="0"/>
              </a:spcBef>
            </a:pPr>
            <a:r>
              <a:rPr lang="en-US" sz="1700" dirty="0" err="1"/>
              <a:t>Pembelajaran</a:t>
            </a:r>
            <a:r>
              <a:rPr lang="en-US" sz="1700" dirty="0"/>
              <a:t> formal</a:t>
            </a:r>
            <a:endParaRPr lang="id-ID" sz="1700" dirty="0"/>
          </a:p>
          <a:p>
            <a:pPr marL="0">
              <a:spcBef>
                <a:spcPts val="0"/>
              </a:spcBef>
            </a:pPr>
            <a:r>
              <a:rPr lang="id-ID" sz="1700" dirty="0"/>
              <a:t>Kelas 8: Pelatihan pengasuhan (Musyrif) </a:t>
            </a:r>
          </a:p>
          <a:p>
            <a:pPr marL="0">
              <a:spcBef>
                <a:spcPts val="0"/>
              </a:spcBef>
            </a:pPr>
            <a:r>
              <a:rPr lang="id-ID" sz="1700" dirty="0"/>
              <a:t>Kelas 9: Sebagai santri senior (Musyrif)</a:t>
            </a:r>
          </a:p>
        </p:txBody>
      </p:sp>
      <p:sp>
        <p:nvSpPr>
          <p:cNvPr id="4" name="Title 3"/>
          <p:cNvSpPr>
            <a:spLocks noGrp="1"/>
          </p:cNvSpPr>
          <p:nvPr>
            <p:ph type="title"/>
          </p:nvPr>
        </p:nvSpPr>
        <p:spPr>
          <a:xfrm>
            <a:off x="457200" y="-214338"/>
            <a:ext cx="8229600" cy="1143000"/>
          </a:xfrm>
        </p:spPr>
        <p:txBody>
          <a:bodyPr>
            <a:normAutofit/>
          </a:bodyPr>
          <a:lstStyle/>
          <a:p>
            <a:r>
              <a:rPr lang="en-US" sz="2000" dirty="0" err="1"/>
              <a:t>Metode</a:t>
            </a:r>
            <a:r>
              <a:rPr lang="en-US" sz="2000" dirty="0"/>
              <a:t> </a:t>
            </a:r>
            <a:r>
              <a:rPr lang="en-US" sz="2000" dirty="0" err="1"/>
              <a:t>pembelajaran</a:t>
            </a:r>
            <a:r>
              <a:rPr lang="en-US" sz="2000" dirty="0"/>
              <a:t> SMP (</a:t>
            </a:r>
            <a:r>
              <a:rPr lang="en-US" sz="2000" dirty="0" err="1"/>
              <a:t>umum</a:t>
            </a:r>
            <a:r>
              <a:rPr lang="en-US" sz="2000" dirty="0"/>
              <a:t>)</a:t>
            </a:r>
            <a:r>
              <a:rPr lang="id-ID" sz="2000" dirty="0"/>
              <a:t> </a:t>
            </a:r>
            <a:br>
              <a:rPr lang="id-ID" sz="2000" dirty="0"/>
            </a:br>
            <a:r>
              <a:rPr lang="id-ID" sz="2000" b="1" dirty="0"/>
              <a:t>MEMULAI DARI AWAL</a:t>
            </a:r>
            <a:endParaRPr lang="en-US" sz="2000" b="1"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14356"/>
            <a:ext cx="8229600" cy="5857916"/>
          </a:xfrm>
          <a:ln w="3175">
            <a:noFill/>
          </a:ln>
        </p:spPr>
        <p:txBody>
          <a:bodyPr wrap="none" lIns="72000" tIns="0" rIns="0" bIns="0" anchor="ctr" anchorCtr="0">
            <a:normAutofit fontScale="47500" lnSpcReduction="20000"/>
          </a:bodyPr>
          <a:lstStyle/>
          <a:p>
            <a:pPr>
              <a:buNone/>
            </a:pPr>
            <a:endParaRPr lang="id-ID" dirty="0"/>
          </a:p>
          <a:p>
            <a:pPr>
              <a:buNone/>
            </a:pPr>
            <a:r>
              <a:rPr lang="en-US" sz="3700" b="1" dirty="0"/>
              <a:t>PERSIAPAN:</a:t>
            </a:r>
          </a:p>
          <a:p>
            <a:pPr>
              <a:buNone/>
            </a:pPr>
            <a:r>
              <a:rPr lang="en-US" sz="3700" dirty="0"/>
              <a:t>P</a:t>
            </a:r>
            <a:r>
              <a:rPr lang="id-ID" sz="3700" dirty="0"/>
              <a:t>emaparan kepada orangtua santri (madrasah orangtua)</a:t>
            </a:r>
            <a:endParaRPr lang="en-US" sz="3700" dirty="0"/>
          </a:p>
          <a:p>
            <a:pPr>
              <a:buNone/>
            </a:pPr>
            <a:endParaRPr lang="en-US" sz="3700" dirty="0"/>
          </a:p>
          <a:p>
            <a:pPr>
              <a:buNone/>
            </a:pPr>
            <a:r>
              <a:rPr lang="id-ID" sz="3700" b="1" dirty="0"/>
              <a:t>SEMESTER GASAL:</a:t>
            </a:r>
          </a:p>
          <a:p>
            <a:r>
              <a:rPr lang="en-US" sz="3700" dirty="0"/>
              <a:t>Men</a:t>
            </a:r>
            <a:r>
              <a:rPr lang="id-ID" sz="3700" dirty="0"/>
              <a:t>gubah</a:t>
            </a:r>
            <a:r>
              <a:rPr lang="en-US" sz="3700" dirty="0"/>
              <a:t> </a:t>
            </a:r>
            <a:r>
              <a:rPr lang="en-US" sz="3700" dirty="0" err="1"/>
              <a:t>kesan</a:t>
            </a:r>
            <a:r>
              <a:rPr lang="en-US" sz="3700" dirty="0"/>
              <a:t> </a:t>
            </a:r>
            <a:r>
              <a:rPr lang="en-US" sz="3700" dirty="0" err="1"/>
              <a:t>terhadap</a:t>
            </a:r>
            <a:r>
              <a:rPr lang="en-US" sz="3700" dirty="0"/>
              <a:t> </a:t>
            </a:r>
            <a:r>
              <a:rPr lang="en-US" sz="3700" dirty="0" err="1"/>
              <a:t>sekolah</a:t>
            </a:r>
            <a:r>
              <a:rPr lang="en-US" sz="3700" dirty="0"/>
              <a:t> </a:t>
            </a:r>
            <a:r>
              <a:rPr lang="id-ID" sz="3700" dirty="0"/>
              <a:t>menjadi</a:t>
            </a:r>
            <a:r>
              <a:rPr lang="en-US" sz="3700" dirty="0"/>
              <a:t> “</a:t>
            </a:r>
            <a:r>
              <a:rPr lang="en-US" sz="3700" dirty="0" err="1"/>
              <a:t>mempesona</a:t>
            </a:r>
            <a:r>
              <a:rPr lang="en-US" sz="3700" dirty="0"/>
              <a:t>”</a:t>
            </a:r>
          </a:p>
          <a:p>
            <a:r>
              <a:rPr lang="en-US" sz="3700" dirty="0" err="1"/>
              <a:t>Menggali</a:t>
            </a:r>
            <a:r>
              <a:rPr lang="en-US" sz="3700" dirty="0"/>
              <a:t> </a:t>
            </a:r>
            <a:r>
              <a:rPr lang="en-US" sz="3700" dirty="0" err="1"/>
              <a:t>potensi</a:t>
            </a:r>
            <a:r>
              <a:rPr lang="en-US" sz="3700" dirty="0"/>
              <a:t> </a:t>
            </a:r>
            <a:r>
              <a:rPr lang="en-US" sz="3700" dirty="0" err="1"/>
              <a:t>unik</a:t>
            </a:r>
            <a:r>
              <a:rPr lang="en-US" sz="3700" dirty="0"/>
              <a:t> </a:t>
            </a:r>
            <a:r>
              <a:rPr lang="en-US" sz="3700" dirty="0" err="1"/>
              <a:t>santri</a:t>
            </a:r>
            <a:r>
              <a:rPr lang="id-ID" sz="3700" dirty="0"/>
              <a:t>, dengan kedekatan, empati, mendengar santri, dialog, dsb</a:t>
            </a:r>
            <a:endParaRPr lang="en-US" sz="3700" dirty="0"/>
          </a:p>
          <a:p>
            <a:r>
              <a:rPr lang="en-US" sz="3700" dirty="0" err="1"/>
              <a:t>Memfasilitasi</a:t>
            </a:r>
            <a:r>
              <a:rPr lang="en-US" sz="3700" dirty="0"/>
              <a:t> </a:t>
            </a:r>
            <a:r>
              <a:rPr lang="en-US" sz="3700" dirty="0" err="1"/>
              <a:t>potensi</a:t>
            </a:r>
            <a:r>
              <a:rPr lang="en-US" sz="3700" dirty="0"/>
              <a:t> </a:t>
            </a:r>
            <a:r>
              <a:rPr lang="en-US" sz="3700" dirty="0" err="1"/>
              <a:t>unik</a:t>
            </a:r>
            <a:r>
              <a:rPr lang="en-US" sz="3700" dirty="0"/>
              <a:t> </a:t>
            </a:r>
            <a:r>
              <a:rPr lang="en-US" sz="3700" dirty="0" err="1"/>
              <a:t>santri</a:t>
            </a:r>
            <a:r>
              <a:rPr lang="id-ID" sz="3700" dirty="0"/>
              <a:t> (menjuruskan), dengan ekstrakurikuler, pelatihan, dsb</a:t>
            </a:r>
          </a:p>
          <a:p>
            <a:r>
              <a:rPr lang="id-ID" sz="3700" dirty="0"/>
              <a:t>Pembelajaran formal tanpa tekanan</a:t>
            </a:r>
          </a:p>
          <a:p>
            <a:r>
              <a:rPr lang="id-ID" sz="3700" dirty="0"/>
              <a:t>Tanpa kemarahan, tekanan, dan hukuman </a:t>
            </a:r>
            <a:endParaRPr lang="en-US" sz="3700" dirty="0"/>
          </a:p>
          <a:p>
            <a:endParaRPr lang="en-US" sz="3700" dirty="0"/>
          </a:p>
          <a:p>
            <a:pPr>
              <a:buNone/>
            </a:pPr>
            <a:r>
              <a:rPr lang="id-ID" sz="3700" i="1" dirty="0"/>
              <a:t>Recovery</a:t>
            </a:r>
            <a:r>
              <a:rPr lang="en-US" sz="3700" dirty="0"/>
              <a:t> personal </a:t>
            </a:r>
          </a:p>
          <a:p>
            <a:pPr>
              <a:buNone/>
            </a:pPr>
            <a:r>
              <a:rPr lang="en-US" sz="3700" dirty="0" err="1"/>
              <a:t>Ada</a:t>
            </a:r>
            <a:r>
              <a:rPr lang="en-US" sz="3700" dirty="0"/>
              <a:t> </a:t>
            </a:r>
            <a:r>
              <a:rPr lang="en-US" sz="3700" dirty="0" err="1"/>
              <a:t>efek</a:t>
            </a:r>
            <a:r>
              <a:rPr lang="en-US" sz="3700" dirty="0"/>
              <a:t> </a:t>
            </a:r>
            <a:r>
              <a:rPr lang="en-US" sz="3700" dirty="0" err="1"/>
              <a:t>samping</a:t>
            </a:r>
            <a:r>
              <a:rPr lang="en-US" sz="3700" dirty="0"/>
              <a:t> </a:t>
            </a:r>
            <a:r>
              <a:rPr lang="en-US" sz="3700" i="1" dirty="0"/>
              <a:t>“</a:t>
            </a:r>
            <a:r>
              <a:rPr lang="en-US" sz="3700" i="1" dirty="0" err="1"/>
              <a:t>euforia</a:t>
            </a:r>
            <a:r>
              <a:rPr lang="en-US" sz="3700" i="1" dirty="0"/>
              <a:t>”</a:t>
            </a:r>
          </a:p>
          <a:p>
            <a:pPr>
              <a:buNone/>
            </a:pPr>
            <a:endParaRPr lang="en-US" sz="3700" dirty="0"/>
          </a:p>
          <a:p>
            <a:pPr>
              <a:buNone/>
            </a:pPr>
            <a:r>
              <a:rPr lang="en-US" sz="3700" b="1" dirty="0"/>
              <a:t>SEMESTER GENAP:</a:t>
            </a:r>
          </a:p>
          <a:p>
            <a:r>
              <a:rPr lang="en-US" sz="3700" dirty="0" err="1"/>
              <a:t>Memulai</a:t>
            </a:r>
            <a:r>
              <a:rPr lang="en-US" sz="3700" dirty="0"/>
              <a:t> </a:t>
            </a:r>
            <a:r>
              <a:rPr lang="en-US" sz="3700" i="1" dirty="0"/>
              <a:t>start up</a:t>
            </a:r>
            <a:r>
              <a:rPr lang="en-US" sz="3700" dirty="0"/>
              <a:t> </a:t>
            </a:r>
            <a:r>
              <a:rPr lang="en-US" sz="3700" dirty="0" err="1"/>
              <a:t>pembelajaran</a:t>
            </a:r>
            <a:r>
              <a:rPr lang="en-US" sz="3700" dirty="0"/>
              <a:t> formal</a:t>
            </a:r>
            <a:r>
              <a:rPr lang="id-ID" sz="3700" dirty="0"/>
              <a:t>/</a:t>
            </a:r>
            <a:r>
              <a:rPr lang="en-US" sz="3700" dirty="0"/>
              <a:t> </a:t>
            </a:r>
            <a:r>
              <a:rPr lang="en-US" sz="3700" dirty="0" err="1"/>
              <a:t>diknas</a:t>
            </a:r>
            <a:r>
              <a:rPr lang="id-ID" sz="3700" dirty="0"/>
              <a:t>, ada </a:t>
            </a:r>
            <a:r>
              <a:rPr lang="id-ID" sz="3700" i="1" dirty="0"/>
              <a:t>reward </a:t>
            </a:r>
            <a:r>
              <a:rPr lang="id-ID" sz="3700" dirty="0"/>
              <a:t>dan </a:t>
            </a:r>
            <a:r>
              <a:rPr lang="id-ID" sz="3700" i="1" dirty="0"/>
              <a:t>punishment</a:t>
            </a:r>
            <a:endParaRPr lang="en-US" sz="3700" dirty="0"/>
          </a:p>
          <a:p>
            <a:r>
              <a:rPr lang="en-US" sz="3700" dirty="0" err="1"/>
              <a:t>Mempertimbangkan</a:t>
            </a:r>
            <a:r>
              <a:rPr lang="en-US" sz="3700" dirty="0"/>
              <a:t> </a:t>
            </a:r>
            <a:r>
              <a:rPr lang="en-US" sz="3700" dirty="0" err="1"/>
              <a:t>potensi</a:t>
            </a:r>
            <a:r>
              <a:rPr lang="en-US" sz="3700" dirty="0"/>
              <a:t> </a:t>
            </a:r>
            <a:r>
              <a:rPr lang="en-US" sz="3700" dirty="0" err="1"/>
              <a:t>unik</a:t>
            </a:r>
            <a:r>
              <a:rPr lang="en-US" sz="3700" dirty="0"/>
              <a:t> </a:t>
            </a:r>
            <a:r>
              <a:rPr lang="en-US" sz="3700" dirty="0" err="1"/>
              <a:t>anak</a:t>
            </a:r>
            <a:endParaRPr lang="en-US" sz="3700" dirty="0"/>
          </a:p>
          <a:p>
            <a:r>
              <a:rPr lang="en-US" sz="3700" dirty="0" err="1"/>
              <a:t>Pemagangan</a:t>
            </a:r>
            <a:r>
              <a:rPr lang="en-US" sz="3700" dirty="0"/>
              <a:t> </a:t>
            </a:r>
            <a:r>
              <a:rPr lang="en-US" sz="3700" dirty="0" err="1"/>
              <a:t>di</a:t>
            </a:r>
            <a:r>
              <a:rPr lang="en-US" sz="3700" dirty="0"/>
              <a:t> </a:t>
            </a:r>
            <a:r>
              <a:rPr lang="en-US" sz="3700" dirty="0" err="1"/>
              <a:t>luar</a:t>
            </a:r>
            <a:r>
              <a:rPr lang="en-US" sz="3700" dirty="0"/>
              <a:t> </a:t>
            </a:r>
            <a:r>
              <a:rPr lang="en-US" sz="3700" dirty="0" err="1"/>
              <a:t>hari</a:t>
            </a:r>
            <a:r>
              <a:rPr lang="en-US" sz="3700" dirty="0"/>
              <a:t> </a:t>
            </a:r>
            <a:r>
              <a:rPr lang="en-US" sz="3700" dirty="0" err="1"/>
              <a:t>efektif</a:t>
            </a:r>
            <a:r>
              <a:rPr lang="en-US" sz="3700" dirty="0"/>
              <a:t> </a:t>
            </a:r>
            <a:r>
              <a:rPr lang="en-US" sz="3700" dirty="0" err="1"/>
              <a:t>pembelajaran</a:t>
            </a:r>
            <a:endParaRPr lang="en-US" sz="3700" dirty="0"/>
          </a:p>
          <a:p>
            <a:r>
              <a:rPr lang="en-US" sz="3700" dirty="0" err="1"/>
              <a:t>Pelatihan</a:t>
            </a:r>
            <a:r>
              <a:rPr lang="en-US" sz="3700" dirty="0"/>
              <a:t> </a:t>
            </a:r>
            <a:r>
              <a:rPr lang="en-US" sz="3700" dirty="0" err="1"/>
              <a:t>pengasuhan</a:t>
            </a:r>
            <a:r>
              <a:rPr lang="en-US" sz="3700" dirty="0"/>
              <a:t> </a:t>
            </a:r>
            <a:r>
              <a:rPr lang="en-US" sz="3700" dirty="0" err="1"/>
              <a:t>terhadap</a:t>
            </a:r>
            <a:r>
              <a:rPr lang="en-US" sz="3700" dirty="0"/>
              <a:t> </a:t>
            </a:r>
            <a:r>
              <a:rPr lang="en-US" sz="3700" dirty="0" err="1"/>
              <a:t>adik</a:t>
            </a:r>
            <a:r>
              <a:rPr lang="en-US" sz="3700" dirty="0"/>
              <a:t> </a:t>
            </a:r>
            <a:r>
              <a:rPr lang="en-US" sz="3700" dirty="0" err="1"/>
              <a:t>kelas</a:t>
            </a:r>
            <a:r>
              <a:rPr lang="en-US" sz="3700" dirty="0"/>
              <a:t> (mentor</a:t>
            </a:r>
            <a:r>
              <a:rPr lang="id-ID" sz="3700" dirty="0"/>
              <a:t>/musyrif</a:t>
            </a:r>
            <a:r>
              <a:rPr lang="en-US" sz="3700" dirty="0"/>
              <a:t>)</a:t>
            </a:r>
            <a:r>
              <a:rPr lang="id-ID" sz="3700" dirty="0"/>
              <a:t>, untuk kelas 8</a:t>
            </a:r>
          </a:p>
          <a:p>
            <a:r>
              <a:rPr lang="id-ID" sz="3700" dirty="0"/>
              <a:t>Memberi tugas khusus kepada setiap santri terkait proses pembelajaran di sekolah</a:t>
            </a:r>
            <a:endParaRPr lang="en-US" dirty="0"/>
          </a:p>
        </p:txBody>
      </p:sp>
      <p:sp>
        <p:nvSpPr>
          <p:cNvPr id="6" name="Title 3"/>
          <p:cNvSpPr>
            <a:spLocks noGrp="1"/>
          </p:cNvSpPr>
          <p:nvPr>
            <p:ph type="title"/>
          </p:nvPr>
        </p:nvSpPr>
        <p:spPr>
          <a:xfrm>
            <a:off x="457200" y="-214338"/>
            <a:ext cx="8229600" cy="1143000"/>
          </a:xfrm>
        </p:spPr>
        <p:txBody>
          <a:bodyPr>
            <a:normAutofit/>
          </a:bodyPr>
          <a:lstStyle/>
          <a:p>
            <a:r>
              <a:rPr lang="en-US" sz="2000" dirty="0" err="1"/>
              <a:t>Metode</a:t>
            </a:r>
            <a:r>
              <a:rPr lang="en-US" sz="2000" dirty="0"/>
              <a:t> </a:t>
            </a:r>
            <a:r>
              <a:rPr lang="en-US" sz="2000" dirty="0" err="1"/>
              <a:t>pembelajaran</a:t>
            </a:r>
            <a:r>
              <a:rPr lang="en-US" sz="2000" dirty="0"/>
              <a:t> SMP (</a:t>
            </a:r>
            <a:r>
              <a:rPr lang="en-US" sz="2000" dirty="0" err="1"/>
              <a:t>umum</a:t>
            </a:r>
            <a:r>
              <a:rPr lang="en-US" sz="2000" dirty="0"/>
              <a:t>)</a:t>
            </a:r>
            <a:r>
              <a:rPr lang="id-ID" sz="2000" dirty="0"/>
              <a:t> </a:t>
            </a:r>
            <a:br>
              <a:rPr lang="id-ID" sz="2000" dirty="0"/>
            </a:br>
            <a:r>
              <a:rPr lang="id-ID" sz="2000" b="1" dirty="0"/>
              <a:t>SEKOLAH SUDAH BERJALAN</a:t>
            </a:r>
            <a:endParaRPr lang="en-US" sz="2000" b="1"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42918"/>
            <a:ext cx="8229600" cy="5857916"/>
          </a:xfrm>
          <a:ln w="3175">
            <a:noFill/>
          </a:ln>
        </p:spPr>
        <p:txBody>
          <a:bodyPr wrap="none" lIns="108000" tIns="0" rIns="0" bIns="0">
            <a:noAutofit/>
          </a:bodyPr>
          <a:lstStyle/>
          <a:p>
            <a:pPr marL="0">
              <a:spcBef>
                <a:spcPts val="0"/>
              </a:spcBef>
              <a:buNone/>
            </a:pPr>
            <a:endParaRPr lang="id-ID" sz="1800" dirty="0"/>
          </a:p>
          <a:p>
            <a:pPr marL="0">
              <a:spcBef>
                <a:spcPts val="0"/>
              </a:spcBef>
              <a:buNone/>
            </a:pPr>
            <a:r>
              <a:rPr lang="en-US" sz="1800" b="1" dirty="0"/>
              <a:t>PERSIAPAN:</a:t>
            </a:r>
          </a:p>
          <a:p>
            <a:pPr marL="0">
              <a:spcBef>
                <a:spcPts val="0"/>
              </a:spcBef>
              <a:buFont typeface="Wingdings" pitchFamily="2" charset="2"/>
              <a:buChar char="ü"/>
            </a:pPr>
            <a:r>
              <a:rPr lang="en-US" sz="1800" dirty="0"/>
              <a:t>P</a:t>
            </a:r>
            <a:r>
              <a:rPr lang="id-ID" sz="1800" dirty="0"/>
              <a:t>emaparan kepada orangtua santri (madrasah orangtua)</a:t>
            </a:r>
          </a:p>
          <a:p>
            <a:pPr marL="0">
              <a:spcBef>
                <a:spcPts val="0"/>
              </a:spcBef>
              <a:buFont typeface="Wingdings" pitchFamily="2" charset="2"/>
              <a:buChar char="ü"/>
            </a:pPr>
            <a:r>
              <a:rPr lang="id-ID" sz="1800" dirty="0"/>
              <a:t>Pelatihan pengasuhan bagi santri senior (musyrif)</a:t>
            </a:r>
            <a:endParaRPr lang="en-US" sz="1800" dirty="0"/>
          </a:p>
          <a:p>
            <a:pPr marL="0">
              <a:spcBef>
                <a:spcPts val="0"/>
              </a:spcBef>
              <a:buNone/>
            </a:pPr>
            <a:endParaRPr lang="en-US" sz="1800" dirty="0"/>
          </a:p>
          <a:p>
            <a:pPr marL="0">
              <a:spcBef>
                <a:spcPts val="0"/>
              </a:spcBef>
              <a:buNone/>
            </a:pPr>
            <a:r>
              <a:rPr lang="id-ID" sz="1800" b="1" dirty="0"/>
              <a:t>SEMESTER GASAL:</a:t>
            </a:r>
          </a:p>
          <a:p>
            <a:pPr marL="0">
              <a:spcBef>
                <a:spcPts val="0"/>
              </a:spcBef>
            </a:pPr>
            <a:r>
              <a:rPr lang="en-US" sz="1800" dirty="0" err="1"/>
              <a:t>Menjadikan</a:t>
            </a:r>
            <a:r>
              <a:rPr lang="en-US" sz="1800" dirty="0"/>
              <a:t> </a:t>
            </a:r>
            <a:r>
              <a:rPr lang="en-US" sz="1800" dirty="0" err="1"/>
              <a:t>kesan</a:t>
            </a:r>
            <a:r>
              <a:rPr lang="en-US" sz="1800" dirty="0"/>
              <a:t> </a:t>
            </a:r>
            <a:r>
              <a:rPr lang="en-US" sz="1800" dirty="0" err="1"/>
              <a:t>terhadap</a:t>
            </a:r>
            <a:r>
              <a:rPr lang="en-US" sz="1800" dirty="0"/>
              <a:t> </a:t>
            </a:r>
            <a:r>
              <a:rPr lang="id-ID" sz="1800" dirty="0"/>
              <a:t>pondok adalah</a:t>
            </a:r>
            <a:r>
              <a:rPr lang="en-US" sz="1800" dirty="0"/>
              <a:t> “</a:t>
            </a:r>
            <a:r>
              <a:rPr lang="en-US" sz="1800" dirty="0" err="1"/>
              <a:t>mempesona</a:t>
            </a:r>
            <a:r>
              <a:rPr lang="en-US" sz="1800" dirty="0"/>
              <a:t>”</a:t>
            </a:r>
          </a:p>
          <a:p>
            <a:pPr marL="0">
              <a:spcBef>
                <a:spcPts val="0"/>
              </a:spcBef>
            </a:pPr>
            <a:r>
              <a:rPr lang="en-US" sz="1800" dirty="0" err="1"/>
              <a:t>Menggali</a:t>
            </a:r>
            <a:r>
              <a:rPr lang="en-US" sz="1800" dirty="0"/>
              <a:t> </a:t>
            </a:r>
            <a:r>
              <a:rPr lang="en-US" sz="1800" dirty="0" err="1"/>
              <a:t>potensi</a:t>
            </a:r>
            <a:r>
              <a:rPr lang="en-US" sz="1800" dirty="0"/>
              <a:t> </a:t>
            </a:r>
            <a:r>
              <a:rPr lang="en-US" sz="1800" dirty="0" err="1"/>
              <a:t>unik</a:t>
            </a:r>
            <a:r>
              <a:rPr lang="en-US" sz="1800" dirty="0"/>
              <a:t> </a:t>
            </a:r>
            <a:r>
              <a:rPr lang="en-US" sz="1800" dirty="0" err="1"/>
              <a:t>santri</a:t>
            </a:r>
            <a:r>
              <a:rPr lang="id-ID" sz="1800" dirty="0"/>
              <a:t>, dengan kedekatan, empati, mendengar santri, dialog, dsb</a:t>
            </a:r>
            <a:endParaRPr lang="en-US" sz="1800" dirty="0"/>
          </a:p>
          <a:p>
            <a:pPr marL="0">
              <a:spcBef>
                <a:spcPts val="0"/>
              </a:spcBef>
            </a:pPr>
            <a:r>
              <a:rPr lang="en-US" sz="1800" dirty="0" err="1"/>
              <a:t>Memfasilitasi</a:t>
            </a:r>
            <a:r>
              <a:rPr lang="en-US" sz="1800" dirty="0"/>
              <a:t> </a:t>
            </a:r>
            <a:r>
              <a:rPr lang="en-US" sz="1800" dirty="0" err="1"/>
              <a:t>potensi</a:t>
            </a:r>
            <a:r>
              <a:rPr lang="en-US" sz="1800" dirty="0"/>
              <a:t> </a:t>
            </a:r>
            <a:r>
              <a:rPr lang="en-US" sz="1800" dirty="0" err="1"/>
              <a:t>unik</a:t>
            </a:r>
            <a:r>
              <a:rPr lang="en-US" sz="1800" dirty="0"/>
              <a:t> </a:t>
            </a:r>
            <a:r>
              <a:rPr lang="en-US" sz="1800" dirty="0" err="1"/>
              <a:t>santri</a:t>
            </a:r>
            <a:r>
              <a:rPr lang="id-ID" sz="1800" dirty="0"/>
              <a:t> (menjuruskan), dengan ekstrakurikuler, pelatihan, dsb</a:t>
            </a:r>
          </a:p>
          <a:p>
            <a:pPr marL="0">
              <a:spcBef>
                <a:spcPts val="0"/>
              </a:spcBef>
            </a:pPr>
            <a:r>
              <a:rPr lang="id-ID" sz="1800" dirty="0"/>
              <a:t>Pembelajaran formal tanpa tekanan</a:t>
            </a:r>
          </a:p>
          <a:p>
            <a:pPr marL="0">
              <a:spcBef>
                <a:spcPts val="0"/>
              </a:spcBef>
            </a:pPr>
            <a:r>
              <a:rPr lang="id-ID" sz="1800" dirty="0"/>
              <a:t>Tanpa kemarahan, tekanan, dan hukuman </a:t>
            </a:r>
            <a:endParaRPr lang="en-US" sz="1800" dirty="0"/>
          </a:p>
          <a:p>
            <a:pPr marL="0">
              <a:spcBef>
                <a:spcPts val="0"/>
              </a:spcBef>
            </a:pPr>
            <a:endParaRPr lang="en-US" sz="1800" dirty="0"/>
          </a:p>
          <a:p>
            <a:pPr marL="0">
              <a:spcBef>
                <a:spcPts val="0"/>
              </a:spcBef>
              <a:buFont typeface="Wingdings" pitchFamily="2" charset="2"/>
              <a:buChar char="ü"/>
            </a:pPr>
            <a:r>
              <a:rPr lang="id-ID" sz="1800" i="1" dirty="0"/>
              <a:t>Recovery</a:t>
            </a:r>
            <a:r>
              <a:rPr lang="en-US" sz="1800" dirty="0"/>
              <a:t> </a:t>
            </a:r>
            <a:r>
              <a:rPr lang="id-ID" sz="1800" dirty="0"/>
              <a:t> secara </a:t>
            </a:r>
            <a:r>
              <a:rPr lang="en-US" sz="1800" dirty="0"/>
              <a:t>personal </a:t>
            </a:r>
          </a:p>
          <a:p>
            <a:pPr marL="0">
              <a:spcBef>
                <a:spcPts val="0"/>
              </a:spcBef>
              <a:buFont typeface="Wingdings" pitchFamily="2" charset="2"/>
              <a:buChar char="ü"/>
            </a:pPr>
            <a:r>
              <a:rPr lang="en-US" sz="1800" dirty="0" err="1"/>
              <a:t>Ada</a:t>
            </a:r>
            <a:r>
              <a:rPr lang="en-US" sz="1800" dirty="0"/>
              <a:t> </a:t>
            </a:r>
            <a:r>
              <a:rPr lang="en-US" sz="1800" dirty="0" err="1"/>
              <a:t>efek</a:t>
            </a:r>
            <a:r>
              <a:rPr lang="en-US" sz="1800" dirty="0"/>
              <a:t> </a:t>
            </a:r>
            <a:r>
              <a:rPr lang="en-US" sz="1800" dirty="0" err="1"/>
              <a:t>samping</a:t>
            </a:r>
            <a:r>
              <a:rPr lang="en-US" sz="1800" dirty="0"/>
              <a:t> </a:t>
            </a:r>
            <a:r>
              <a:rPr lang="en-US" sz="1800" i="1" dirty="0"/>
              <a:t>“</a:t>
            </a:r>
            <a:r>
              <a:rPr lang="en-US" sz="1800" i="1" dirty="0" err="1"/>
              <a:t>euforia</a:t>
            </a:r>
            <a:r>
              <a:rPr lang="en-US" sz="1800" i="1" dirty="0"/>
              <a:t>”</a:t>
            </a:r>
          </a:p>
          <a:p>
            <a:pPr marL="0">
              <a:spcBef>
                <a:spcPts val="0"/>
              </a:spcBef>
              <a:buNone/>
            </a:pPr>
            <a:endParaRPr lang="en-US" sz="1800" dirty="0"/>
          </a:p>
          <a:p>
            <a:pPr marL="0">
              <a:spcBef>
                <a:spcPts val="0"/>
              </a:spcBef>
              <a:buNone/>
            </a:pPr>
            <a:r>
              <a:rPr lang="en-US" sz="1800" b="1" dirty="0"/>
              <a:t>SEMESTER GENAP:</a:t>
            </a:r>
          </a:p>
          <a:p>
            <a:pPr marL="0">
              <a:spcBef>
                <a:spcPts val="0"/>
              </a:spcBef>
            </a:pPr>
            <a:r>
              <a:rPr lang="en-US" sz="1800" dirty="0" err="1"/>
              <a:t>Memulai</a:t>
            </a:r>
            <a:r>
              <a:rPr lang="en-US" sz="1800" dirty="0"/>
              <a:t> </a:t>
            </a:r>
            <a:r>
              <a:rPr lang="en-US" sz="1800" i="1" dirty="0"/>
              <a:t>start up</a:t>
            </a:r>
            <a:r>
              <a:rPr lang="en-US" sz="1800" dirty="0"/>
              <a:t> </a:t>
            </a:r>
            <a:r>
              <a:rPr lang="en-US" sz="1800" dirty="0" err="1"/>
              <a:t>pembelajaran</a:t>
            </a:r>
            <a:r>
              <a:rPr lang="en-US" sz="1800" dirty="0"/>
              <a:t> formal</a:t>
            </a:r>
            <a:r>
              <a:rPr lang="id-ID" sz="1800" dirty="0"/>
              <a:t> pondok, , ada </a:t>
            </a:r>
            <a:r>
              <a:rPr lang="id-ID" sz="1800" i="1" dirty="0"/>
              <a:t>reward </a:t>
            </a:r>
            <a:r>
              <a:rPr lang="id-ID" sz="1800" dirty="0"/>
              <a:t>dan </a:t>
            </a:r>
            <a:r>
              <a:rPr lang="id-ID" sz="1800" i="1" dirty="0"/>
              <a:t>punishment</a:t>
            </a:r>
            <a:endParaRPr lang="en-US" sz="1800" dirty="0"/>
          </a:p>
          <a:p>
            <a:pPr marL="0">
              <a:spcBef>
                <a:spcPts val="0"/>
              </a:spcBef>
            </a:pPr>
            <a:r>
              <a:rPr lang="en-US" sz="1800" dirty="0" err="1"/>
              <a:t>Mempertimbangkan</a:t>
            </a:r>
            <a:r>
              <a:rPr lang="en-US" sz="1800" dirty="0"/>
              <a:t> </a:t>
            </a:r>
            <a:r>
              <a:rPr lang="en-US" sz="1800" dirty="0" err="1"/>
              <a:t>potensi</a:t>
            </a:r>
            <a:r>
              <a:rPr lang="en-US" sz="1800" dirty="0"/>
              <a:t> </a:t>
            </a:r>
            <a:r>
              <a:rPr lang="en-US" sz="1800" dirty="0" err="1"/>
              <a:t>unik</a:t>
            </a:r>
            <a:r>
              <a:rPr lang="en-US" sz="1800" dirty="0"/>
              <a:t> </a:t>
            </a:r>
            <a:r>
              <a:rPr lang="id-ID" sz="1800" dirty="0"/>
              <a:t>santri (non formal: santri boleh belajar kitab tertentu) </a:t>
            </a:r>
            <a:endParaRPr lang="en-US" sz="1800" dirty="0"/>
          </a:p>
          <a:p>
            <a:pPr marL="0">
              <a:spcBef>
                <a:spcPts val="0"/>
              </a:spcBef>
            </a:pPr>
            <a:r>
              <a:rPr lang="en-US" sz="1800" dirty="0" err="1"/>
              <a:t>Pemagangan</a:t>
            </a:r>
            <a:r>
              <a:rPr lang="en-US" sz="1800" dirty="0"/>
              <a:t> </a:t>
            </a:r>
            <a:r>
              <a:rPr lang="en-US" sz="1800" dirty="0" err="1"/>
              <a:t>di</a:t>
            </a:r>
            <a:r>
              <a:rPr lang="en-US" sz="1800" dirty="0"/>
              <a:t> </a:t>
            </a:r>
            <a:r>
              <a:rPr lang="en-US" sz="1800" dirty="0" err="1"/>
              <a:t>luar</a:t>
            </a:r>
            <a:r>
              <a:rPr lang="en-US" sz="1800" dirty="0"/>
              <a:t> </a:t>
            </a:r>
            <a:r>
              <a:rPr lang="en-US" sz="1800" dirty="0" err="1"/>
              <a:t>hari</a:t>
            </a:r>
            <a:r>
              <a:rPr lang="en-US" sz="1800" dirty="0"/>
              <a:t> </a:t>
            </a:r>
            <a:r>
              <a:rPr lang="en-US" sz="1800" dirty="0" err="1"/>
              <a:t>efektif</a:t>
            </a:r>
            <a:r>
              <a:rPr lang="en-US" sz="1800" dirty="0"/>
              <a:t> </a:t>
            </a:r>
            <a:r>
              <a:rPr lang="en-US" sz="1800" dirty="0" err="1"/>
              <a:t>pembelajaran</a:t>
            </a:r>
            <a:endParaRPr lang="en-US" sz="1800" dirty="0"/>
          </a:p>
          <a:p>
            <a:pPr marL="0">
              <a:spcBef>
                <a:spcPts val="0"/>
              </a:spcBef>
            </a:pPr>
            <a:r>
              <a:rPr lang="en-US" sz="1800" dirty="0" err="1"/>
              <a:t>Pelatihan</a:t>
            </a:r>
            <a:r>
              <a:rPr lang="en-US" sz="1800" dirty="0"/>
              <a:t> </a:t>
            </a:r>
            <a:r>
              <a:rPr lang="en-US" sz="1800" dirty="0" err="1"/>
              <a:t>pengasuhan</a:t>
            </a:r>
            <a:r>
              <a:rPr lang="en-US" sz="1800" dirty="0"/>
              <a:t> </a:t>
            </a:r>
            <a:r>
              <a:rPr lang="en-US" sz="1800" dirty="0" err="1"/>
              <a:t>terhadap</a:t>
            </a:r>
            <a:r>
              <a:rPr lang="en-US" sz="1800" dirty="0"/>
              <a:t> </a:t>
            </a:r>
            <a:r>
              <a:rPr lang="en-US" sz="1800" dirty="0" err="1"/>
              <a:t>adik</a:t>
            </a:r>
            <a:r>
              <a:rPr lang="en-US" sz="1800" dirty="0"/>
              <a:t> </a:t>
            </a:r>
            <a:r>
              <a:rPr lang="en-US" sz="1800" dirty="0" err="1"/>
              <a:t>kelas</a:t>
            </a:r>
            <a:r>
              <a:rPr lang="en-US" sz="1800" dirty="0"/>
              <a:t> </a:t>
            </a:r>
            <a:r>
              <a:rPr lang="id-ID" sz="1800" dirty="0"/>
              <a:t>(musyrif)</a:t>
            </a:r>
          </a:p>
          <a:p>
            <a:pPr marL="0">
              <a:spcBef>
                <a:spcPts val="0"/>
              </a:spcBef>
            </a:pPr>
            <a:r>
              <a:rPr lang="id-ID" sz="1800" dirty="0"/>
              <a:t>Memberi tugas khusus kepada setiap santri terkait proses pembelajaran di sekolah</a:t>
            </a:r>
            <a:endParaRPr lang="en-US" sz="1800" dirty="0"/>
          </a:p>
        </p:txBody>
      </p:sp>
      <p:sp>
        <p:nvSpPr>
          <p:cNvPr id="6" name="Title 3"/>
          <p:cNvSpPr>
            <a:spLocks noGrp="1"/>
          </p:cNvSpPr>
          <p:nvPr>
            <p:ph type="title"/>
          </p:nvPr>
        </p:nvSpPr>
        <p:spPr>
          <a:xfrm>
            <a:off x="457200" y="-214338"/>
            <a:ext cx="8229600" cy="1143000"/>
          </a:xfrm>
        </p:spPr>
        <p:txBody>
          <a:bodyPr>
            <a:normAutofit/>
          </a:bodyPr>
          <a:lstStyle/>
          <a:p>
            <a:r>
              <a:rPr lang="en-US" sz="2000" dirty="0" err="1"/>
              <a:t>Metode</a:t>
            </a:r>
            <a:r>
              <a:rPr lang="en-US" sz="2000" dirty="0"/>
              <a:t> </a:t>
            </a:r>
            <a:r>
              <a:rPr lang="en-US" sz="2000" dirty="0" err="1"/>
              <a:t>pembelajaran</a:t>
            </a:r>
            <a:r>
              <a:rPr lang="en-US" sz="2000" dirty="0"/>
              <a:t> SMP (</a:t>
            </a:r>
            <a:r>
              <a:rPr lang="en-US" sz="2000" dirty="0" err="1"/>
              <a:t>umum</a:t>
            </a:r>
            <a:r>
              <a:rPr lang="en-US" sz="2000" dirty="0"/>
              <a:t>)</a:t>
            </a:r>
            <a:r>
              <a:rPr lang="id-ID" sz="2000" dirty="0"/>
              <a:t> </a:t>
            </a:r>
            <a:br>
              <a:rPr lang="id-ID" sz="2000" dirty="0"/>
            </a:br>
            <a:r>
              <a:rPr lang="id-ID" sz="2000" b="1" dirty="0"/>
              <a:t>PONDOK PESANTREN / BOARDING SCHOOL </a:t>
            </a:r>
            <a:endParaRPr lang="en-US" sz="2000" b="1"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14562"/>
            <a:ext cx="8229600" cy="1143000"/>
          </a:xfrm>
        </p:spPr>
        <p:txBody>
          <a:bodyPr/>
          <a:lstStyle/>
          <a:p>
            <a:r>
              <a:rPr lang="id-ID" dirty="0"/>
              <a:t>Pembelajaran SMA (umum)</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 name="Rectangle 5"/>
          <p:cNvSpPr/>
          <p:nvPr/>
        </p:nvSpPr>
        <p:spPr>
          <a:xfrm>
            <a:off x="1428728" y="142852"/>
            <a:ext cx="7715304" cy="7017306"/>
          </a:xfrm>
          <a:prstGeom prst="rect">
            <a:avLst/>
          </a:prstGeom>
        </p:spPr>
        <p:txBody>
          <a:bodyPr wrap="square">
            <a:spAutoFit/>
          </a:bodyPr>
          <a:lstStyle/>
          <a:p>
            <a:pPr marL="266700" indent="-266700" defTabSz="0"/>
            <a:r>
              <a:rPr lang="en-US" dirty="0">
                <a:solidFill>
                  <a:schemeClr val="bg1"/>
                </a:solidFill>
                <a:ea typeface="Times New Roman" pitchFamily="18" charset="0"/>
                <a:cs typeface="Traditional Arabic" pitchFamily="2" charset="-78"/>
              </a:rPr>
              <a:t>KONDISI ANAK:</a:t>
            </a:r>
            <a:endParaRPr lang="id-ID" dirty="0">
              <a:solidFill>
                <a:schemeClr val="bg1"/>
              </a:solidFill>
              <a:ea typeface="Times New Roman" pitchFamily="18" charset="0"/>
              <a:cs typeface="Traditional Arabic" pitchFamily="2" charset="-78"/>
            </a:endParaRPr>
          </a:p>
          <a:p>
            <a:pPr>
              <a:buFont typeface="Wingdings" pitchFamily="2" charset="2"/>
              <a:buChar char="ü"/>
            </a:pPr>
            <a:r>
              <a:rPr lang="id-ID" dirty="0">
                <a:solidFill>
                  <a:srgbClr val="FFFF00"/>
                </a:solidFill>
              </a:rPr>
              <a:t>Remaja (baligh tetapi belum aqil)</a:t>
            </a:r>
          </a:p>
          <a:p>
            <a:pPr>
              <a:buFont typeface="Wingdings" pitchFamily="2" charset="2"/>
              <a:buChar char="ü"/>
            </a:pPr>
            <a:r>
              <a:rPr lang="id-ID" dirty="0">
                <a:solidFill>
                  <a:srgbClr val="FFFF00"/>
                </a:solidFill>
              </a:rPr>
              <a:t>Penumbuhan karakter belum tuntas, santri condong</a:t>
            </a:r>
            <a:r>
              <a:rPr lang="en-US" dirty="0">
                <a:solidFill>
                  <a:srgbClr val="FFFF00"/>
                </a:solidFill>
              </a:rPr>
              <a:t> </a:t>
            </a:r>
            <a:r>
              <a:rPr lang="en-US" dirty="0" err="1">
                <a:solidFill>
                  <a:srgbClr val="FFFF00"/>
                </a:solidFill>
              </a:rPr>
              <a:t>untuk</a:t>
            </a:r>
            <a:r>
              <a:rPr lang="id-ID" dirty="0">
                <a:solidFill>
                  <a:srgbClr val="FFFF00"/>
                </a:solidFill>
              </a:rPr>
              <a:t>:</a:t>
            </a:r>
            <a:r>
              <a:rPr lang="en-US" dirty="0">
                <a:solidFill>
                  <a:srgbClr val="FFFF00"/>
                </a:solidFill>
              </a:rPr>
              <a:t> </a:t>
            </a:r>
            <a:endParaRPr lang="id-ID" dirty="0">
              <a:solidFill>
                <a:srgbClr val="FFFF00"/>
              </a:solidFill>
            </a:endParaRPr>
          </a:p>
          <a:p>
            <a:pPr marL="531813" indent="-258763">
              <a:buFont typeface="Calibri" pitchFamily="34" charset="0"/>
              <a:buChar char="–"/>
            </a:pPr>
            <a:r>
              <a:rPr lang="id-ID" dirty="0">
                <a:solidFill>
                  <a:srgbClr val="FFFF00"/>
                </a:solidFill>
              </a:rPr>
              <a:t>Menikah</a:t>
            </a:r>
            <a:endParaRPr lang="en-US" dirty="0">
              <a:solidFill>
                <a:srgbClr val="FFFF00"/>
              </a:solidFill>
            </a:endParaRPr>
          </a:p>
          <a:p>
            <a:pPr marL="531813" indent="-258763">
              <a:buFont typeface="Calibri" pitchFamily="34" charset="0"/>
              <a:buChar char="–"/>
            </a:pPr>
            <a:r>
              <a:rPr lang="id-ID" dirty="0">
                <a:solidFill>
                  <a:srgbClr val="FFFF00"/>
                </a:solidFill>
              </a:rPr>
              <a:t>Mandiri b</a:t>
            </a:r>
            <a:r>
              <a:rPr lang="en-US" dirty="0" err="1">
                <a:solidFill>
                  <a:srgbClr val="FFFF00"/>
                </a:solidFill>
              </a:rPr>
              <a:t>erkarya</a:t>
            </a:r>
            <a:r>
              <a:rPr lang="en-US" dirty="0">
                <a:solidFill>
                  <a:srgbClr val="FFFF00"/>
                </a:solidFill>
              </a:rPr>
              <a:t> </a:t>
            </a:r>
            <a:endParaRPr lang="id-ID" dirty="0">
              <a:solidFill>
                <a:srgbClr val="FFFF00"/>
              </a:solidFill>
            </a:endParaRPr>
          </a:p>
          <a:p>
            <a:pPr marL="531813" indent="-258763"/>
            <a:r>
              <a:rPr lang="id-ID" dirty="0">
                <a:solidFill>
                  <a:srgbClr val="FFFF00"/>
                </a:solidFill>
              </a:rPr>
              <a:t>Tetapi belum mampu</a:t>
            </a:r>
            <a:endParaRPr lang="en-US" dirty="0">
              <a:solidFill>
                <a:srgbClr val="FFFF00"/>
              </a:solidFill>
            </a:endParaRPr>
          </a:p>
          <a:p>
            <a:pPr marL="449263" lvl="0" indent="-449263"/>
            <a:endParaRPr lang="en-US" i="1" dirty="0">
              <a:solidFill>
                <a:srgbClr val="FFFF00"/>
              </a:solidFill>
            </a:endParaRPr>
          </a:p>
          <a:p>
            <a:pPr marL="449263" lvl="0" indent="-449263"/>
            <a:r>
              <a:rPr lang="en-US" dirty="0">
                <a:solidFill>
                  <a:schemeClr val="bg1"/>
                </a:solidFill>
              </a:rPr>
              <a:t>DASAR PEMBELAJARAN:</a:t>
            </a:r>
          </a:p>
          <a:p>
            <a:pPr>
              <a:buFont typeface="Wingdings" pitchFamily="2" charset="2"/>
              <a:buChar char="ü"/>
            </a:pPr>
            <a:r>
              <a:rPr lang="id-ID" i="1" dirty="0">
                <a:solidFill>
                  <a:srgbClr val="FFFF00"/>
                </a:solidFill>
              </a:rPr>
              <a:t>Recovery</a:t>
            </a:r>
          </a:p>
          <a:p>
            <a:pPr>
              <a:buFont typeface="Wingdings" pitchFamily="2" charset="2"/>
              <a:buChar char="ü"/>
            </a:pPr>
            <a:r>
              <a:rPr lang="id-ID" i="1" dirty="0">
                <a:solidFill>
                  <a:srgbClr val="FFFF00"/>
                </a:solidFill>
              </a:rPr>
              <a:t>Pembelajaran aqil baligh</a:t>
            </a:r>
          </a:p>
          <a:p>
            <a:pPr marL="531813" indent="-258763">
              <a:buFont typeface="Calibri" pitchFamily="34" charset="0"/>
              <a:buChar char="–"/>
            </a:pPr>
            <a:r>
              <a:rPr lang="en-US" dirty="0" err="1">
                <a:solidFill>
                  <a:srgbClr val="FFFF00"/>
                </a:solidFill>
              </a:rPr>
              <a:t>Pembelajaran</a:t>
            </a:r>
            <a:r>
              <a:rPr lang="en-US" dirty="0">
                <a:solidFill>
                  <a:srgbClr val="FFFF00"/>
                </a:solidFill>
              </a:rPr>
              <a:t> </a:t>
            </a:r>
            <a:r>
              <a:rPr lang="en-US" dirty="0" err="1">
                <a:solidFill>
                  <a:srgbClr val="FFFF00"/>
                </a:solidFill>
              </a:rPr>
              <a:t>dengan</a:t>
            </a:r>
            <a:r>
              <a:rPr lang="en-US" dirty="0">
                <a:solidFill>
                  <a:srgbClr val="FFFF00"/>
                </a:solidFill>
              </a:rPr>
              <a:t> </a:t>
            </a:r>
            <a:r>
              <a:rPr lang="en-US" dirty="0" err="1">
                <a:solidFill>
                  <a:srgbClr val="FFFF00"/>
                </a:solidFill>
              </a:rPr>
              <a:t>pendisiplinan</a:t>
            </a:r>
            <a:r>
              <a:rPr lang="en-US" dirty="0">
                <a:solidFill>
                  <a:srgbClr val="FFFF00"/>
                </a:solidFill>
              </a:rPr>
              <a:t> </a:t>
            </a:r>
            <a:r>
              <a:rPr lang="en-US" dirty="0" err="1">
                <a:solidFill>
                  <a:srgbClr val="FFFF00"/>
                </a:solidFill>
              </a:rPr>
              <a:t>dan</a:t>
            </a:r>
            <a:r>
              <a:rPr lang="en-US" dirty="0">
                <a:solidFill>
                  <a:srgbClr val="FFFF00"/>
                </a:solidFill>
              </a:rPr>
              <a:t> </a:t>
            </a:r>
            <a:r>
              <a:rPr lang="en-US" dirty="0" err="1">
                <a:solidFill>
                  <a:srgbClr val="FFFF00"/>
                </a:solidFill>
              </a:rPr>
              <a:t>tanggung</a:t>
            </a:r>
            <a:r>
              <a:rPr lang="en-US" dirty="0">
                <a:solidFill>
                  <a:srgbClr val="FFFF00"/>
                </a:solidFill>
              </a:rPr>
              <a:t> </a:t>
            </a:r>
            <a:r>
              <a:rPr lang="en-US" dirty="0" err="1">
                <a:solidFill>
                  <a:srgbClr val="FFFF00"/>
                </a:solidFill>
              </a:rPr>
              <a:t>jawab</a:t>
            </a:r>
            <a:endParaRPr lang="en-US" dirty="0">
              <a:solidFill>
                <a:srgbClr val="FFFF00"/>
              </a:solidFill>
            </a:endParaRPr>
          </a:p>
          <a:p>
            <a:pPr marL="531813" indent="-258763">
              <a:buFont typeface="Calibri" pitchFamily="34" charset="0"/>
              <a:buChar char="–"/>
            </a:pPr>
            <a:r>
              <a:rPr lang="en-US" dirty="0" err="1">
                <a:solidFill>
                  <a:srgbClr val="FFFF00"/>
                </a:solidFill>
              </a:rPr>
              <a:t>Menjuruskan</a:t>
            </a:r>
            <a:r>
              <a:rPr lang="en-US" dirty="0">
                <a:solidFill>
                  <a:srgbClr val="FFFF00"/>
                </a:solidFill>
              </a:rPr>
              <a:t> </a:t>
            </a:r>
            <a:r>
              <a:rPr lang="en-US" dirty="0" err="1">
                <a:solidFill>
                  <a:srgbClr val="FFFF00"/>
                </a:solidFill>
              </a:rPr>
              <a:t>pada</a:t>
            </a:r>
            <a:r>
              <a:rPr lang="en-US" dirty="0">
                <a:solidFill>
                  <a:srgbClr val="FFFF00"/>
                </a:solidFill>
              </a:rPr>
              <a:t> </a:t>
            </a:r>
            <a:r>
              <a:rPr lang="en-US" dirty="0" err="1">
                <a:solidFill>
                  <a:srgbClr val="FFFF00"/>
                </a:solidFill>
              </a:rPr>
              <a:t>potensi</a:t>
            </a:r>
            <a:r>
              <a:rPr lang="en-US" dirty="0">
                <a:solidFill>
                  <a:srgbClr val="FFFF00"/>
                </a:solidFill>
              </a:rPr>
              <a:t> </a:t>
            </a:r>
            <a:r>
              <a:rPr lang="en-US" dirty="0" err="1">
                <a:solidFill>
                  <a:srgbClr val="FFFF00"/>
                </a:solidFill>
              </a:rPr>
              <a:t>uniknya</a:t>
            </a:r>
            <a:endParaRPr lang="en-US" dirty="0">
              <a:solidFill>
                <a:srgbClr val="FFFF00"/>
              </a:solidFill>
            </a:endParaRPr>
          </a:p>
          <a:p>
            <a:pPr marL="531813" indent="-258763">
              <a:buFont typeface="Calibri" pitchFamily="34" charset="0"/>
              <a:buChar char="–"/>
            </a:pPr>
            <a:r>
              <a:rPr lang="en-US" dirty="0" err="1">
                <a:solidFill>
                  <a:srgbClr val="FFFF00"/>
                </a:solidFill>
              </a:rPr>
              <a:t>Memagangkan</a:t>
            </a:r>
            <a:r>
              <a:rPr lang="en-US" dirty="0">
                <a:solidFill>
                  <a:srgbClr val="FFFF00"/>
                </a:solidFill>
              </a:rPr>
              <a:t> </a:t>
            </a:r>
            <a:r>
              <a:rPr lang="en-US" dirty="0" err="1">
                <a:solidFill>
                  <a:srgbClr val="FFFF00"/>
                </a:solidFill>
              </a:rPr>
              <a:t>pada</a:t>
            </a:r>
            <a:r>
              <a:rPr lang="en-US" dirty="0">
                <a:solidFill>
                  <a:srgbClr val="FFFF00"/>
                </a:solidFill>
              </a:rPr>
              <a:t> </a:t>
            </a:r>
            <a:r>
              <a:rPr lang="en-US" dirty="0" err="1">
                <a:solidFill>
                  <a:srgbClr val="FFFF00"/>
                </a:solidFill>
              </a:rPr>
              <a:t>bidang</a:t>
            </a:r>
            <a:r>
              <a:rPr lang="en-US" dirty="0">
                <a:solidFill>
                  <a:srgbClr val="FFFF00"/>
                </a:solidFill>
              </a:rPr>
              <a:t> </a:t>
            </a:r>
            <a:r>
              <a:rPr lang="en-US" dirty="0" err="1">
                <a:solidFill>
                  <a:srgbClr val="FFFF00"/>
                </a:solidFill>
              </a:rPr>
              <a:t>bakatnya</a:t>
            </a:r>
            <a:endParaRPr lang="id-ID" dirty="0">
              <a:solidFill>
                <a:srgbClr val="FFFF00"/>
              </a:solidFill>
            </a:endParaRPr>
          </a:p>
          <a:p>
            <a:pPr marL="531813" indent="-258763">
              <a:buFont typeface="Calibri" pitchFamily="34" charset="0"/>
              <a:buChar char="–"/>
            </a:pPr>
            <a:r>
              <a:rPr lang="id-ID" dirty="0">
                <a:solidFill>
                  <a:srgbClr val="FFFF00"/>
                </a:solidFill>
              </a:rPr>
              <a:t>Pembelajaran kerumahtanggaan</a:t>
            </a:r>
            <a:endParaRPr lang="en-US" dirty="0">
              <a:solidFill>
                <a:srgbClr val="FFFF00"/>
              </a:solidFill>
            </a:endParaRPr>
          </a:p>
          <a:p>
            <a:pPr marL="449263" lvl="0" indent="-449263">
              <a:buFont typeface="Wingdings" pitchFamily="2" charset="2"/>
              <a:buChar char="ü"/>
            </a:pPr>
            <a:endParaRPr lang="en-US" dirty="0">
              <a:solidFill>
                <a:srgbClr val="FFFF00"/>
              </a:solidFill>
            </a:endParaRPr>
          </a:p>
          <a:p>
            <a:r>
              <a:rPr lang="en-US" dirty="0">
                <a:solidFill>
                  <a:schemeClr val="bg1"/>
                </a:solidFill>
              </a:rPr>
              <a:t>CARA BELAJAR ANAK:</a:t>
            </a:r>
          </a:p>
          <a:p>
            <a:pPr>
              <a:buFont typeface="Wingdings" pitchFamily="2" charset="2"/>
              <a:buChar char="ü"/>
            </a:pPr>
            <a:r>
              <a:rPr lang="id-ID" dirty="0">
                <a:solidFill>
                  <a:srgbClr val="FFFF00"/>
                </a:solidFill>
              </a:rPr>
              <a:t>Komplek</a:t>
            </a:r>
            <a:endParaRPr lang="en-US" dirty="0">
              <a:solidFill>
                <a:srgbClr val="FFFF00"/>
              </a:solidFill>
            </a:endParaRPr>
          </a:p>
          <a:p>
            <a:endParaRPr lang="en-US" dirty="0">
              <a:solidFill>
                <a:srgbClr val="FFFF00"/>
              </a:solidFill>
            </a:endParaRPr>
          </a:p>
          <a:p>
            <a:pPr marL="449263" lvl="0" indent="-449263"/>
            <a:r>
              <a:rPr lang="en-US" dirty="0">
                <a:solidFill>
                  <a:schemeClr val="bg1"/>
                </a:solidFill>
              </a:rPr>
              <a:t>CARA PEMBELAJARAN:</a:t>
            </a:r>
          </a:p>
          <a:p>
            <a:pPr>
              <a:buFont typeface="Wingdings" pitchFamily="2" charset="2"/>
              <a:buChar char="ü"/>
            </a:pPr>
            <a:r>
              <a:rPr lang="id-ID" dirty="0">
                <a:solidFill>
                  <a:srgbClr val="FFFF00"/>
                </a:solidFill>
              </a:rPr>
              <a:t>EMISOL (Empati, Imajinasi, Solusi),  setelah tuntas:</a:t>
            </a:r>
          </a:p>
          <a:p>
            <a:pPr marL="531813" indent="-258763">
              <a:buFont typeface="Calibri" pitchFamily="34" charset="0"/>
              <a:buChar char="–"/>
            </a:pPr>
            <a:r>
              <a:rPr lang="id-ID" dirty="0">
                <a:solidFill>
                  <a:srgbClr val="FFFF00"/>
                </a:solidFill>
              </a:rPr>
              <a:t>Pembelajaran  berbasis proyek (Project based Learning (PBL))</a:t>
            </a:r>
            <a:endParaRPr lang="en-US" dirty="0">
              <a:solidFill>
                <a:srgbClr val="FFFF00"/>
              </a:solidFill>
            </a:endParaRPr>
          </a:p>
          <a:p>
            <a:pPr marL="531813" indent="-258763">
              <a:buFont typeface="Calibri" pitchFamily="34" charset="0"/>
              <a:buChar char="–"/>
            </a:pPr>
            <a:r>
              <a:rPr lang="id-ID" dirty="0">
                <a:solidFill>
                  <a:srgbClr val="FFFF00"/>
                </a:solidFill>
              </a:rPr>
              <a:t>Merantaukan</a:t>
            </a:r>
            <a:endParaRPr lang="en-US" dirty="0">
              <a:solidFill>
                <a:srgbClr val="FFFF00"/>
              </a:solidFill>
            </a:endParaRPr>
          </a:p>
          <a:p>
            <a:pPr marL="531813" indent="-258763">
              <a:buFont typeface="Calibri" pitchFamily="34" charset="0"/>
              <a:buChar char="–"/>
            </a:pPr>
            <a:r>
              <a:rPr lang="en-US" dirty="0" err="1">
                <a:solidFill>
                  <a:srgbClr val="FFFF00"/>
                </a:solidFill>
              </a:rPr>
              <a:t>Magang</a:t>
            </a:r>
            <a:r>
              <a:rPr lang="id-ID" dirty="0">
                <a:solidFill>
                  <a:srgbClr val="FFFF00"/>
                </a:solidFill>
              </a:rPr>
              <a:t> dan mulazamah</a:t>
            </a:r>
          </a:p>
          <a:p>
            <a:pPr marL="531813" indent="-258763">
              <a:buFont typeface="Calibri" pitchFamily="34" charset="0"/>
              <a:buChar char="–"/>
            </a:pPr>
            <a:endParaRPr lang="en-US" dirty="0">
              <a:solidFill>
                <a:srgbClr val="FFFF00"/>
              </a:solidFill>
            </a:endParaRPr>
          </a:p>
          <a:p>
            <a:pPr>
              <a:buFont typeface="Wingdings" pitchFamily="2" charset="2"/>
              <a:buChar char="ü"/>
            </a:pPr>
            <a:endParaRPr lang="en-US" dirty="0">
              <a:solidFill>
                <a:srgbClr val="FFFF00"/>
              </a:solidFill>
            </a:endParaRPr>
          </a:p>
        </p:txBody>
      </p:sp>
      <p:sp>
        <p:nvSpPr>
          <p:cNvPr id="4" name="TextBox 3"/>
          <p:cNvSpPr txBox="1"/>
          <p:nvPr/>
        </p:nvSpPr>
        <p:spPr>
          <a:xfrm>
            <a:off x="5786478" y="-24"/>
            <a:ext cx="3357554" cy="461665"/>
          </a:xfrm>
          <a:prstGeom prst="rect">
            <a:avLst/>
          </a:prstGeom>
          <a:solidFill>
            <a:srgbClr val="00B050"/>
          </a:solidFill>
        </p:spPr>
        <p:txBody>
          <a:bodyPr wrap="square" rtlCol="0">
            <a:spAutoFit/>
          </a:bodyPr>
          <a:lstStyle/>
          <a:p>
            <a:pPr algn="ctr"/>
            <a:r>
              <a:rPr lang="en-US" sz="2400" dirty="0">
                <a:solidFill>
                  <a:schemeClr val="bg1"/>
                </a:solidFill>
              </a:rPr>
              <a:t>SM</a:t>
            </a:r>
            <a:r>
              <a:rPr lang="id-ID" sz="2400" dirty="0">
                <a:solidFill>
                  <a:schemeClr val="bg1"/>
                </a:solidFill>
              </a:rPr>
              <a:t>A (umum)</a:t>
            </a:r>
            <a:r>
              <a:rPr lang="en-US" sz="2400" dirty="0">
                <a:solidFill>
                  <a:schemeClr val="bg1"/>
                </a:solidFill>
              </a:rPr>
              <a:t> </a:t>
            </a:r>
          </a:p>
        </p:txBody>
      </p:sp>
      <p:sp>
        <p:nvSpPr>
          <p:cNvPr id="7" name="TextBox 6"/>
          <p:cNvSpPr txBox="1"/>
          <p:nvPr/>
        </p:nvSpPr>
        <p:spPr>
          <a:xfrm>
            <a:off x="785786" y="142852"/>
            <a:ext cx="476862" cy="6643710"/>
          </a:xfrm>
          <a:prstGeom prst="rect">
            <a:avLst/>
          </a:prstGeom>
          <a:solidFill>
            <a:srgbClr val="FFFF00"/>
          </a:solidFill>
        </p:spPr>
        <p:txBody>
          <a:bodyPr vert="wordArtVert" wrap="square" rtlCol="0">
            <a:spAutoFit/>
          </a:bodyPr>
          <a:lstStyle/>
          <a:p>
            <a:pPr algn="ctr"/>
            <a:r>
              <a:rPr lang="en-US" sz="1600" b="1" dirty="0"/>
              <a:t>PENDIDIKAN </a:t>
            </a:r>
            <a:r>
              <a:rPr lang="id-ID" sz="1600" b="1" dirty="0"/>
              <a:t>AQIL BALIGH</a:t>
            </a:r>
            <a:endParaRPr lang="en-US" sz="16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Effect transition="in" filter="fade">
                                      <p:cBhvr>
                                        <p:cTn id="14" dur="1000"/>
                                        <p:tgtEl>
                                          <p:spTgt spid="6">
                                            <p:txEl>
                                              <p:pRg st="1" end="1"/>
                                            </p:txEl>
                                          </p:spTgt>
                                        </p:tgtEl>
                                      </p:cBhvr>
                                    </p:animEffect>
                                    <p:anim calcmode="lin" valueType="num">
                                      <p:cBhvr>
                                        <p:cTn id="15"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Effect transition="in" filter="fade">
                                      <p:cBhvr>
                                        <p:cTn id="21" dur="1000"/>
                                        <p:tgtEl>
                                          <p:spTgt spid="6">
                                            <p:txEl>
                                              <p:pRg st="2" end="2"/>
                                            </p:txEl>
                                          </p:spTgt>
                                        </p:tgtEl>
                                      </p:cBhvr>
                                    </p:animEffect>
                                    <p:anim calcmode="lin" valueType="num">
                                      <p:cBhvr>
                                        <p:cTn id="22"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xEl>
                                              <p:pRg st="3" end="3"/>
                                            </p:txEl>
                                          </p:spTgt>
                                        </p:tgtEl>
                                        <p:attrNameLst>
                                          <p:attrName>style.visibility</p:attrName>
                                        </p:attrNameLst>
                                      </p:cBhvr>
                                      <p:to>
                                        <p:strVal val="visible"/>
                                      </p:to>
                                    </p:set>
                                    <p:animEffect transition="in" filter="fade">
                                      <p:cBhvr>
                                        <p:cTn id="28" dur="1000"/>
                                        <p:tgtEl>
                                          <p:spTgt spid="6">
                                            <p:txEl>
                                              <p:pRg st="3" end="3"/>
                                            </p:txEl>
                                          </p:spTgt>
                                        </p:tgtEl>
                                      </p:cBhvr>
                                    </p:animEffect>
                                    <p:anim calcmode="lin" valueType="num">
                                      <p:cBhvr>
                                        <p:cTn id="29"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6">
                                            <p:txEl>
                                              <p:pRg st="4" end="4"/>
                                            </p:txEl>
                                          </p:spTgt>
                                        </p:tgtEl>
                                        <p:attrNameLst>
                                          <p:attrName>style.visibility</p:attrName>
                                        </p:attrNameLst>
                                      </p:cBhvr>
                                      <p:to>
                                        <p:strVal val="visible"/>
                                      </p:to>
                                    </p:set>
                                    <p:animEffect transition="in" filter="fade">
                                      <p:cBhvr>
                                        <p:cTn id="35" dur="1000"/>
                                        <p:tgtEl>
                                          <p:spTgt spid="6">
                                            <p:txEl>
                                              <p:pRg st="4" end="4"/>
                                            </p:txEl>
                                          </p:spTgt>
                                        </p:tgtEl>
                                      </p:cBhvr>
                                    </p:animEffect>
                                    <p:anim calcmode="lin" valueType="num">
                                      <p:cBhvr>
                                        <p:cTn id="36"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6">
                                            <p:txEl>
                                              <p:pRg st="5" end="5"/>
                                            </p:txEl>
                                          </p:spTgt>
                                        </p:tgtEl>
                                        <p:attrNameLst>
                                          <p:attrName>style.visibility</p:attrName>
                                        </p:attrNameLst>
                                      </p:cBhvr>
                                      <p:to>
                                        <p:strVal val="visible"/>
                                      </p:to>
                                    </p:set>
                                    <p:animEffect transition="in" filter="fade">
                                      <p:cBhvr>
                                        <p:cTn id="42" dur="1000"/>
                                        <p:tgtEl>
                                          <p:spTgt spid="6">
                                            <p:txEl>
                                              <p:pRg st="5" end="5"/>
                                            </p:txEl>
                                          </p:spTgt>
                                        </p:tgtEl>
                                      </p:cBhvr>
                                    </p:animEffect>
                                    <p:anim calcmode="lin" valueType="num">
                                      <p:cBhvr>
                                        <p:cTn id="43"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6">
                                            <p:txEl>
                                              <p:pRg st="7" end="7"/>
                                            </p:txEl>
                                          </p:spTgt>
                                        </p:tgtEl>
                                        <p:attrNameLst>
                                          <p:attrName>style.visibility</p:attrName>
                                        </p:attrNameLst>
                                      </p:cBhvr>
                                      <p:to>
                                        <p:strVal val="visible"/>
                                      </p:to>
                                    </p:set>
                                    <p:animEffect transition="in" filter="fade">
                                      <p:cBhvr>
                                        <p:cTn id="49" dur="1000"/>
                                        <p:tgtEl>
                                          <p:spTgt spid="6">
                                            <p:txEl>
                                              <p:pRg st="7" end="7"/>
                                            </p:txEl>
                                          </p:spTgt>
                                        </p:tgtEl>
                                      </p:cBhvr>
                                    </p:animEffect>
                                    <p:anim calcmode="lin" valueType="num">
                                      <p:cBhvr>
                                        <p:cTn id="50"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6">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6">
                                            <p:txEl>
                                              <p:pRg st="8" end="8"/>
                                            </p:txEl>
                                          </p:spTgt>
                                        </p:tgtEl>
                                        <p:attrNameLst>
                                          <p:attrName>style.visibility</p:attrName>
                                        </p:attrNameLst>
                                      </p:cBhvr>
                                      <p:to>
                                        <p:strVal val="visible"/>
                                      </p:to>
                                    </p:set>
                                    <p:animEffect transition="in" filter="fade">
                                      <p:cBhvr>
                                        <p:cTn id="56" dur="1000"/>
                                        <p:tgtEl>
                                          <p:spTgt spid="6">
                                            <p:txEl>
                                              <p:pRg st="8" end="8"/>
                                            </p:txEl>
                                          </p:spTgt>
                                        </p:tgtEl>
                                      </p:cBhvr>
                                    </p:animEffect>
                                    <p:anim calcmode="lin" valueType="num">
                                      <p:cBhvr>
                                        <p:cTn id="57"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58"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6">
                                            <p:txEl>
                                              <p:pRg st="9" end="9"/>
                                            </p:txEl>
                                          </p:spTgt>
                                        </p:tgtEl>
                                        <p:attrNameLst>
                                          <p:attrName>style.visibility</p:attrName>
                                        </p:attrNameLst>
                                      </p:cBhvr>
                                      <p:to>
                                        <p:strVal val="visible"/>
                                      </p:to>
                                    </p:set>
                                    <p:animEffect transition="in" filter="fade">
                                      <p:cBhvr>
                                        <p:cTn id="63" dur="1000"/>
                                        <p:tgtEl>
                                          <p:spTgt spid="6">
                                            <p:txEl>
                                              <p:pRg st="9" end="9"/>
                                            </p:txEl>
                                          </p:spTgt>
                                        </p:tgtEl>
                                      </p:cBhvr>
                                    </p:animEffect>
                                    <p:anim calcmode="lin" valueType="num">
                                      <p:cBhvr>
                                        <p:cTn id="64" dur="1000" fill="hold"/>
                                        <p:tgtEl>
                                          <p:spTgt spid="6">
                                            <p:txEl>
                                              <p:pRg st="9" end="9"/>
                                            </p:txEl>
                                          </p:spTgt>
                                        </p:tgtEl>
                                        <p:attrNameLst>
                                          <p:attrName>ppt_x</p:attrName>
                                        </p:attrNameLst>
                                      </p:cBhvr>
                                      <p:tavLst>
                                        <p:tav tm="0">
                                          <p:val>
                                            <p:strVal val="#ppt_x"/>
                                          </p:val>
                                        </p:tav>
                                        <p:tav tm="100000">
                                          <p:val>
                                            <p:strVal val="#ppt_x"/>
                                          </p:val>
                                        </p:tav>
                                      </p:tavLst>
                                    </p:anim>
                                    <p:anim calcmode="lin" valueType="num">
                                      <p:cBhvr>
                                        <p:cTn id="65" dur="1000" fill="hold"/>
                                        <p:tgtEl>
                                          <p:spTgt spid="6">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6">
                                            <p:txEl>
                                              <p:pRg st="10" end="10"/>
                                            </p:txEl>
                                          </p:spTgt>
                                        </p:tgtEl>
                                        <p:attrNameLst>
                                          <p:attrName>style.visibility</p:attrName>
                                        </p:attrNameLst>
                                      </p:cBhvr>
                                      <p:to>
                                        <p:strVal val="visible"/>
                                      </p:to>
                                    </p:set>
                                    <p:animEffect transition="in" filter="fade">
                                      <p:cBhvr>
                                        <p:cTn id="70" dur="1000"/>
                                        <p:tgtEl>
                                          <p:spTgt spid="6">
                                            <p:txEl>
                                              <p:pRg st="10" end="10"/>
                                            </p:txEl>
                                          </p:spTgt>
                                        </p:tgtEl>
                                      </p:cBhvr>
                                    </p:animEffect>
                                    <p:anim calcmode="lin" valueType="num">
                                      <p:cBhvr>
                                        <p:cTn id="71" dur="1000" fill="hold"/>
                                        <p:tgtEl>
                                          <p:spTgt spid="6">
                                            <p:txEl>
                                              <p:pRg st="10" end="10"/>
                                            </p:txEl>
                                          </p:spTgt>
                                        </p:tgtEl>
                                        <p:attrNameLst>
                                          <p:attrName>ppt_x</p:attrName>
                                        </p:attrNameLst>
                                      </p:cBhvr>
                                      <p:tavLst>
                                        <p:tav tm="0">
                                          <p:val>
                                            <p:strVal val="#ppt_x"/>
                                          </p:val>
                                        </p:tav>
                                        <p:tav tm="100000">
                                          <p:val>
                                            <p:strVal val="#ppt_x"/>
                                          </p:val>
                                        </p:tav>
                                      </p:tavLst>
                                    </p:anim>
                                    <p:anim calcmode="lin" valueType="num">
                                      <p:cBhvr>
                                        <p:cTn id="72" dur="1000" fill="hold"/>
                                        <p:tgtEl>
                                          <p:spTgt spid="6">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6">
                                            <p:txEl>
                                              <p:pRg st="11" end="11"/>
                                            </p:txEl>
                                          </p:spTgt>
                                        </p:tgtEl>
                                        <p:attrNameLst>
                                          <p:attrName>style.visibility</p:attrName>
                                        </p:attrNameLst>
                                      </p:cBhvr>
                                      <p:to>
                                        <p:strVal val="visible"/>
                                      </p:to>
                                    </p:set>
                                    <p:animEffect transition="in" filter="fade">
                                      <p:cBhvr>
                                        <p:cTn id="77" dur="1000"/>
                                        <p:tgtEl>
                                          <p:spTgt spid="6">
                                            <p:txEl>
                                              <p:pRg st="11" end="11"/>
                                            </p:txEl>
                                          </p:spTgt>
                                        </p:tgtEl>
                                      </p:cBhvr>
                                    </p:animEffect>
                                    <p:anim calcmode="lin" valueType="num">
                                      <p:cBhvr>
                                        <p:cTn id="78" dur="1000" fill="hold"/>
                                        <p:tgtEl>
                                          <p:spTgt spid="6">
                                            <p:txEl>
                                              <p:pRg st="11" end="11"/>
                                            </p:txEl>
                                          </p:spTgt>
                                        </p:tgtEl>
                                        <p:attrNameLst>
                                          <p:attrName>ppt_x</p:attrName>
                                        </p:attrNameLst>
                                      </p:cBhvr>
                                      <p:tavLst>
                                        <p:tav tm="0">
                                          <p:val>
                                            <p:strVal val="#ppt_x"/>
                                          </p:val>
                                        </p:tav>
                                        <p:tav tm="100000">
                                          <p:val>
                                            <p:strVal val="#ppt_x"/>
                                          </p:val>
                                        </p:tav>
                                      </p:tavLst>
                                    </p:anim>
                                    <p:anim calcmode="lin" valueType="num">
                                      <p:cBhvr>
                                        <p:cTn id="79" dur="1000" fill="hold"/>
                                        <p:tgtEl>
                                          <p:spTgt spid="6">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6">
                                            <p:txEl>
                                              <p:pRg st="12" end="12"/>
                                            </p:txEl>
                                          </p:spTgt>
                                        </p:tgtEl>
                                        <p:attrNameLst>
                                          <p:attrName>style.visibility</p:attrName>
                                        </p:attrNameLst>
                                      </p:cBhvr>
                                      <p:to>
                                        <p:strVal val="visible"/>
                                      </p:to>
                                    </p:set>
                                    <p:animEffect transition="in" filter="fade">
                                      <p:cBhvr>
                                        <p:cTn id="84" dur="1000"/>
                                        <p:tgtEl>
                                          <p:spTgt spid="6">
                                            <p:txEl>
                                              <p:pRg st="12" end="12"/>
                                            </p:txEl>
                                          </p:spTgt>
                                        </p:tgtEl>
                                      </p:cBhvr>
                                    </p:animEffect>
                                    <p:anim calcmode="lin" valueType="num">
                                      <p:cBhvr>
                                        <p:cTn id="85" dur="1000" fill="hold"/>
                                        <p:tgtEl>
                                          <p:spTgt spid="6">
                                            <p:txEl>
                                              <p:pRg st="12" end="12"/>
                                            </p:txEl>
                                          </p:spTgt>
                                        </p:tgtEl>
                                        <p:attrNameLst>
                                          <p:attrName>ppt_x</p:attrName>
                                        </p:attrNameLst>
                                      </p:cBhvr>
                                      <p:tavLst>
                                        <p:tav tm="0">
                                          <p:val>
                                            <p:strVal val="#ppt_x"/>
                                          </p:val>
                                        </p:tav>
                                        <p:tav tm="100000">
                                          <p:val>
                                            <p:strVal val="#ppt_x"/>
                                          </p:val>
                                        </p:tav>
                                      </p:tavLst>
                                    </p:anim>
                                    <p:anim calcmode="lin" valueType="num">
                                      <p:cBhvr>
                                        <p:cTn id="86" dur="1000" fill="hold"/>
                                        <p:tgtEl>
                                          <p:spTgt spid="6">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6">
                                            <p:txEl>
                                              <p:pRg st="13" end="13"/>
                                            </p:txEl>
                                          </p:spTgt>
                                        </p:tgtEl>
                                        <p:attrNameLst>
                                          <p:attrName>style.visibility</p:attrName>
                                        </p:attrNameLst>
                                      </p:cBhvr>
                                      <p:to>
                                        <p:strVal val="visible"/>
                                      </p:to>
                                    </p:set>
                                    <p:animEffect transition="in" filter="fade">
                                      <p:cBhvr>
                                        <p:cTn id="91" dur="1000"/>
                                        <p:tgtEl>
                                          <p:spTgt spid="6">
                                            <p:txEl>
                                              <p:pRg st="13" end="13"/>
                                            </p:txEl>
                                          </p:spTgt>
                                        </p:tgtEl>
                                      </p:cBhvr>
                                    </p:animEffect>
                                    <p:anim calcmode="lin" valueType="num">
                                      <p:cBhvr>
                                        <p:cTn id="92" dur="1000" fill="hold"/>
                                        <p:tgtEl>
                                          <p:spTgt spid="6">
                                            <p:txEl>
                                              <p:pRg st="13" end="13"/>
                                            </p:txEl>
                                          </p:spTgt>
                                        </p:tgtEl>
                                        <p:attrNameLst>
                                          <p:attrName>ppt_x</p:attrName>
                                        </p:attrNameLst>
                                      </p:cBhvr>
                                      <p:tavLst>
                                        <p:tav tm="0">
                                          <p:val>
                                            <p:strVal val="#ppt_x"/>
                                          </p:val>
                                        </p:tav>
                                        <p:tav tm="100000">
                                          <p:val>
                                            <p:strVal val="#ppt_x"/>
                                          </p:val>
                                        </p:tav>
                                      </p:tavLst>
                                    </p:anim>
                                    <p:anim calcmode="lin" valueType="num">
                                      <p:cBhvr>
                                        <p:cTn id="93" dur="1000" fill="hold"/>
                                        <p:tgtEl>
                                          <p:spTgt spid="6">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6">
                                            <p:txEl>
                                              <p:pRg st="15" end="15"/>
                                            </p:txEl>
                                          </p:spTgt>
                                        </p:tgtEl>
                                        <p:attrNameLst>
                                          <p:attrName>style.visibility</p:attrName>
                                        </p:attrNameLst>
                                      </p:cBhvr>
                                      <p:to>
                                        <p:strVal val="visible"/>
                                      </p:to>
                                    </p:set>
                                    <p:animEffect transition="in" filter="fade">
                                      <p:cBhvr>
                                        <p:cTn id="98" dur="1000"/>
                                        <p:tgtEl>
                                          <p:spTgt spid="6">
                                            <p:txEl>
                                              <p:pRg st="15" end="15"/>
                                            </p:txEl>
                                          </p:spTgt>
                                        </p:tgtEl>
                                      </p:cBhvr>
                                    </p:animEffect>
                                    <p:anim calcmode="lin" valueType="num">
                                      <p:cBhvr>
                                        <p:cTn id="99" dur="1000" fill="hold"/>
                                        <p:tgtEl>
                                          <p:spTgt spid="6">
                                            <p:txEl>
                                              <p:pRg st="15" end="15"/>
                                            </p:txEl>
                                          </p:spTgt>
                                        </p:tgtEl>
                                        <p:attrNameLst>
                                          <p:attrName>ppt_x</p:attrName>
                                        </p:attrNameLst>
                                      </p:cBhvr>
                                      <p:tavLst>
                                        <p:tav tm="0">
                                          <p:val>
                                            <p:strVal val="#ppt_x"/>
                                          </p:val>
                                        </p:tav>
                                        <p:tav tm="100000">
                                          <p:val>
                                            <p:strVal val="#ppt_x"/>
                                          </p:val>
                                        </p:tav>
                                      </p:tavLst>
                                    </p:anim>
                                    <p:anim calcmode="lin" valueType="num">
                                      <p:cBhvr>
                                        <p:cTn id="100" dur="1000" fill="hold"/>
                                        <p:tgtEl>
                                          <p:spTgt spid="6">
                                            <p:txEl>
                                              <p:pRg st="15" end="15"/>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6">
                                            <p:txEl>
                                              <p:pRg st="16" end="16"/>
                                            </p:txEl>
                                          </p:spTgt>
                                        </p:tgtEl>
                                        <p:attrNameLst>
                                          <p:attrName>style.visibility</p:attrName>
                                        </p:attrNameLst>
                                      </p:cBhvr>
                                      <p:to>
                                        <p:strVal val="visible"/>
                                      </p:to>
                                    </p:set>
                                    <p:animEffect transition="in" filter="fade">
                                      <p:cBhvr>
                                        <p:cTn id="105" dur="1000"/>
                                        <p:tgtEl>
                                          <p:spTgt spid="6">
                                            <p:txEl>
                                              <p:pRg st="16" end="16"/>
                                            </p:txEl>
                                          </p:spTgt>
                                        </p:tgtEl>
                                      </p:cBhvr>
                                    </p:animEffect>
                                    <p:anim calcmode="lin" valueType="num">
                                      <p:cBhvr>
                                        <p:cTn id="106" dur="1000" fill="hold"/>
                                        <p:tgtEl>
                                          <p:spTgt spid="6">
                                            <p:txEl>
                                              <p:pRg st="16" end="16"/>
                                            </p:txEl>
                                          </p:spTgt>
                                        </p:tgtEl>
                                        <p:attrNameLst>
                                          <p:attrName>ppt_x</p:attrName>
                                        </p:attrNameLst>
                                      </p:cBhvr>
                                      <p:tavLst>
                                        <p:tav tm="0">
                                          <p:val>
                                            <p:strVal val="#ppt_x"/>
                                          </p:val>
                                        </p:tav>
                                        <p:tav tm="100000">
                                          <p:val>
                                            <p:strVal val="#ppt_x"/>
                                          </p:val>
                                        </p:tav>
                                      </p:tavLst>
                                    </p:anim>
                                    <p:anim calcmode="lin" valueType="num">
                                      <p:cBhvr>
                                        <p:cTn id="107" dur="1000" fill="hold"/>
                                        <p:tgtEl>
                                          <p:spTgt spid="6">
                                            <p:txEl>
                                              <p:pRg st="16" end="16"/>
                                            </p:txEl>
                                          </p:spTgt>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6">
                                            <p:txEl>
                                              <p:pRg st="18" end="18"/>
                                            </p:txEl>
                                          </p:spTgt>
                                        </p:tgtEl>
                                        <p:attrNameLst>
                                          <p:attrName>style.visibility</p:attrName>
                                        </p:attrNameLst>
                                      </p:cBhvr>
                                      <p:to>
                                        <p:strVal val="visible"/>
                                      </p:to>
                                    </p:set>
                                    <p:animEffect transition="in" filter="fade">
                                      <p:cBhvr>
                                        <p:cTn id="112" dur="1000"/>
                                        <p:tgtEl>
                                          <p:spTgt spid="6">
                                            <p:txEl>
                                              <p:pRg st="18" end="18"/>
                                            </p:txEl>
                                          </p:spTgt>
                                        </p:tgtEl>
                                      </p:cBhvr>
                                    </p:animEffect>
                                    <p:anim calcmode="lin" valueType="num">
                                      <p:cBhvr>
                                        <p:cTn id="113" dur="1000" fill="hold"/>
                                        <p:tgtEl>
                                          <p:spTgt spid="6">
                                            <p:txEl>
                                              <p:pRg st="18" end="18"/>
                                            </p:txEl>
                                          </p:spTgt>
                                        </p:tgtEl>
                                        <p:attrNameLst>
                                          <p:attrName>ppt_x</p:attrName>
                                        </p:attrNameLst>
                                      </p:cBhvr>
                                      <p:tavLst>
                                        <p:tav tm="0">
                                          <p:val>
                                            <p:strVal val="#ppt_x"/>
                                          </p:val>
                                        </p:tav>
                                        <p:tav tm="100000">
                                          <p:val>
                                            <p:strVal val="#ppt_x"/>
                                          </p:val>
                                        </p:tav>
                                      </p:tavLst>
                                    </p:anim>
                                    <p:anim calcmode="lin" valueType="num">
                                      <p:cBhvr>
                                        <p:cTn id="114" dur="1000" fill="hold"/>
                                        <p:tgtEl>
                                          <p:spTgt spid="6">
                                            <p:txEl>
                                              <p:pRg st="18" end="18"/>
                                            </p:txEl>
                                          </p:spTgt>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grpId="0" nodeType="clickEffect">
                                  <p:stCondLst>
                                    <p:cond delay="0"/>
                                  </p:stCondLst>
                                  <p:childTnLst>
                                    <p:set>
                                      <p:cBhvr>
                                        <p:cTn id="118" dur="1" fill="hold">
                                          <p:stCondLst>
                                            <p:cond delay="0"/>
                                          </p:stCondLst>
                                        </p:cTn>
                                        <p:tgtEl>
                                          <p:spTgt spid="6">
                                            <p:txEl>
                                              <p:pRg st="19" end="19"/>
                                            </p:txEl>
                                          </p:spTgt>
                                        </p:tgtEl>
                                        <p:attrNameLst>
                                          <p:attrName>style.visibility</p:attrName>
                                        </p:attrNameLst>
                                      </p:cBhvr>
                                      <p:to>
                                        <p:strVal val="visible"/>
                                      </p:to>
                                    </p:set>
                                    <p:animEffect transition="in" filter="fade">
                                      <p:cBhvr>
                                        <p:cTn id="119" dur="1000"/>
                                        <p:tgtEl>
                                          <p:spTgt spid="6">
                                            <p:txEl>
                                              <p:pRg st="19" end="19"/>
                                            </p:txEl>
                                          </p:spTgt>
                                        </p:tgtEl>
                                      </p:cBhvr>
                                    </p:animEffect>
                                    <p:anim calcmode="lin" valueType="num">
                                      <p:cBhvr>
                                        <p:cTn id="120" dur="1000" fill="hold"/>
                                        <p:tgtEl>
                                          <p:spTgt spid="6">
                                            <p:txEl>
                                              <p:pRg st="19" end="19"/>
                                            </p:txEl>
                                          </p:spTgt>
                                        </p:tgtEl>
                                        <p:attrNameLst>
                                          <p:attrName>ppt_x</p:attrName>
                                        </p:attrNameLst>
                                      </p:cBhvr>
                                      <p:tavLst>
                                        <p:tav tm="0">
                                          <p:val>
                                            <p:strVal val="#ppt_x"/>
                                          </p:val>
                                        </p:tav>
                                        <p:tav tm="100000">
                                          <p:val>
                                            <p:strVal val="#ppt_x"/>
                                          </p:val>
                                        </p:tav>
                                      </p:tavLst>
                                    </p:anim>
                                    <p:anim calcmode="lin" valueType="num">
                                      <p:cBhvr>
                                        <p:cTn id="121" dur="1000" fill="hold"/>
                                        <p:tgtEl>
                                          <p:spTgt spid="6">
                                            <p:txEl>
                                              <p:pRg st="19" end="19"/>
                                            </p:txEl>
                                          </p:spTgt>
                                        </p:tgtEl>
                                        <p:attrNameLst>
                                          <p:attrName>ppt_y</p:attrName>
                                        </p:attrNameLst>
                                      </p:cBhvr>
                                      <p:tavLst>
                                        <p:tav tm="0">
                                          <p:val>
                                            <p:strVal val="#ppt_y+.1"/>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42" presetClass="entr" presetSubtype="0" fill="hold" grpId="0" nodeType="clickEffect">
                                  <p:stCondLst>
                                    <p:cond delay="0"/>
                                  </p:stCondLst>
                                  <p:childTnLst>
                                    <p:set>
                                      <p:cBhvr>
                                        <p:cTn id="125" dur="1" fill="hold">
                                          <p:stCondLst>
                                            <p:cond delay="0"/>
                                          </p:stCondLst>
                                        </p:cTn>
                                        <p:tgtEl>
                                          <p:spTgt spid="6">
                                            <p:txEl>
                                              <p:pRg st="20" end="20"/>
                                            </p:txEl>
                                          </p:spTgt>
                                        </p:tgtEl>
                                        <p:attrNameLst>
                                          <p:attrName>style.visibility</p:attrName>
                                        </p:attrNameLst>
                                      </p:cBhvr>
                                      <p:to>
                                        <p:strVal val="visible"/>
                                      </p:to>
                                    </p:set>
                                    <p:animEffect transition="in" filter="fade">
                                      <p:cBhvr>
                                        <p:cTn id="126" dur="1000"/>
                                        <p:tgtEl>
                                          <p:spTgt spid="6">
                                            <p:txEl>
                                              <p:pRg st="20" end="20"/>
                                            </p:txEl>
                                          </p:spTgt>
                                        </p:tgtEl>
                                      </p:cBhvr>
                                    </p:animEffect>
                                    <p:anim calcmode="lin" valueType="num">
                                      <p:cBhvr>
                                        <p:cTn id="127" dur="1000" fill="hold"/>
                                        <p:tgtEl>
                                          <p:spTgt spid="6">
                                            <p:txEl>
                                              <p:pRg st="20" end="20"/>
                                            </p:txEl>
                                          </p:spTgt>
                                        </p:tgtEl>
                                        <p:attrNameLst>
                                          <p:attrName>ppt_x</p:attrName>
                                        </p:attrNameLst>
                                      </p:cBhvr>
                                      <p:tavLst>
                                        <p:tav tm="0">
                                          <p:val>
                                            <p:strVal val="#ppt_x"/>
                                          </p:val>
                                        </p:tav>
                                        <p:tav tm="100000">
                                          <p:val>
                                            <p:strVal val="#ppt_x"/>
                                          </p:val>
                                        </p:tav>
                                      </p:tavLst>
                                    </p:anim>
                                    <p:anim calcmode="lin" valueType="num">
                                      <p:cBhvr>
                                        <p:cTn id="128" dur="1000" fill="hold"/>
                                        <p:tgtEl>
                                          <p:spTgt spid="6">
                                            <p:txEl>
                                              <p:pRg st="20" end="20"/>
                                            </p:txEl>
                                          </p:spTgt>
                                        </p:tgtEl>
                                        <p:attrNameLst>
                                          <p:attrName>ppt_y</p:attrName>
                                        </p:attrNameLst>
                                      </p:cBhvr>
                                      <p:tavLst>
                                        <p:tav tm="0">
                                          <p:val>
                                            <p:strVal val="#ppt_y+.1"/>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42" presetClass="entr" presetSubtype="0" fill="hold" grpId="0" nodeType="clickEffect">
                                  <p:stCondLst>
                                    <p:cond delay="0"/>
                                  </p:stCondLst>
                                  <p:childTnLst>
                                    <p:set>
                                      <p:cBhvr>
                                        <p:cTn id="132" dur="1" fill="hold">
                                          <p:stCondLst>
                                            <p:cond delay="0"/>
                                          </p:stCondLst>
                                        </p:cTn>
                                        <p:tgtEl>
                                          <p:spTgt spid="6">
                                            <p:txEl>
                                              <p:pRg st="21" end="21"/>
                                            </p:txEl>
                                          </p:spTgt>
                                        </p:tgtEl>
                                        <p:attrNameLst>
                                          <p:attrName>style.visibility</p:attrName>
                                        </p:attrNameLst>
                                      </p:cBhvr>
                                      <p:to>
                                        <p:strVal val="visible"/>
                                      </p:to>
                                    </p:set>
                                    <p:animEffect transition="in" filter="fade">
                                      <p:cBhvr>
                                        <p:cTn id="133" dur="1000"/>
                                        <p:tgtEl>
                                          <p:spTgt spid="6">
                                            <p:txEl>
                                              <p:pRg st="21" end="21"/>
                                            </p:txEl>
                                          </p:spTgt>
                                        </p:tgtEl>
                                      </p:cBhvr>
                                    </p:animEffect>
                                    <p:anim calcmode="lin" valueType="num">
                                      <p:cBhvr>
                                        <p:cTn id="134" dur="1000" fill="hold"/>
                                        <p:tgtEl>
                                          <p:spTgt spid="6">
                                            <p:txEl>
                                              <p:pRg st="21" end="21"/>
                                            </p:txEl>
                                          </p:spTgt>
                                        </p:tgtEl>
                                        <p:attrNameLst>
                                          <p:attrName>ppt_x</p:attrName>
                                        </p:attrNameLst>
                                      </p:cBhvr>
                                      <p:tavLst>
                                        <p:tav tm="0">
                                          <p:val>
                                            <p:strVal val="#ppt_x"/>
                                          </p:val>
                                        </p:tav>
                                        <p:tav tm="100000">
                                          <p:val>
                                            <p:strVal val="#ppt_x"/>
                                          </p:val>
                                        </p:tav>
                                      </p:tavLst>
                                    </p:anim>
                                    <p:anim calcmode="lin" valueType="num">
                                      <p:cBhvr>
                                        <p:cTn id="135" dur="1000" fill="hold"/>
                                        <p:tgtEl>
                                          <p:spTgt spid="6">
                                            <p:txEl>
                                              <p:pRg st="21" end="21"/>
                                            </p:txEl>
                                          </p:spTgt>
                                        </p:tgtEl>
                                        <p:attrNameLst>
                                          <p:attrName>ppt_y</p:attrName>
                                        </p:attrNameLst>
                                      </p:cBhvr>
                                      <p:tavLst>
                                        <p:tav tm="0">
                                          <p:val>
                                            <p:strVal val="#ppt_y+.1"/>
                                          </p:val>
                                        </p:tav>
                                        <p:tav tm="100000">
                                          <p:val>
                                            <p:strVal val="#ppt_y"/>
                                          </p:val>
                                        </p:tav>
                                      </p:tavLst>
                                    </p:anim>
                                  </p:childTnLst>
                                </p:cTn>
                              </p:par>
                            </p:childTnLst>
                          </p:cTn>
                        </p:par>
                      </p:childTnLst>
                    </p:cTn>
                  </p:par>
                  <p:par>
                    <p:cTn id="136" fill="hold">
                      <p:stCondLst>
                        <p:cond delay="indefinite"/>
                      </p:stCondLst>
                      <p:childTnLst>
                        <p:par>
                          <p:cTn id="137" fill="hold">
                            <p:stCondLst>
                              <p:cond delay="0"/>
                            </p:stCondLst>
                            <p:childTnLst>
                              <p:par>
                                <p:cTn id="138" presetID="42" presetClass="entr" presetSubtype="0" fill="hold" grpId="0" nodeType="clickEffect">
                                  <p:stCondLst>
                                    <p:cond delay="0"/>
                                  </p:stCondLst>
                                  <p:childTnLst>
                                    <p:set>
                                      <p:cBhvr>
                                        <p:cTn id="139" dur="1" fill="hold">
                                          <p:stCondLst>
                                            <p:cond delay="0"/>
                                          </p:stCondLst>
                                        </p:cTn>
                                        <p:tgtEl>
                                          <p:spTgt spid="6">
                                            <p:txEl>
                                              <p:pRg st="22" end="22"/>
                                            </p:txEl>
                                          </p:spTgt>
                                        </p:tgtEl>
                                        <p:attrNameLst>
                                          <p:attrName>style.visibility</p:attrName>
                                        </p:attrNameLst>
                                      </p:cBhvr>
                                      <p:to>
                                        <p:strVal val="visible"/>
                                      </p:to>
                                    </p:set>
                                    <p:animEffect transition="in" filter="fade">
                                      <p:cBhvr>
                                        <p:cTn id="140" dur="1000"/>
                                        <p:tgtEl>
                                          <p:spTgt spid="6">
                                            <p:txEl>
                                              <p:pRg st="22" end="22"/>
                                            </p:txEl>
                                          </p:spTgt>
                                        </p:tgtEl>
                                      </p:cBhvr>
                                    </p:animEffect>
                                    <p:anim calcmode="lin" valueType="num">
                                      <p:cBhvr>
                                        <p:cTn id="141" dur="1000" fill="hold"/>
                                        <p:tgtEl>
                                          <p:spTgt spid="6">
                                            <p:txEl>
                                              <p:pRg st="22" end="22"/>
                                            </p:txEl>
                                          </p:spTgt>
                                        </p:tgtEl>
                                        <p:attrNameLst>
                                          <p:attrName>ppt_x</p:attrName>
                                        </p:attrNameLst>
                                      </p:cBhvr>
                                      <p:tavLst>
                                        <p:tav tm="0">
                                          <p:val>
                                            <p:strVal val="#ppt_x"/>
                                          </p:val>
                                        </p:tav>
                                        <p:tav tm="100000">
                                          <p:val>
                                            <p:strVal val="#ppt_x"/>
                                          </p:val>
                                        </p:tav>
                                      </p:tavLst>
                                    </p:anim>
                                    <p:anim calcmode="lin" valueType="num">
                                      <p:cBhvr>
                                        <p:cTn id="142" dur="1000" fill="hold"/>
                                        <p:tgtEl>
                                          <p:spTgt spid="6">
                                            <p:txEl>
                                              <p:pRg st="22" end="22"/>
                                            </p:txEl>
                                          </p:spTgt>
                                        </p:tgtEl>
                                        <p:attrNameLst>
                                          <p:attrName>ppt_y</p:attrName>
                                        </p:attrNameLst>
                                      </p:cBhvr>
                                      <p:tavLst>
                                        <p:tav tm="0">
                                          <p:val>
                                            <p:strVal val="#ppt_y+.1"/>
                                          </p:val>
                                        </p:tav>
                                        <p:tav tm="100000">
                                          <p:val>
                                            <p:strVal val="#ppt_y"/>
                                          </p:val>
                                        </p:tav>
                                      </p:tavLst>
                                    </p:anim>
                                  </p:childTnLst>
                                </p:cTn>
                              </p:par>
                            </p:childTnLst>
                          </p:cTn>
                        </p:par>
                      </p:childTnLst>
                    </p:cTn>
                  </p:par>
                  <p:par>
                    <p:cTn id="143" fill="hold">
                      <p:stCondLst>
                        <p:cond delay="indefinite"/>
                      </p:stCondLst>
                      <p:childTnLst>
                        <p:par>
                          <p:cTn id="144" fill="hold">
                            <p:stCondLst>
                              <p:cond delay="0"/>
                            </p:stCondLst>
                            <p:childTnLst>
                              <p:par>
                                <p:cTn id="145" presetID="9" presetClass="entr" presetSubtype="0" fill="hold" grpId="0" nodeType="clickEffect">
                                  <p:stCondLst>
                                    <p:cond delay="0"/>
                                  </p:stCondLst>
                                  <p:childTnLst>
                                    <p:set>
                                      <p:cBhvr>
                                        <p:cTn id="146" dur="1" fill="hold">
                                          <p:stCondLst>
                                            <p:cond delay="0"/>
                                          </p:stCondLst>
                                        </p:cTn>
                                        <p:tgtEl>
                                          <p:spTgt spid="7"/>
                                        </p:tgtEl>
                                        <p:attrNameLst>
                                          <p:attrName>style.visibility</p:attrName>
                                        </p:attrNameLst>
                                      </p:cBhvr>
                                      <p:to>
                                        <p:strVal val="visible"/>
                                      </p:to>
                                    </p:set>
                                    <p:animEffect transition="in" filter="dissolve">
                                      <p:cBhvr>
                                        <p:cTn id="14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bldLvl="5"/>
      <p:bldP spid="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42918"/>
            <a:ext cx="8229600" cy="5857916"/>
          </a:xfrm>
          <a:ln w="3175">
            <a:noFill/>
          </a:ln>
        </p:spPr>
        <p:txBody>
          <a:bodyPr wrap="none" lIns="108000" tIns="0" rIns="0" bIns="0">
            <a:noAutofit/>
          </a:bodyPr>
          <a:lstStyle/>
          <a:p>
            <a:pPr marL="0">
              <a:spcBef>
                <a:spcPts val="0"/>
              </a:spcBef>
              <a:buNone/>
            </a:pPr>
            <a:endParaRPr lang="id-ID" sz="1800" dirty="0"/>
          </a:p>
          <a:p>
            <a:pPr marL="0">
              <a:spcBef>
                <a:spcPts val="0"/>
              </a:spcBef>
              <a:buNone/>
            </a:pPr>
            <a:r>
              <a:rPr lang="en-US" sz="1800" b="1" dirty="0"/>
              <a:t>PERSIAPAN:</a:t>
            </a:r>
          </a:p>
          <a:p>
            <a:pPr marL="0">
              <a:spcBef>
                <a:spcPts val="0"/>
              </a:spcBef>
              <a:buFont typeface="Wingdings" pitchFamily="2" charset="2"/>
              <a:buChar char="ü"/>
            </a:pPr>
            <a:r>
              <a:rPr lang="en-US" sz="1800" dirty="0"/>
              <a:t>P</a:t>
            </a:r>
            <a:r>
              <a:rPr lang="id-ID" sz="1800" dirty="0"/>
              <a:t>emaparan kepada orangtua santri (madrasah orangtua)</a:t>
            </a:r>
          </a:p>
          <a:p>
            <a:pPr marL="0">
              <a:spcBef>
                <a:spcPts val="0"/>
              </a:spcBef>
              <a:buFont typeface="Wingdings" pitchFamily="2" charset="2"/>
              <a:buChar char="ü"/>
            </a:pPr>
            <a:r>
              <a:rPr lang="id-ID" sz="1800" dirty="0"/>
              <a:t>Pelatihan pengasuhan bagi santri senior (musyrif)</a:t>
            </a:r>
            <a:endParaRPr lang="en-US" sz="1800" dirty="0"/>
          </a:p>
          <a:p>
            <a:pPr marL="0">
              <a:spcBef>
                <a:spcPts val="0"/>
              </a:spcBef>
              <a:buNone/>
            </a:pPr>
            <a:endParaRPr lang="en-US" sz="1800" dirty="0"/>
          </a:p>
          <a:p>
            <a:pPr marL="0">
              <a:spcBef>
                <a:spcPts val="0"/>
              </a:spcBef>
              <a:buNone/>
            </a:pPr>
            <a:r>
              <a:rPr lang="id-ID" sz="1800" b="1" dirty="0"/>
              <a:t>SEMESTER GASAL:</a:t>
            </a:r>
          </a:p>
          <a:p>
            <a:pPr marL="0">
              <a:spcBef>
                <a:spcPts val="0"/>
              </a:spcBef>
            </a:pPr>
            <a:r>
              <a:rPr lang="en-US" sz="1800" dirty="0" err="1"/>
              <a:t>Menjadikan</a:t>
            </a:r>
            <a:r>
              <a:rPr lang="en-US" sz="1800" dirty="0"/>
              <a:t> </a:t>
            </a:r>
            <a:r>
              <a:rPr lang="en-US" sz="1800" dirty="0" err="1"/>
              <a:t>kesan</a:t>
            </a:r>
            <a:r>
              <a:rPr lang="en-US" sz="1800" dirty="0"/>
              <a:t> </a:t>
            </a:r>
            <a:r>
              <a:rPr lang="en-US" sz="1800" dirty="0" err="1"/>
              <a:t>terhadap</a:t>
            </a:r>
            <a:r>
              <a:rPr lang="en-US" sz="1800" dirty="0"/>
              <a:t> </a:t>
            </a:r>
            <a:r>
              <a:rPr lang="id-ID" sz="1800" dirty="0"/>
              <a:t>pondok adalah</a:t>
            </a:r>
            <a:r>
              <a:rPr lang="en-US" sz="1800" dirty="0"/>
              <a:t> “</a:t>
            </a:r>
            <a:r>
              <a:rPr lang="en-US" sz="1800" dirty="0" err="1"/>
              <a:t>mempesona</a:t>
            </a:r>
            <a:r>
              <a:rPr lang="en-US" sz="1800" dirty="0"/>
              <a:t>”</a:t>
            </a:r>
          </a:p>
          <a:p>
            <a:pPr marL="0">
              <a:spcBef>
                <a:spcPts val="0"/>
              </a:spcBef>
            </a:pPr>
            <a:r>
              <a:rPr lang="en-US" sz="1800" dirty="0" err="1"/>
              <a:t>Menggali</a:t>
            </a:r>
            <a:r>
              <a:rPr lang="en-US" sz="1800" dirty="0"/>
              <a:t> </a:t>
            </a:r>
            <a:r>
              <a:rPr lang="en-US" sz="1800" dirty="0" err="1"/>
              <a:t>potensi</a:t>
            </a:r>
            <a:r>
              <a:rPr lang="en-US" sz="1800" dirty="0"/>
              <a:t> </a:t>
            </a:r>
            <a:r>
              <a:rPr lang="en-US" sz="1800" dirty="0" err="1"/>
              <a:t>unik</a:t>
            </a:r>
            <a:r>
              <a:rPr lang="en-US" sz="1800" dirty="0"/>
              <a:t> </a:t>
            </a:r>
            <a:r>
              <a:rPr lang="en-US" sz="1800" dirty="0" err="1"/>
              <a:t>santri</a:t>
            </a:r>
            <a:r>
              <a:rPr lang="id-ID" sz="1800" dirty="0"/>
              <a:t>, dengan kedekatan, empati, mendengar santri, dialog, dsb</a:t>
            </a:r>
            <a:endParaRPr lang="en-US" sz="1800" dirty="0"/>
          </a:p>
          <a:p>
            <a:pPr marL="0">
              <a:spcBef>
                <a:spcPts val="0"/>
              </a:spcBef>
            </a:pPr>
            <a:r>
              <a:rPr lang="en-US" sz="1800" dirty="0" err="1"/>
              <a:t>Memfasilitasi</a:t>
            </a:r>
            <a:r>
              <a:rPr lang="en-US" sz="1800" dirty="0"/>
              <a:t> </a:t>
            </a:r>
            <a:r>
              <a:rPr lang="en-US" sz="1800" dirty="0" err="1"/>
              <a:t>potensi</a:t>
            </a:r>
            <a:r>
              <a:rPr lang="en-US" sz="1800" dirty="0"/>
              <a:t> </a:t>
            </a:r>
            <a:r>
              <a:rPr lang="en-US" sz="1800" dirty="0" err="1"/>
              <a:t>unik</a:t>
            </a:r>
            <a:r>
              <a:rPr lang="en-US" sz="1800" dirty="0"/>
              <a:t> </a:t>
            </a:r>
            <a:r>
              <a:rPr lang="en-US" sz="1800" dirty="0" err="1"/>
              <a:t>santri</a:t>
            </a:r>
            <a:r>
              <a:rPr lang="id-ID" sz="1800" dirty="0"/>
              <a:t> (menjuruskan), dengan ekstrakurikuler, pelatihan, dsb</a:t>
            </a:r>
          </a:p>
          <a:p>
            <a:pPr marL="0">
              <a:spcBef>
                <a:spcPts val="0"/>
              </a:spcBef>
            </a:pPr>
            <a:r>
              <a:rPr lang="id-ID" sz="1800" dirty="0"/>
              <a:t>Pembelajaran formal tanpa tekanan</a:t>
            </a:r>
          </a:p>
          <a:p>
            <a:pPr marL="0">
              <a:spcBef>
                <a:spcPts val="0"/>
              </a:spcBef>
            </a:pPr>
            <a:r>
              <a:rPr lang="id-ID" sz="1800" dirty="0"/>
              <a:t>Tanpa kemarahan, tekanan, dan hukuman </a:t>
            </a:r>
            <a:endParaRPr lang="en-US" sz="1800" dirty="0"/>
          </a:p>
          <a:p>
            <a:pPr marL="0">
              <a:spcBef>
                <a:spcPts val="0"/>
              </a:spcBef>
            </a:pPr>
            <a:endParaRPr lang="en-US" sz="1800" dirty="0"/>
          </a:p>
          <a:p>
            <a:pPr marL="0">
              <a:spcBef>
                <a:spcPts val="0"/>
              </a:spcBef>
              <a:buFont typeface="Wingdings" pitchFamily="2" charset="2"/>
              <a:buChar char="ü"/>
            </a:pPr>
            <a:r>
              <a:rPr lang="id-ID" sz="1800" i="1" dirty="0"/>
              <a:t>Recovery</a:t>
            </a:r>
            <a:r>
              <a:rPr lang="en-US" sz="1800" dirty="0"/>
              <a:t> </a:t>
            </a:r>
            <a:r>
              <a:rPr lang="id-ID" sz="1800" dirty="0"/>
              <a:t> secara </a:t>
            </a:r>
            <a:r>
              <a:rPr lang="en-US" sz="1800" dirty="0"/>
              <a:t>personal </a:t>
            </a:r>
          </a:p>
          <a:p>
            <a:pPr marL="0">
              <a:spcBef>
                <a:spcPts val="0"/>
              </a:spcBef>
              <a:buFont typeface="Wingdings" pitchFamily="2" charset="2"/>
              <a:buChar char="ü"/>
            </a:pPr>
            <a:r>
              <a:rPr lang="en-US" sz="1800" dirty="0" err="1"/>
              <a:t>Ada</a:t>
            </a:r>
            <a:r>
              <a:rPr lang="en-US" sz="1800" dirty="0"/>
              <a:t> </a:t>
            </a:r>
            <a:r>
              <a:rPr lang="en-US" sz="1800" dirty="0" err="1"/>
              <a:t>efek</a:t>
            </a:r>
            <a:r>
              <a:rPr lang="en-US" sz="1800" dirty="0"/>
              <a:t> </a:t>
            </a:r>
            <a:r>
              <a:rPr lang="en-US" sz="1800" dirty="0" err="1"/>
              <a:t>samping</a:t>
            </a:r>
            <a:r>
              <a:rPr lang="en-US" sz="1800" dirty="0"/>
              <a:t> </a:t>
            </a:r>
            <a:r>
              <a:rPr lang="en-US" sz="1800" i="1" dirty="0"/>
              <a:t>“</a:t>
            </a:r>
            <a:r>
              <a:rPr lang="en-US" sz="1800" i="1" dirty="0" err="1"/>
              <a:t>euforia</a:t>
            </a:r>
            <a:r>
              <a:rPr lang="en-US" sz="1800" i="1" dirty="0"/>
              <a:t>”</a:t>
            </a:r>
          </a:p>
          <a:p>
            <a:pPr marL="0">
              <a:spcBef>
                <a:spcPts val="0"/>
              </a:spcBef>
              <a:buNone/>
            </a:pPr>
            <a:endParaRPr lang="en-US" sz="1800" dirty="0"/>
          </a:p>
          <a:p>
            <a:pPr marL="0">
              <a:spcBef>
                <a:spcPts val="0"/>
              </a:spcBef>
              <a:buNone/>
            </a:pPr>
            <a:r>
              <a:rPr lang="en-US" sz="1800" b="1" dirty="0"/>
              <a:t>SEMESTER GENAP:</a:t>
            </a:r>
          </a:p>
          <a:p>
            <a:pPr marL="0">
              <a:spcBef>
                <a:spcPts val="0"/>
              </a:spcBef>
            </a:pPr>
            <a:r>
              <a:rPr lang="en-US" sz="1800" dirty="0" err="1"/>
              <a:t>Memulai</a:t>
            </a:r>
            <a:r>
              <a:rPr lang="en-US" sz="1800" dirty="0"/>
              <a:t> </a:t>
            </a:r>
            <a:r>
              <a:rPr lang="en-US" sz="1800" i="1" dirty="0"/>
              <a:t>start up</a:t>
            </a:r>
            <a:r>
              <a:rPr lang="en-US" sz="1800" dirty="0"/>
              <a:t> </a:t>
            </a:r>
            <a:r>
              <a:rPr lang="en-US" sz="1800" dirty="0" err="1"/>
              <a:t>pembelajaran</a:t>
            </a:r>
            <a:r>
              <a:rPr lang="en-US" sz="1800" dirty="0"/>
              <a:t> formal</a:t>
            </a:r>
            <a:r>
              <a:rPr lang="id-ID" sz="1800" dirty="0"/>
              <a:t> pondok, , ada </a:t>
            </a:r>
            <a:r>
              <a:rPr lang="id-ID" sz="1800" i="1" dirty="0"/>
              <a:t>reward </a:t>
            </a:r>
            <a:r>
              <a:rPr lang="id-ID" sz="1800" dirty="0"/>
              <a:t>dan </a:t>
            </a:r>
            <a:r>
              <a:rPr lang="id-ID" sz="1800" i="1" dirty="0"/>
              <a:t>punishment</a:t>
            </a:r>
            <a:endParaRPr lang="en-US" sz="1800" dirty="0"/>
          </a:p>
          <a:p>
            <a:pPr marL="0">
              <a:spcBef>
                <a:spcPts val="0"/>
              </a:spcBef>
            </a:pPr>
            <a:r>
              <a:rPr lang="en-US" sz="1800" dirty="0" err="1"/>
              <a:t>Mempertimbangkan</a:t>
            </a:r>
            <a:r>
              <a:rPr lang="en-US" sz="1800" dirty="0"/>
              <a:t> </a:t>
            </a:r>
            <a:r>
              <a:rPr lang="en-US" sz="1800" dirty="0" err="1"/>
              <a:t>potensi</a:t>
            </a:r>
            <a:r>
              <a:rPr lang="en-US" sz="1800" dirty="0"/>
              <a:t> </a:t>
            </a:r>
            <a:r>
              <a:rPr lang="en-US" sz="1800" dirty="0" err="1"/>
              <a:t>unik</a:t>
            </a:r>
            <a:r>
              <a:rPr lang="en-US" sz="1800" dirty="0"/>
              <a:t> </a:t>
            </a:r>
            <a:r>
              <a:rPr lang="id-ID" sz="1800" dirty="0"/>
              <a:t>santri (non formal: santri boleh belajar kitab tertentu) </a:t>
            </a:r>
            <a:endParaRPr lang="en-US" sz="1800" dirty="0"/>
          </a:p>
          <a:p>
            <a:pPr marL="0">
              <a:spcBef>
                <a:spcPts val="0"/>
              </a:spcBef>
            </a:pPr>
            <a:r>
              <a:rPr lang="en-US" sz="1800" dirty="0" err="1"/>
              <a:t>Pemagangan</a:t>
            </a:r>
            <a:r>
              <a:rPr lang="en-US" sz="1800" dirty="0"/>
              <a:t> </a:t>
            </a:r>
            <a:r>
              <a:rPr lang="en-US" sz="1800" dirty="0" err="1"/>
              <a:t>di</a:t>
            </a:r>
            <a:r>
              <a:rPr lang="en-US" sz="1800" dirty="0"/>
              <a:t> </a:t>
            </a:r>
            <a:r>
              <a:rPr lang="en-US" sz="1800" dirty="0" err="1"/>
              <a:t>luar</a:t>
            </a:r>
            <a:r>
              <a:rPr lang="en-US" sz="1800" dirty="0"/>
              <a:t> </a:t>
            </a:r>
            <a:r>
              <a:rPr lang="en-US" sz="1800" dirty="0" err="1"/>
              <a:t>hari</a:t>
            </a:r>
            <a:r>
              <a:rPr lang="en-US" sz="1800" dirty="0"/>
              <a:t> </a:t>
            </a:r>
            <a:r>
              <a:rPr lang="en-US" sz="1800" dirty="0" err="1"/>
              <a:t>efektif</a:t>
            </a:r>
            <a:r>
              <a:rPr lang="en-US" sz="1800" dirty="0"/>
              <a:t> </a:t>
            </a:r>
            <a:r>
              <a:rPr lang="en-US" sz="1800" dirty="0" err="1"/>
              <a:t>pembelajaran</a:t>
            </a:r>
            <a:r>
              <a:rPr lang="id-ID" sz="1800" dirty="0"/>
              <a:t>, mulazamah, dan merantaukan </a:t>
            </a:r>
            <a:endParaRPr lang="en-US" sz="1800" dirty="0"/>
          </a:p>
          <a:p>
            <a:pPr marL="0">
              <a:spcBef>
                <a:spcPts val="0"/>
              </a:spcBef>
            </a:pPr>
            <a:r>
              <a:rPr lang="en-US" sz="1800" dirty="0" err="1"/>
              <a:t>Pelatihan</a:t>
            </a:r>
            <a:r>
              <a:rPr lang="en-US" sz="1800" dirty="0"/>
              <a:t> </a:t>
            </a:r>
            <a:r>
              <a:rPr lang="en-US" sz="1800" dirty="0" err="1"/>
              <a:t>pengasuhan</a:t>
            </a:r>
            <a:r>
              <a:rPr lang="en-US" sz="1800" dirty="0"/>
              <a:t> </a:t>
            </a:r>
            <a:r>
              <a:rPr lang="en-US" sz="1800" dirty="0" err="1"/>
              <a:t>terhadap</a:t>
            </a:r>
            <a:r>
              <a:rPr lang="en-US" sz="1800" dirty="0"/>
              <a:t> </a:t>
            </a:r>
            <a:r>
              <a:rPr lang="en-US" sz="1800" dirty="0" err="1"/>
              <a:t>adik</a:t>
            </a:r>
            <a:r>
              <a:rPr lang="en-US" sz="1800" dirty="0"/>
              <a:t> </a:t>
            </a:r>
            <a:r>
              <a:rPr lang="en-US" sz="1800" dirty="0" err="1"/>
              <a:t>kelas</a:t>
            </a:r>
            <a:r>
              <a:rPr lang="en-US" sz="1800" dirty="0"/>
              <a:t> </a:t>
            </a:r>
            <a:r>
              <a:rPr lang="id-ID" sz="1800" dirty="0"/>
              <a:t>(musyrif)</a:t>
            </a:r>
          </a:p>
          <a:p>
            <a:pPr marL="0">
              <a:spcBef>
                <a:spcPts val="0"/>
              </a:spcBef>
            </a:pPr>
            <a:r>
              <a:rPr lang="id-ID" sz="1800" dirty="0"/>
              <a:t>Memberi tugas khusus kepada setiap santri terkait proses pembelajaran di sekolah</a:t>
            </a:r>
          </a:p>
          <a:p>
            <a:pPr marL="0">
              <a:spcBef>
                <a:spcPts val="0"/>
              </a:spcBef>
            </a:pPr>
            <a:r>
              <a:rPr lang="id-ID" sz="1800" dirty="0"/>
              <a:t>Pembelajaran pra nikah</a:t>
            </a:r>
            <a:endParaRPr lang="en-US" sz="1800" dirty="0"/>
          </a:p>
        </p:txBody>
      </p:sp>
      <p:sp>
        <p:nvSpPr>
          <p:cNvPr id="6" name="Title 3"/>
          <p:cNvSpPr>
            <a:spLocks noGrp="1"/>
          </p:cNvSpPr>
          <p:nvPr>
            <p:ph type="title"/>
          </p:nvPr>
        </p:nvSpPr>
        <p:spPr>
          <a:xfrm>
            <a:off x="457200" y="-214338"/>
            <a:ext cx="8229600" cy="1143000"/>
          </a:xfrm>
        </p:spPr>
        <p:txBody>
          <a:bodyPr>
            <a:normAutofit/>
          </a:bodyPr>
          <a:lstStyle/>
          <a:p>
            <a:r>
              <a:rPr lang="en-US" sz="2000" b="1" dirty="0" err="1"/>
              <a:t>Metode</a:t>
            </a:r>
            <a:r>
              <a:rPr lang="en-US" sz="2000" b="1" dirty="0"/>
              <a:t> </a:t>
            </a:r>
            <a:r>
              <a:rPr lang="en-US" sz="2000" b="1" dirty="0" err="1"/>
              <a:t>pembelajaran</a:t>
            </a:r>
            <a:r>
              <a:rPr lang="en-US" sz="2000" b="1" dirty="0"/>
              <a:t> SM</a:t>
            </a:r>
            <a:r>
              <a:rPr lang="id-ID" sz="2000" b="1" dirty="0"/>
              <a:t>A</a:t>
            </a:r>
            <a:r>
              <a:rPr lang="en-US" sz="2000" b="1" dirty="0"/>
              <a:t> (</a:t>
            </a:r>
            <a:r>
              <a:rPr lang="en-US" sz="2000" b="1" dirty="0" err="1"/>
              <a:t>umum</a:t>
            </a:r>
            <a:r>
              <a:rPr lang="en-US" sz="2000" b="1" dirty="0"/>
              <a:t>)</a:t>
            </a:r>
            <a:r>
              <a:rPr lang="id-ID" sz="2000" b="1" dirty="0"/>
              <a:t> </a:t>
            </a:r>
            <a:endParaRPr lang="en-US" sz="2000"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4385</TotalTime>
  <Words>2181</Words>
  <Application>Microsoft Office PowerPoint</Application>
  <PresentationFormat>On-screen Show (4:3)</PresentationFormat>
  <Paragraphs>442</Paragraphs>
  <Slides>33</Slides>
  <Notes>5</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33</vt:i4>
      </vt:variant>
    </vt:vector>
  </HeadingPairs>
  <TitlesOfParts>
    <vt:vector size="42" baseType="lpstr">
      <vt:lpstr>Arial</vt:lpstr>
      <vt:lpstr>Arial Narrow</vt:lpstr>
      <vt:lpstr>Arial Unicode MS</vt:lpstr>
      <vt:lpstr>Bahnschrift Light SemiCondensed</vt:lpstr>
      <vt:lpstr>Calibri</vt:lpstr>
      <vt:lpstr>Cambria</vt:lpstr>
      <vt:lpstr>Wingdings</vt:lpstr>
      <vt:lpstr>Office Theme</vt:lpstr>
      <vt:lpstr>1_Office Theme</vt:lpstr>
      <vt:lpstr>Implementasi Kurikulum PENDIDIKAN KARAKTER NABAWIYAH Pada  Persekolahan</vt:lpstr>
      <vt:lpstr>Gabungkan semua kegiatan dan peristiwa yang direncanakan maupun tidak direncanakan kedalam IKM (Implementasi Kurikulum Merdeka) Diknas.  Pilar-pilar karakter Nabawiyah sebagai “P5”- nya, dan kegiatan atau peristiwa dijadikan sebagai judul pembelajaran berbasis proyek (PjBL)- nya.</vt:lpstr>
      <vt:lpstr>1. Pembelajaran PAUD – TK/RA</vt:lpstr>
      <vt:lpstr>PowerPoint Presentation</vt:lpstr>
      <vt:lpstr>Masa emas pendidikan usia 0-7 tahun </vt:lpstr>
      <vt:lpstr>Pendidikan Karakter usia 0-7 tahun </vt:lpstr>
      <vt:lpstr>PowerPoint Presentation</vt:lpstr>
      <vt:lpstr>PowerPoint Presentation</vt:lpstr>
      <vt:lpstr>Jenis kegiatan atau peristiwa yang dimanfaatkan untuk pembelajaran adalah yang terkait dengan penuntasan:  egosentris, imajinasi, dan sensitifitas santri.</vt:lpstr>
      <vt:lpstr>Fase thufulah adalah fase sebelum tamyiz, yaitu santri belum mempu membedakan yang benar dan yang salah. Oleh karena itu nasehat lisan, teguran, atau hukuman, tidak efektif untuk Pendidikan santri pada fase ini.</vt:lpstr>
      <vt:lpstr>Jika santri melanggar, maka belum ada teguran, dan jaga kegiatan anak selama: - Tidak membahayakan diri santri - Tidak membahayakan orang lain - Tidak melanggar norma masyarakat - Guru mampu mendampingi</vt:lpstr>
      <vt:lpstr>2. Pembelajaran kelas 1,2,3 SD</vt:lpstr>
      <vt:lpstr>PowerPoint Presentation</vt:lpstr>
      <vt:lpstr>PowerPoint Presentation</vt:lpstr>
      <vt:lpstr>Pendidikan usia 7-10 tahun </vt:lpstr>
      <vt:lpstr>PowerPoint Presentation</vt:lpstr>
      <vt:lpstr>Jenis kegiatan atau peristiwa yang dimanfaatkan untuk pembelajaran adalah yang terkait dengan penuntasan:  Rasa ingin tahu santri.</vt:lpstr>
      <vt:lpstr>Jika santri melakukan pelanggaran, nasehati tetapi belum ada kemarahan, konsekuensi, atau hukuman, dengan catatan fase sebelumnya telah tuntas. Jika belum tuntas, maka perlu diulang kembali.</vt:lpstr>
      <vt:lpstr>3. Pembelajaran kelas 4 – 9 SD - SMP</vt:lpstr>
      <vt:lpstr>PowerPoint Presentation</vt:lpstr>
      <vt:lpstr>PowerPoint Presentation</vt:lpstr>
      <vt:lpstr>Pendidikan usia 10 tahun - Baligh </vt:lpstr>
      <vt:lpstr>PowerPoint Presentation</vt:lpstr>
      <vt:lpstr>Jenis kegiatan atau peristiwa yang dimanfaatkan untuk pembelajaran adalah yang terkait dengan pengembangan potensi bakat santri.</vt:lpstr>
      <vt:lpstr>Jika santri melakukan pelanggaran, nasehati! Jika masih melanggar perlu ditegasi dengan catatan fase sebelumnya sudah tuntas. Jika belum tuntas, maka perlu diulang kembali.</vt:lpstr>
      <vt:lpstr>4. Pembelajaran SMP – SMA (UMUM)</vt:lpstr>
      <vt:lpstr>PowerPoint Presentation</vt:lpstr>
      <vt:lpstr>Metode pembelajaran SMP (umum)  MEMULAI DARI AWAL</vt:lpstr>
      <vt:lpstr>Metode pembelajaran SMP (umum)  SEKOLAH SUDAH BERJALAN</vt:lpstr>
      <vt:lpstr>Metode pembelajaran SMP (umum)  PONDOK PESANTREN / BOARDING SCHOOL </vt:lpstr>
      <vt:lpstr>Pembelajaran SMA (umum)</vt:lpstr>
      <vt:lpstr>PowerPoint Presentation</vt:lpstr>
      <vt:lpstr>Metode pembelajaran SMA (umum)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Administrator</dc:creator>
  <cp:lastModifiedBy>Kholik</cp:lastModifiedBy>
  <cp:revision>546</cp:revision>
  <dcterms:created xsi:type="dcterms:W3CDTF">2017-07-11T22:41:14Z</dcterms:created>
  <dcterms:modified xsi:type="dcterms:W3CDTF">2023-12-24T16:26:29Z</dcterms:modified>
</cp:coreProperties>
</file>