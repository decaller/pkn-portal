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708" r:id="rId4"/>
    <p:sldMasterId id="2147483756" r:id="rId5"/>
  </p:sldMasterIdLst>
  <p:notesMasterIdLst>
    <p:notesMasterId r:id="rId74"/>
  </p:notesMasterIdLst>
  <p:sldIdLst>
    <p:sldId id="256" r:id="rId6"/>
    <p:sldId id="257" r:id="rId7"/>
    <p:sldId id="434" r:id="rId8"/>
    <p:sldId id="435" r:id="rId9"/>
    <p:sldId id="437" r:id="rId10"/>
    <p:sldId id="258" r:id="rId11"/>
    <p:sldId id="510" r:id="rId12"/>
    <p:sldId id="436" r:id="rId13"/>
    <p:sldId id="433" r:id="rId14"/>
    <p:sldId id="392" r:id="rId15"/>
    <p:sldId id="393" r:id="rId16"/>
    <p:sldId id="394" r:id="rId17"/>
    <p:sldId id="432" r:id="rId18"/>
    <p:sldId id="396" r:id="rId19"/>
    <p:sldId id="438" r:id="rId20"/>
    <p:sldId id="429" r:id="rId21"/>
    <p:sldId id="442" r:id="rId22"/>
    <p:sldId id="273" r:id="rId23"/>
    <p:sldId id="545" r:id="rId24"/>
    <p:sldId id="546" r:id="rId25"/>
    <p:sldId id="547" r:id="rId26"/>
    <p:sldId id="1034" r:id="rId27"/>
    <p:sldId id="1035" r:id="rId28"/>
    <p:sldId id="548" r:id="rId29"/>
    <p:sldId id="549" r:id="rId30"/>
    <p:sldId id="1036" r:id="rId31"/>
    <p:sldId id="1029" r:id="rId32"/>
    <p:sldId id="1037" r:id="rId33"/>
    <p:sldId id="1047" r:id="rId34"/>
    <p:sldId id="462" r:id="rId35"/>
    <p:sldId id="463" r:id="rId36"/>
    <p:sldId id="464" r:id="rId37"/>
    <p:sldId id="465" r:id="rId38"/>
    <p:sldId id="1132" r:id="rId39"/>
    <p:sldId id="1114" r:id="rId40"/>
    <p:sldId id="1124" r:id="rId41"/>
    <p:sldId id="1141" r:id="rId42"/>
    <p:sldId id="1140" r:id="rId43"/>
    <p:sldId id="1143" r:id="rId44"/>
    <p:sldId id="1144" r:id="rId45"/>
    <p:sldId id="1142" r:id="rId46"/>
    <p:sldId id="1125" r:id="rId47"/>
    <p:sldId id="1126" r:id="rId48"/>
    <p:sldId id="1129" r:id="rId49"/>
    <p:sldId id="1127" r:id="rId50"/>
    <p:sldId id="1128" r:id="rId51"/>
    <p:sldId id="1130" r:id="rId52"/>
    <p:sldId id="1131" r:id="rId53"/>
    <p:sldId id="1145" r:id="rId54"/>
    <p:sldId id="1148" r:id="rId55"/>
    <p:sldId id="1136" r:id="rId56"/>
    <p:sldId id="1137" r:id="rId57"/>
    <p:sldId id="1138" r:id="rId58"/>
    <p:sldId id="1139" r:id="rId59"/>
    <p:sldId id="1116" r:id="rId60"/>
    <p:sldId id="1117" r:id="rId61"/>
    <p:sldId id="1118" r:id="rId62"/>
    <p:sldId id="1121" r:id="rId63"/>
    <p:sldId id="1119" r:id="rId64"/>
    <p:sldId id="1120" r:id="rId65"/>
    <p:sldId id="1122" r:id="rId66"/>
    <p:sldId id="1123" r:id="rId67"/>
    <p:sldId id="1149" r:id="rId68"/>
    <p:sldId id="1150" r:id="rId69"/>
    <p:sldId id="1135" r:id="rId70"/>
    <p:sldId id="466" r:id="rId71"/>
    <p:sldId id="1048" r:id="rId72"/>
    <p:sldId id="469" r:id="rId7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pos="2955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B2B2B2"/>
    <a:srgbClr val="B8548D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7" autoAdjust="0"/>
    <p:restoredTop sz="94494" autoAdjust="0"/>
  </p:normalViewPr>
  <p:slideViewPr>
    <p:cSldViewPr snapToGrid="0">
      <p:cViewPr varScale="1">
        <p:scale>
          <a:sx n="65" d="100"/>
          <a:sy n="65" d="100"/>
        </p:scale>
        <p:origin x="1476" y="60"/>
      </p:cViewPr>
      <p:guideLst>
        <p:guide pos="2880"/>
        <p:guide pos="2955"/>
        <p:guide orient="horz" pos="2160"/>
        <p:guide orient="horz" pos="22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viewProps" Target="viewProp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032F1-4625-429B-AFF6-E0D2D473F30A}" type="datetimeFigureOut">
              <a:rPr lang="en-US" smtClean="0"/>
              <a:pPr/>
              <a:t>3/3/2022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8F9376-D936-4014-A111-B1B61137E9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1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8F9376-D936-4014-A111-B1B61137E9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54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8F9376-D936-4014-A111-B1B61137E9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7937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8F9376-D936-4014-A111-B1B61137E9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6697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8F9376-D936-4014-A111-B1B61137E9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4563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8F9376-D936-4014-A111-B1B61137E9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1719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8F9376-D936-4014-A111-B1B61137E9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1981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4E9-8455-41F3-A61D-9A16BCC0741E}" type="datetimeFigureOut">
              <a:rPr lang="en-US" smtClean="0"/>
              <a:pPr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3985-B3CD-402E-A2EE-D42373AE9F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1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4E9-8455-41F3-A61D-9A16BCC0741E}" type="datetimeFigureOut">
              <a:rPr lang="en-US" smtClean="0"/>
              <a:pPr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3985-B3CD-402E-A2EE-D42373AE9F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85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4E9-8455-41F3-A61D-9A16BCC0741E}" type="datetimeFigureOut">
              <a:rPr lang="en-US" smtClean="0"/>
              <a:pPr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3985-B3CD-402E-A2EE-D42373AE9F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08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4E9-8455-41F3-A61D-9A16BCC0741E}" type="datetimeFigureOut">
              <a:rPr lang="en-US" smtClean="0"/>
              <a:pPr/>
              <a:t>3/3/2022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3985-B3CD-402E-A2EE-D42373AE9F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90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4E9-8455-41F3-A61D-9A16BCC0741E}" type="datetimeFigureOut">
              <a:rPr lang="en-US" smtClean="0"/>
              <a:pPr/>
              <a:t>3/3/2022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3985-B3CD-402E-A2EE-D42373AE9F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6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4E9-8455-41F3-A61D-9A16BCC0741E}" type="datetimeFigureOut">
              <a:rPr lang="en-US" smtClean="0"/>
              <a:pPr/>
              <a:t>3/3/2022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3985-B3CD-402E-A2EE-D42373AE9F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18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4E9-8455-41F3-A61D-9A16BCC0741E}" type="datetimeFigureOut">
              <a:rPr lang="en-US" smtClean="0"/>
              <a:pPr/>
              <a:t>3/3/2022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3985-B3CD-402E-A2EE-D42373AE9F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31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4E9-8455-41F3-A61D-9A16BCC0741E}" type="datetimeFigureOut">
              <a:rPr lang="en-US" smtClean="0"/>
              <a:pPr/>
              <a:t>3/3/2022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3985-B3CD-402E-A2EE-D42373AE9F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90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4E9-8455-41F3-A61D-9A16BCC0741E}" type="datetimeFigureOut">
              <a:rPr lang="en-US" smtClean="0"/>
              <a:pPr/>
              <a:t>3/3/2022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3985-B3CD-402E-A2EE-D42373AE9F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0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4E9-8455-41F3-A61D-9A16BCC0741E}" type="datetimeFigureOut">
              <a:rPr lang="en-US" smtClean="0"/>
              <a:pPr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3985-B3CD-402E-A2EE-D42373AE9F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5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4E9-8455-41F3-A61D-9A16BCC0741E}" type="datetimeFigureOut">
              <a:rPr lang="en-US" smtClean="0"/>
              <a:pPr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3985-B3CD-402E-A2EE-D42373AE9F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11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250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397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505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196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060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617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5999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1589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8623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840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4127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47D86E-FCE0-42FA-A9BE-9DCE249C228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905A3-E97E-4D6D-BF7A-49D20CB9107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7518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4BA3DA-4643-4DE6-BFE4-740DA792DDA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D76DCD-2049-4544-8522-E4531E032AD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1434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1CDF3C-4121-4466-87E2-F421527113B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785EA-DB4C-46F3-8652-8DBFBE14169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4069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0F339-8803-45B3-9751-14CE4E9CC4F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21B20-0D13-4262-AB73-194855061FC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5892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4656F-2FCC-445E-B97B-94BDE4FEEB7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485B5F-D79E-4046-987E-75719BF1A01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631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518549-085F-4DA0-BE63-B98C2C87DF55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5C9C61-0511-4707-B4D3-5E0DCC65B3C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006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DEE7D5-CA89-4BE9-A221-14914DD6917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7DE8-67E8-4C5E-B398-A4CB8BDBBE7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6821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3287F-14A6-4B88-A0C1-D4DAD4DB0E9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E1AFE-3D73-4507-BD68-F663A275DA2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408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42742F-9947-448F-BC77-6093636BC8B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1026E0-3EBB-4DBD-B57C-9D81B7CCC2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3379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62FD6-6D9E-4517-A91A-CE75C1F60E4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5E4A21-9B4B-4190-B8B4-4E53F6B375D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5847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82C7F-CF20-4947-86E7-E78F6E954141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4728D7-4E32-400D-8E8C-BC45D17FDD23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3157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794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7377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631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5728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72875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4185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4428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0225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0296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8956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4658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1126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442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81532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88516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2036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41075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86296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3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1974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5868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603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114E9-8455-41F3-A61D-9A16BCC0741E}" type="datetimeFigureOut">
              <a:rPr lang="en-US" smtClean="0"/>
              <a:pPr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53985-B3CD-402E-A2EE-D42373AE9F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23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069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520097F-6809-4E5D-88D2-F556B254F371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4DE556B-7316-40CC-87B1-34511869095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32" name="AutoShape 8" descr="data:image/jpeg;base64,/9j/4AAQSkZJRgABAQAAAQABAAD/2wCEAAkGBhQSERUUEhQVFBUUFBYRGBgUFRUYFxkYFxIVFRQVFRQXHCYeFxojGRUXHy8gIycpLCwsFR4xNTAqNSYrLCkBCQoKDgwOGg8PGCwkHCQ1KiwsKjIsLCwsLCwsLCwsLCwsLCwsLCwsLCwsKSkpLCwpKSkvLCksKSksKSkpLCksLP/AABEIALkBDAMBIgACEQEDEQH/xAAcAAEAAgIDAQAAAAAAAAAAAAAABgcBAgQFCAP/xABREAABAwIDBAUHBgkICQUAAAABAAIDBBEFEiEGBzFBE1FhcZEUIiMygZKhQlKCsbLBFzVTVGJys9HwCBUkMzZDc8IWJYSToqPh4uMYVWR00//EABkBAQADAQEAAAAAAAAAAAAAAAACBAUDAf/EACoRAQACAQQBAgYCAwEAAAAAAAABAgMEERIxIRNBIjIzUYGRFEIjNFIF/9oADAMBAAIRAxEAPwC8UREBERAREQEREBERAREQEREBEWCUGVi6wXqJY/vOo6YloeZpBplisbH9J/qt8VKtLXnasI2tFe0uusZlS2Kb5Kp5IgjjiHIkGR3xsPgo9U7eV0nrVUo7GlrPsgWVyugyT3tCrOrpHW70VdLrzV/pJV/nNR/vn/vX3ptuK2P1aqXj8p2b7V10n/zr+1oefy494l6OusqkMN3w1bLdK2OYdrSx3sc3T/hU5wHetRzkNkJp3nS0lshPZINPGyrZNJlx+Zh1pqKX8bpui0ZMDqNQdbjt5ra6rLDKIsEoMotekTOEebw2Ra5whkQ3hsi1a+62R6IiICIiAiIgIiICIiAiIgIiwgFdVj+0cNHF0kzrDgGjVzj81reZXz2o2mjooDLJr8ljRxe7k0fWTyAVC4nilRiFSC68kjzkYxt7AH5LByA0ufFW9Pp/V+K3iqtmzcPEdu02q3iVFYS0HoYb6MYdXDkXvGru7QJs3u2qqsB+UQxGxD3ggkdbGDU+2wVgbE7sY6fLLUgSzcbHVkZ5ZQfWcOvwU+DQrGTVxjjhhj8uVNPN/iySg2EboqOIDpQ6d3PO6zfZG3TxupVR7PU8QHRwRMt82NoPja67DKsqhbLe872stxjrHUPl5O3qHgFxKvAaeW/SQxPv86NhPiRddgllDefulxhCcW3TUMtyxjoHdcTrD3HXbZV9tFusqqcF8f8ASGDmwWeAOuMnX2Eq9rLBaFZxavJj994cL6el4eedmNuamhNmOzxg6xPJy9oaeLHfwQVdOzG18NdHmiNnC2ZjvXZ3jmO0aLqds93UNYC+MCKfjnaPNd2SAfWNfqVP3qcOqflQzRHvBHcNHsd4c+KtzXFqo3r4srRa+Cdp8w9KBYcFG9i9sWV8OYebIyzZGX4Hrb1tPI96kiy71mszWe1+totG8Kf31PIqILEgdC7gbf3h7eKrrpz84+8V6M2m2ZhrYTHKO1rhbMw8nNJ+rmqE2k2cmopjFKOstePVe35zSeB6xyWzostLU4beWdqqWi3KOnW+UH5x94/vWPKD84+8firQ3cbZQvyUtTHGJNGRyFjAHgWAY7TR9ufO3WrO/muI/wB1H7jf3Jl1np242o8x6fnHKLIfubcTh3G/ppPrCnS0hp2sFmNa0cbNAA8AvosfJbnaZaVK8a7CIiikIiICIiAiIgIiICIiAuPV1LY2ue82a0FxJ5AA3PwX3JVa749o8kTaVh86bz32/JtOni4eDV1xY5yXisIZLcazKv8Aa/aV+IVJfrkv0cLOoHgbfOceNuwK1N3ew4o4xLKAaiRt3HTzAdcje3rPM9ih26TZbppjUyDzITlYDzksDf6It7T2K5wFc1eWKx6NOo7VdPj5f5LCyiLOXRERAS6LUlBm6ytbpdAKi+3OxjK6E2AbMwExv7fmu/RPw4qUErF17S00tyr2jasWjaXm/B8Vmw+rzgFr4nFkjDzANnsPX2HsXoTCcTZUQsljN2yNDh94PaCq13w7MAWrIxxIilt2+pIfs+0LTc1tCQ6SkcdCDNH2G46Ro+DvFaeeIz4ozR3HalimcWThPS0a+vjijdJI4MYwXc46ADvVE7ebamvkAaMkMZOQH1iSLF7uoEcG9ut1It9dY/pYI8xyZDJlB0zZyA4jmR29ZVaH+PG+nUuuh09ePqT256nNMzNI6Trd9u8fVObPPdsAN2jg6Qg39jL8zxV2AW/j+OtecWbY1rQAKmYAAAAP0AHADuW3+mtd+dze+Uz6XLmtytMGLUUxxtEPR4KyobuqxOWehzzSOkf0sjczzc2BFhdTFZF6zS01aNLco3ZREUUhERAREQEREBERAREQaOXnbbnFjUV87xqGv6JluphygDvId7yv/F6vooJZPycb5PdYXfcvPGydF01dTsOuaZpdfnlOc/ZWjoY25Xn2hS1U7zWv3XzshgopaOGLmGgu7Xu8558T8F3a1AWyz5nlMyt1jaNhEReJCIiAtHhbrR6PJ6eeqjbyvDzaqk0cQPVtodNLK0N3u34rW9FKQ2oYLnkJG/PaOR6x7eCpGq9d36zvrK+xZLTStJzRSNs9p1BFwC1w6wQeS38mlx3xxEeJZNM9qWnfp6E2o2pioYTJKbk6MYPWe7k0D7+Spat3i10jy4VDowTcNjsGtHIDTX2rqsZxueslzzOzvIDWgAWHUGNGgufEri1lG+J7o5AWvabOB4g2vr4qOn0lMcbX8yZtRa8/D0vTZmM1+EtFQ4yGaORrnG175yAeHEWHgqYwitdRVcb3aGCWz+5rskmnVYO8Qrq3YfiyD6f7RyqfePQiLEpwODy2X32gn4j4rjptpyXx+07u+b5K2XXiey9LVlr54WyEDK0m/C5Olj1m64X4NMO/NWeLv3rl7E1nS0FM88TCwH6Iy/cu7WZyvSZiJXONbeZhGfwaYd+as8X/AL1n8GuHfmsfi796kyL31sn/AFP7e+nX7ODhGCQ0rOjgYI2XLrC9rnidVzkRcp8+ZSiNuhERHoiIgIiICIiAiIgIURB0O3L7YfVW/IvHiLfeqd3YMvicN+Qkd7RGVc+2EGehqW9cEnwYT9ypPdxPlxKnPznOb7zDb7lp6X6GRRz/AFKvQgWVgLKzF4REQEREBavWy0eUeT08t1nrP73/AFlXnj2xTK+iiGjZmxMMb7cDkHmu62nq5cVRdWfOf3u+sr0zgp/o8P8AhR/YatbW5JrFLVnyztNWLTaLQhOwG7byYieqAM2uRlw4R/pX4F/byuq73gttiVT/AIg/ZtXoYrzzvDd/rOp/XH7Nqjostr5ptafZLU44rjiKwtzdh+K4O5/7RyrzfHH/AKwafnU7PtvH3BWJux/FlP3P/aOVa73Z82IkfMijb7dXf5l5pf8AZn8vc30I/CyN1br4ZD9Mf8xylyiu7KHLhlP2tc7xe4qVKhl+eVzH8sCIi5piIiAiIgIiICIiAiIgIiICIiD41EIc0tOocCCOwix+C82QONHVtJ4004v29HJY+IafEL0u4Ki96+CmCuMoHm1A6QfrizZB9k/SKv6G3xTSfdT1VfEW+y8YJg5ocDcEAg9YIuCvqoPup2g6eiEbjeSntEevLb0Z7rAj6Km6pXpNLTWVmlotWJhlERRTEREBalq2RBxDhkX5OP3G/uXJay3DgtkR5s1LV8H4fGTcxsJPMtaT42XJWChMbvmyINFmgADkAAB7AvOW1uIeUV08jdc8pa23MNIjbbvsPFXXt/tB5JRSPBs9/oo+vM4cR3C59iqDd3gvlFfE0jzIiJn9VmWyjvzZfErT0UcK2yyo6md5ikL2wOg6Cnii/JxsZp1hoB+N12C0at1mTO87r0dCIiPRERAREQEREBERAREQEREBERAUV3h7M+WUjmtHpY/Sx9pA1b9Iad9lKlqQpVtNJi0eyNq8o2l512N2kdQVTZDfIfMlbrfLexNutp18RxXoSkqWyNa9hDmuAcCOBB4FVLvT2H6N7quEeY43laB6p/KAdR59puuHu43geSkQVBJgcfNcb+icf8h49nctPPjjUU9XH37qWK3pW4W6Xci+UU4cAWm4OoIOhB1BB5r6ArKX2UREBERAREQLrR8oAuTa3Wj32VRbyd4YlzUtK67PVlkF7O1sY2dY+ceY0XbDhtltxhyyZIpG8o/vF2s8tqTkPoYbtZ+kdM0nceHcrI3V7M+TUvSPFpZ7PN+IYBZjfC5+koLu02JNVKJ5R6CN1xf+8eNQB1tHEnrFld7G2VvV5K0rGGnt2r4KTa05LNllEWcuiIiAiIgIiICIiAiIgIiICIiAiIgLFllEHymgDgQ4XBBBB1BBHAg8QqZ273aOpy6alaXw6ksFy6PmcvMs7tQrqKxlXbDnthtvX9OWXFGSNpUDsfvCmobMPpYL+oTq3tjdy/V4HvurkwDa+nq23hkBdzY7R7e9vH2i6ju1e6qGpJkgIglOpsPRuPa0cD2j2gqrMY2XqqJ15Y3stwkZct04WkHDwCvzXDqfNZ2sqROXD4nzD0e111m6oLCN6NdCADIJmjlKLn3xZ3jmUopN9+npaY362SaeBaq9tDlr1G7tXVUn3WrdLquPw101v6mf/l28c11xKrfe3+7pnX63yADwAXONJmn+qc6jH91oly6vGtp4KRuaeRrOYF7uPY1g1cqcxbevWzXDXNhafybfO983PhZdJhuB1Va+8bJJiTq9xOX6UjrD61YpoZjzlttDjbVb+KRu7/bHeZLWAxwgww8Dr6R/M5iNAOwdtzyWmxG7ySsLZJQY6e978HSD5rL/ACf0vC6l+yu6OOEiSrImeLEMH9WD2839x07FYjIwBYAAdg8F7k1VMdfTw/t5TDa88sj50dCyJjWRtDWNADWjQADguRZAsrNXhERAREQEREBERAREQEREBERAREQEREBERAREQFpJHfQgEHQg6/ArdEEXxTdxQzkl0AY4/KiJYfhofaFHqnclAT6OeZnY7K746KyLJZdq58lerS5ThpPcKqO47/5Z/wB1/wB65VNuRhHr1ErusNa1vs1urLsllP8Al5p/sj/Hxx7Iphm7KhhN+hEjuuUl/wDwnzfgpNDAGgBoAA4AAAeA4L62Sy4Wva3c7utaVr1AsoiikIiICIiAiIgIiIPlPUBgu5zWjhdxAHiVtFIHC4IIPMaj2FVv/KA/FX+0Rf5lCty28F1O9lDVOc2KUh0DnX81zjo25+Q88OQd3lBf5K+Edaxxyh7C7qDgT4cVA97m8P8Am+n6OJ39JmaQy1rxt4OlP1N7b9Sq7cgx4xoCQEPEU2YOvmvlF731B1vqg9Koqb2i3s4hHic1DSU8UxY/KwZXl5AYHEmzgF2eAbX45JUwsqMPbFC94Ej8rvNbzN85sgtFFVO3+86tpMRZR0kMUhkZGWB+bMXvLhl0cBxC4dZvPxmjb0lbhjRENS5hcA0drml4HtQXEij2x22UOIwdNASCDkfG62djrcD9x4Gyh22u+gU9QaWhh8qqAch4lgfza1rfOkcNb2ItZBaSKmxthtKBnOHsLT8nozm90S5vgpdtpvHZhtNE+ZuaolYCIWm3nZRnLib5WBxtfjyCCbLBVJneJtA+PyllC3oPWt0TiS3jexfnI7bKYbuN6UeJh0bm9DUMGZzL3a4A2LmE66HiDwQTV9cwGxewEcbuAI7wVg4hH+UZ7zf3rzttJgIrtppaV73MbLLYuba4tTtdoD+qph/6cqb87n92NBb8clxcWIPAjmOsLdQDbbHZMFwyDycNkMZipby39UMIzac/N7lyd2m8JuKQEuysnjIbIxpNtfVkZfXKeGvAghBNkVc4vvFnixyHD2sj6KTo7uIdn85hcbEG3EdS6rb3epW0mJeR0sMUpc2PIHB5e50jb2FiBxQW2iqSh212gdIwSYa1rHPa1zsj/NaXAOd6/IElc/ejvKqcOqIIqeOKTpmE+kzXv0mUAWcOxBZiKmcR3p4xQ5X1+Hxticct2kjXqDw5wB6gQrGodroH0La4v6OB0fSEv4t5Fp63Zhbt9qCQIqXk3x4hWyuZhNEZGN+W9pcbci4AhrO4kld3sxtNjjquKKuomtheSHysFsgDSQczXubxAGvWgs1FWm0O8qop8agw9jIzFKYQXODs/pONiDb4Ky0BERAREQEREFafygPxUP8A7EX1OUabu9GIbP0csQ/pUELyw3tnaJpCYifEg8j3qU7+KZ0mF5WNc8+URGzWlxtZ2tgF3G6iBzcIpGuBaQx1wQQR6V51BQVruq2Emrqj+cMRzvaxwDBNfNI9nmguB+Qy3Dm4dhvjYj+1dV+vVK9wy3/RUhsXQSDaipkMcgYXVNnljg3XUecRZB0WMYlUQbT1ElJD5RM2R2WPXW8DQ46a6C6sfZnbLF5qqOOpwzoIXEh8nn+aMpIOp67D2qvMfxCeh2jnrG00kwbIbANeA7NC1tw8NI5qY4NvnqJp4o3YZKxskjIy+8lmhzg3MfR20vdB0m3f9qqL/ZvtuV3VMDXtLHtDmuBaQRcEHQgjqVFb1HSw49DVMgllZCyCTzGOscrnEtzhpAPiudiW93Eqphio8Omie8Fue0j3C/Nno2tB7TwQdFuwrHUldicdOS5kdNVOaeIvA93QvNuJ4+8u3/k7YdG99XUPs6VvRsBOpAeHuedeZLQL9h61Kd0W7d+HxSSVIHTzgNLQQ7JGNchPNxcbnloFDK3AK/Z+tkqKKIz0shOgDnDJe7WSBvnNLbmzu9BfnJUFtlap2qhhn/qmvgjAdwIDektbqc/S3O67ofyhcwytw6ZzzpYSX+qO613sbET1JgxOiY7pmsjdIxt+kGWz43tFtS3VpH6IQXALD2afx9SoSSnFLta1tOLB0zSWt0A6WG8rbDlqSufDv+qAwRPoHGpAt6zwC7rMWTN9EFdlus2EqX1b8UxAFsry58bHCzrvFjI5vyQG6NHcghm01NUSbTTMo3iOodLaN5NgD0Avc2OmUHlzUubsptN+fx+2X/wqMbU1U9HtFNWMp5JRHLcAMfldeBrfXDT1/BSL8PFX/wC1v8Zf/wA0Ha79mOGDxCQgvE8OYjgXdG/OeHM3Vc0lNPgc1FXxkvgqYGPd25mNMsLuo/KaewdRU43m4lNiGAwTCnex76hpMTWvc5ob0rbkZQbaX4cwpZRbLMrsDp6WYWvSwgEtIdG8RjK4A6gg8uq45oK5rcZiq9p6KeB4fG9sBB6vRvu1w5OHAhcTedVSRbSRyQx9LKwU7mR6+e4M0bprqur2J2VqaTHKeOaJ46KosXZHZCA11nB9rFpFiNV3W858sG0DapkEkrYRA+zWvs7KzhmDSAgmWE7b41JPEyXChHG+RjXvs/zWlwzO1PIXPsUY/lAyllbQuAzFrC4AcTadpA7zZdpFv0qCQP5ql109aTr/AMJcPfph8sldRGOOR4azUsY9wHpwdS0acEHTbbbf1OJujw+WnbRCSWMkzl9wb+aXEgZWXPIa2Xa74aA0GE0NDG4mMPdmPzixua57M73H2DqXf789jHVVMyphY500Bs4NBLnROOoA5lrtfa5cWkw6THMDEMwdHV0zgA6Vrm3ewWY43Gocw2J69UEl2QpxR4HE6kiEz/Jmz5G8ZZXtDnC41JuSPoqO0G+moNdDST0BgfLIyMh8jg5oebB2UtF1HNmt4tZgrPJK6jkfGy4YdWkC5NmvILZGa6dV1wIsVlxbHqarhppmxtkgDvNLg0Rm7nOeAANEHa7c/wBq6T9al+0VfKo7bXD5HbUUsgjeWB1Nd4Y4t0Nz5wFleKAiIgIiICIiDBCWWUQYIQtWUQYypZZRBjKsOZfitkQa5FnKsog0EIBuAPALPRhbIg0MQ42F+vn4rbKsogwGpZZRBjKmVZRBrkWcqyiDFkyrKINciZVsiDQwg8Rfv1+BQRju7luiDFllEQEREBERAREQf//Z"/>
          <p:cNvSpPr>
            <a:spLocks noChangeAspect="1" noChangeArrowheads="1"/>
          </p:cNvSpPr>
          <p:nvPr userDrawn="1"/>
        </p:nvSpPr>
        <p:spPr bwMode="auto">
          <a:xfrm>
            <a:off x="155575" y="-1058863"/>
            <a:ext cx="3190875" cy="2209801"/>
          </a:xfrm>
          <a:prstGeom prst="rect">
            <a:avLst/>
          </a:prstGeom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2056" name="Picture 8" descr="Logo TM 2013.jpg"/>
          <p:cNvPicPr>
            <a:picLocks noChangeAspect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60325" y="6172200"/>
            <a:ext cx="625475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4804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734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64870-3E2E-493E-A3A8-A8C6D68CA44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15948-2C90-492A-AD9D-F4496B31733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904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3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5300" y="-2343150"/>
            <a:ext cx="9963150" cy="92392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21412175">
            <a:off x="211046" y="2551740"/>
            <a:ext cx="8829661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8800" b="1" i="1" dirty="0">
                <a:effectLst>
                  <a:glow rad="165100">
                    <a:srgbClr val="FFFF00"/>
                  </a:glow>
                </a:effectLst>
                <a:latin typeface="Comic Sans MS" panose="030F0702030302020204" pitchFamily="66" charset="0"/>
              </a:rPr>
              <a:t>All about</a:t>
            </a:r>
            <a:endParaRPr lang="en-ID" sz="8800" b="1" dirty="0">
              <a:solidFill>
                <a:srgbClr val="92D050"/>
              </a:solidFill>
              <a:effectLst>
                <a:glow rad="165100">
                  <a:srgbClr val="FFFF00"/>
                </a:glow>
              </a:effectLst>
              <a:latin typeface="Comic Sans MS" panose="030F0702030302020204" pitchFamily="66" charset="0"/>
            </a:endParaRPr>
          </a:p>
          <a:p>
            <a:r>
              <a:rPr lang="en-ID" sz="15000" b="1" dirty="0">
                <a:solidFill>
                  <a:srgbClr val="92D050"/>
                </a:solidFill>
                <a:effectLst>
                  <a:glow rad="165100">
                    <a:schemeClr val="tx1"/>
                  </a:glow>
                </a:effectLst>
                <a:latin typeface="Comic Sans MS" panose="030F0702030302020204" pitchFamily="66" charset="0"/>
              </a:rPr>
              <a:t>PUBERTY</a:t>
            </a:r>
          </a:p>
        </p:txBody>
      </p:sp>
    </p:spTree>
    <p:extLst>
      <p:ext uri="{BB962C8B-B14F-4D97-AF65-F5344CB8AC3E}">
        <p14:creationId xmlns:p14="http://schemas.microsoft.com/office/powerpoint/2010/main" val="177451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0.96702 -0.05139 L -0.97257 0.05417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979" y="5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381" y="2742422"/>
            <a:ext cx="6095238" cy="34476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9365" y="1392072"/>
            <a:ext cx="27286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6000" b="1" dirty="0">
                <a:latin typeface="Bradley Hand ITC" panose="03070402050302030203" pitchFamily="66" charset="0"/>
              </a:rPr>
              <a:t>What is</a:t>
            </a:r>
            <a:endParaRPr lang="en-US" sz="6000" b="1" dirty="0">
              <a:latin typeface="Bradley Hand ITC" panose="03070402050302030203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710987" y="2324811"/>
            <a:ext cx="864339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5000" dirty="0">
                <a:latin typeface="Candara" pitchFamily="34" charset="0"/>
              </a:rPr>
              <a:t>?</a:t>
            </a:r>
            <a:endParaRPr lang="en-US" sz="15000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494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 bright="40000" contrast="-40000"/>
          </a:blip>
          <a:stretch>
            <a:fillRect/>
          </a:stretch>
        </p:blipFill>
        <p:spPr>
          <a:xfrm>
            <a:off x="0" y="11659"/>
            <a:ext cx="9144000" cy="6846341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300033" y="1409989"/>
            <a:ext cx="8672517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5400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  <a:t>ماذا يعني البلوغ ؟</a:t>
            </a:r>
            <a:r>
              <a:rPr lang="ar-SA" sz="2800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  <a:t>‬</a:t>
            </a:r>
            <a:endParaRPr lang="en-ID" sz="2800" dirty="0">
              <a:solidFill>
                <a:schemeClr val="bg1"/>
              </a:solidFill>
              <a:effectLst>
                <a:glow rad="127000">
                  <a:schemeClr val="tx1"/>
                </a:glow>
              </a:effectLst>
            </a:endParaRPr>
          </a:p>
          <a:p>
            <a:pPr algn="ctr" rtl="1"/>
            <a:endParaRPr lang="en-ID" sz="2800" dirty="0">
              <a:solidFill>
                <a:schemeClr val="bg1"/>
              </a:solidFill>
              <a:effectLst>
                <a:glow rad="127000">
                  <a:schemeClr val="tx1"/>
                </a:glow>
              </a:effectLst>
            </a:endParaRPr>
          </a:p>
          <a:p>
            <a:pPr algn="ctr" rtl="1"/>
            <a:r>
              <a:rPr lang="ar-SA" sz="2800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  <a:t> </a:t>
            </a:r>
            <a:r>
              <a:rPr lang="ar-SA" sz="2800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</a:rPr>
              <a:t>‫</a:t>
            </a:r>
            <a:r>
              <a:rPr lang="ar-SA" sz="4000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</a:rPr>
              <a:t>هو سن الانتقال من الطفولة الى الشباب</a:t>
            </a:r>
            <a:endParaRPr lang="en-ID" sz="4000" dirty="0">
              <a:solidFill>
                <a:srgbClr val="FFFF00"/>
              </a:solidFill>
              <a:effectLst>
                <a:glow rad="127000">
                  <a:schemeClr val="tx1"/>
                </a:glow>
              </a:effectLst>
            </a:endParaRPr>
          </a:p>
          <a:p>
            <a:pPr algn="ctr" rtl="1"/>
            <a:r>
              <a:rPr lang="ar-SA" sz="4000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</a:rPr>
              <a:t> وهي‬‫مرحلة طبيعية من حياة كل إنسان</a:t>
            </a:r>
            <a:r>
              <a:rPr lang="en-ID" sz="4000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</a:rPr>
              <a:t> </a:t>
            </a:r>
            <a:r>
              <a:rPr lang="ar-SA" sz="4000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</a:rPr>
              <a:t>وتحدث فيها‬ ‫تغيرات جسمية ونفسية </a:t>
            </a:r>
            <a:endParaRPr lang="en-US" sz="4000" dirty="0">
              <a:solidFill>
                <a:srgbClr val="FFFF00"/>
              </a:solidFill>
              <a:effectLst>
                <a:glow rad="127000">
                  <a:schemeClr val="tx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1412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6846964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1261248"/>
            <a:ext cx="9144000" cy="367336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dirty="0">
                <a:solidFill>
                  <a:srgbClr val="FFC000"/>
                </a:solidFill>
                <a:effectLst>
                  <a:glow rad="127000">
                    <a:schemeClr val="tx1"/>
                  </a:glow>
                </a:effectLst>
              </a:rPr>
              <a:t>STATUS BALIGH</a:t>
            </a:r>
            <a:br>
              <a:rPr lang="en-ID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</a:br>
            <a:r>
              <a:rPr lang="en-ID" sz="3200" dirty="0" err="1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  <a:t>adalah</a:t>
            </a:r>
            <a:br>
              <a:rPr lang="en-ID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</a:br>
            <a:r>
              <a:rPr lang="en-ID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</a:rPr>
              <a:t>MUKALLAF</a:t>
            </a:r>
            <a:br>
              <a:rPr lang="en-ID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</a:rPr>
            </a:br>
            <a:r>
              <a:rPr lang="en-ID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</a:rPr>
              <a:t>(</a:t>
            </a:r>
            <a:r>
              <a:rPr lang="en-ID" sz="4000" b="1" dirty="0" err="1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</a:rPr>
              <a:t>pemikul</a:t>
            </a:r>
            <a:r>
              <a:rPr lang="en-ID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</a:rPr>
              <a:t> </a:t>
            </a:r>
            <a:r>
              <a:rPr lang="en-ID" sz="4000" b="1" dirty="0" err="1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</a:rPr>
              <a:t>beban</a:t>
            </a:r>
            <a:r>
              <a:rPr lang="en-ID" sz="4000" b="1" dirty="0">
                <a:solidFill>
                  <a:srgbClr val="FFFF00"/>
                </a:solidFill>
                <a:effectLst>
                  <a:glow rad="127000">
                    <a:schemeClr val="tx1"/>
                  </a:glow>
                </a:effectLst>
              </a:rPr>
              <a:t>)</a:t>
            </a:r>
            <a:br>
              <a:rPr lang="en-ID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</a:br>
            <a:r>
              <a:rPr lang="en-ID" sz="3200" dirty="0" err="1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  <a:t>yaitu</a:t>
            </a:r>
            <a:br>
              <a:rPr lang="en-ID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</a:br>
            <a:r>
              <a:rPr lang="en-ID" sz="4000" dirty="0" err="1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sym typeface="Wingdings" panose="05000000000000000000" pitchFamily="2" charset="2"/>
              </a:rPr>
              <a:t>berkewajiban</a:t>
            </a:r>
            <a:r>
              <a:rPr lang="en-ID" sz="4000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sym typeface="Wingdings" panose="05000000000000000000" pitchFamily="2" charset="2"/>
              </a:rPr>
              <a:t> </a:t>
            </a:r>
            <a:r>
              <a:rPr lang="en-ID" sz="4000" dirty="0" err="1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sym typeface="Wingdings" panose="05000000000000000000" pitchFamily="2" charset="2"/>
              </a:rPr>
              <a:t>menjalankan</a:t>
            </a:r>
            <a:r>
              <a:rPr lang="en-ID" sz="4000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sym typeface="Wingdings" panose="05000000000000000000" pitchFamily="2" charset="2"/>
              </a:rPr>
              <a:t> </a:t>
            </a:r>
            <a:r>
              <a:rPr lang="en-ID" sz="4000" dirty="0" err="1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sym typeface="Wingdings" panose="05000000000000000000" pitchFamily="2" charset="2"/>
              </a:rPr>
              <a:t>beban</a:t>
            </a:r>
            <a:r>
              <a:rPr lang="en-ID" sz="4000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sym typeface="Wingdings" panose="05000000000000000000" pitchFamily="2" charset="2"/>
              </a:rPr>
              <a:t> </a:t>
            </a:r>
            <a:r>
              <a:rPr lang="en-ID" sz="4000" dirty="0" err="1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sym typeface="Wingdings" panose="05000000000000000000" pitchFamily="2" charset="2"/>
              </a:rPr>
              <a:t>syari’at</a:t>
            </a:r>
            <a:endParaRPr lang="en-US" dirty="0">
              <a:solidFill>
                <a:schemeClr val="bg1"/>
              </a:solidFill>
              <a:effectLst>
                <a:glow rad="127000">
                  <a:schemeClr val="tx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67749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72281" y="4786322"/>
            <a:ext cx="1971685" cy="1604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15140" y="4117049"/>
            <a:ext cx="1933584" cy="2240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81832" y="1857364"/>
            <a:ext cx="1619258" cy="4501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786579" y="1257502"/>
            <a:ext cx="1857388" cy="5132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6891359" y="927338"/>
            <a:ext cx="1824045" cy="518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208885" y="857232"/>
            <a:ext cx="7437379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0" indent="-361950"/>
            <a:r>
              <a:rPr lang="id-ID" sz="3400" i="1" dirty="0"/>
              <a:t>Maka akan menjadi </a:t>
            </a:r>
            <a:r>
              <a:rPr lang="en-US" sz="3400" i="1" dirty="0" err="1"/>
              <a:t>pribadi</a:t>
            </a:r>
            <a:r>
              <a:rPr lang="en-US" sz="3400" i="1" dirty="0"/>
              <a:t> </a:t>
            </a:r>
            <a:r>
              <a:rPr lang="en-US" sz="3400" i="1" dirty="0" err="1"/>
              <a:t>dewasa</a:t>
            </a:r>
            <a:r>
              <a:rPr lang="id-ID" sz="3400" i="1" dirty="0"/>
              <a:t>:</a:t>
            </a:r>
          </a:p>
          <a:p>
            <a:pPr marL="361950" indent="-361950">
              <a:buFont typeface="Arial" pitchFamily="34" charset="0"/>
              <a:buChar char="•"/>
            </a:pPr>
            <a:r>
              <a:rPr lang="en-US" sz="3400" i="1" dirty="0" err="1"/>
              <a:t>Pribadi</a:t>
            </a:r>
            <a:r>
              <a:rPr lang="en-US" sz="3400" i="1" dirty="0"/>
              <a:t> </a:t>
            </a:r>
            <a:r>
              <a:rPr lang="en-US" sz="3400" i="1" dirty="0" err="1"/>
              <a:t>berakhlak</a:t>
            </a:r>
            <a:r>
              <a:rPr lang="en-US" sz="3400" i="1" dirty="0"/>
              <a:t> </a:t>
            </a:r>
            <a:r>
              <a:rPr lang="en-US" sz="3400" i="1" dirty="0" err="1"/>
              <a:t>mulia</a:t>
            </a:r>
            <a:r>
              <a:rPr lang="en-US" sz="3400" i="1" dirty="0"/>
              <a:t>, </a:t>
            </a:r>
            <a:r>
              <a:rPr lang="en-US" sz="3400" i="1" dirty="0" err="1"/>
              <a:t>tunduk</a:t>
            </a:r>
            <a:r>
              <a:rPr lang="en-US" sz="3400" i="1" dirty="0"/>
              <a:t> </a:t>
            </a:r>
            <a:r>
              <a:rPr lang="en-US" sz="3400" i="1" dirty="0" err="1"/>
              <a:t>dan</a:t>
            </a:r>
            <a:r>
              <a:rPr lang="en-US" sz="3400" i="1" dirty="0"/>
              <a:t> </a:t>
            </a:r>
            <a:r>
              <a:rPr lang="en-US" sz="3400" i="1" dirty="0" err="1"/>
              <a:t>taat</a:t>
            </a:r>
            <a:r>
              <a:rPr lang="en-US" sz="3400" i="1" dirty="0"/>
              <a:t> </a:t>
            </a:r>
            <a:r>
              <a:rPr lang="en-US" sz="3400" i="1" dirty="0" err="1"/>
              <a:t>beribadah</a:t>
            </a:r>
            <a:endParaRPr lang="en-US" sz="3400" i="1" dirty="0"/>
          </a:p>
          <a:p>
            <a:pPr marL="361950" indent="-361950">
              <a:buFont typeface="Arial" pitchFamily="34" charset="0"/>
              <a:buChar char="•"/>
            </a:pPr>
            <a:r>
              <a:rPr lang="en-US" sz="3400" i="1" dirty="0" err="1"/>
              <a:t>Pribadi</a:t>
            </a:r>
            <a:r>
              <a:rPr lang="en-US" sz="3400" i="1" dirty="0"/>
              <a:t> yang </a:t>
            </a:r>
            <a:r>
              <a:rPr lang="en-US" sz="3400" i="1" dirty="0" err="1"/>
              <a:t>inovatif</a:t>
            </a:r>
            <a:r>
              <a:rPr lang="en-US" sz="3400" i="1" dirty="0"/>
              <a:t> </a:t>
            </a:r>
            <a:r>
              <a:rPr lang="en-US" sz="3400" i="1" dirty="0" err="1"/>
              <a:t>dan</a:t>
            </a:r>
            <a:r>
              <a:rPr lang="en-US" sz="3400" i="1" dirty="0"/>
              <a:t> </a:t>
            </a:r>
            <a:r>
              <a:rPr lang="en-US" sz="3400" i="1" dirty="0" err="1"/>
              <a:t>kreatif</a:t>
            </a:r>
            <a:endParaRPr lang="en-US" sz="3400" i="1" dirty="0"/>
          </a:p>
          <a:p>
            <a:pPr marL="361950" indent="-361950">
              <a:buFont typeface="Arial" pitchFamily="34" charset="0"/>
              <a:buChar char="•"/>
            </a:pPr>
            <a:r>
              <a:rPr lang="en-US" sz="3400" i="1" dirty="0" err="1"/>
              <a:t>Pribadi</a:t>
            </a:r>
            <a:r>
              <a:rPr lang="en-US" sz="3400" i="1" dirty="0"/>
              <a:t> yang </a:t>
            </a:r>
            <a:r>
              <a:rPr lang="en-US" sz="3400" i="1" dirty="0" err="1"/>
              <a:t>berkarya</a:t>
            </a:r>
            <a:r>
              <a:rPr lang="en-US" sz="3400" i="1" dirty="0"/>
              <a:t> </a:t>
            </a:r>
            <a:r>
              <a:rPr lang="en-US" sz="3400" i="1" dirty="0" err="1"/>
              <a:t>atas</a:t>
            </a:r>
            <a:r>
              <a:rPr lang="en-US" sz="3400" i="1" dirty="0"/>
              <a:t> </a:t>
            </a:r>
            <a:r>
              <a:rPr lang="en-US" sz="3400" i="1" dirty="0" err="1"/>
              <a:t>bakatnya</a:t>
            </a:r>
            <a:endParaRPr lang="id-ID" sz="3400" i="1" dirty="0"/>
          </a:p>
          <a:p>
            <a:pPr marL="361950" indent="-361950"/>
            <a:r>
              <a:rPr lang="id-ID" sz="3400" i="1" dirty="0"/>
              <a:t>				... insya Allah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3756" y="6000768"/>
            <a:ext cx="5715040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SEMUA FITRAH TUMBUH SEMPURNA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1365" y="5476562"/>
            <a:ext cx="5265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/>
              <a:t>Setelah</a:t>
            </a:r>
            <a:r>
              <a:rPr lang="en-US" sz="2800" i="1" dirty="0"/>
              <a:t> </a:t>
            </a:r>
            <a:r>
              <a:rPr lang="en-US" sz="2800" i="1" dirty="0" err="1"/>
              <a:t>baligh</a:t>
            </a:r>
            <a:r>
              <a:rPr lang="en-US" sz="2800" i="1" dirty="0"/>
              <a:t> </a:t>
            </a:r>
            <a:r>
              <a:rPr lang="en-US" sz="2800" i="1" dirty="0" err="1"/>
              <a:t>seharusnya</a:t>
            </a:r>
            <a:r>
              <a:rPr lang="en-US" sz="2800" i="1" dirty="0"/>
              <a:t>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0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30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bldLvl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85458" y="-33981"/>
            <a:ext cx="3426782" cy="31732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7040" y="66557"/>
            <a:ext cx="2872763" cy="3072135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3930" y="829150"/>
            <a:ext cx="7886700" cy="644808"/>
          </a:xfrm>
        </p:spPr>
        <p:txBody>
          <a:bodyPr>
            <a:normAutofit fontScale="90000"/>
          </a:bodyPr>
          <a:lstStyle/>
          <a:p>
            <a:pPr algn="ctr"/>
            <a:r>
              <a:rPr lang="en-ID" sz="3200" b="1" dirty="0">
                <a:latin typeface="Comic Sans MS" panose="030F0702030302020204" pitchFamily="66" charset="0"/>
              </a:rPr>
              <a:t>TANDA PUBER</a:t>
            </a:r>
            <a:br>
              <a:rPr lang="en-ID" sz="3200" b="1" dirty="0">
                <a:latin typeface="Comic Sans MS" panose="030F0702030302020204" pitchFamily="66" charset="0"/>
              </a:rPr>
            </a:br>
            <a:r>
              <a:rPr lang="en-ID" sz="2200" b="1" dirty="0">
                <a:latin typeface="Comic Sans MS" panose="030F0702030302020204" pitchFamily="66" charset="0"/>
              </a:rPr>
              <a:t>(BALIGH / BALIGHAH)</a:t>
            </a:r>
            <a:endParaRPr lang="en-US" sz="2200" b="1" dirty="0">
              <a:latin typeface="Comic Sans MS" panose="030F0702030302020204" pitchFamily="66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57039" y="3149461"/>
            <a:ext cx="4565085" cy="314186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</a:pPr>
            <a:r>
              <a:rPr lang="en-ID" dirty="0" err="1">
                <a:solidFill>
                  <a:srgbClr val="0070C0"/>
                </a:solidFill>
              </a:rPr>
              <a:t>Ihtilam</a:t>
            </a:r>
            <a:r>
              <a:rPr lang="en-ID" dirty="0">
                <a:solidFill>
                  <a:srgbClr val="0070C0"/>
                </a:solidFill>
              </a:rPr>
              <a:t>/</a:t>
            </a:r>
            <a:r>
              <a:rPr lang="en-ID" dirty="0" err="1">
                <a:solidFill>
                  <a:srgbClr val="0070C0"/>
                </a:solidFill>
              </a:rPr>
              <a:t>mimpi</a:t>
            </a:r>
            <a:r>
              <a:rPr lang="en-ID" dirty="0">
                <a:solidFill>
                  <a:srgbClr val="0070C0"/>
                </a:solidFill>
              </a:rPr>
              <a:t> </a:t>
            </a:r>
            <a:r>
              <a:rPr lang="en-ID" dirty="0" err="1">
                <a:solidFill>
                  <a:srgbClr val="0070C0"/>
                </a:solidFill>
              </a:rPr>
              <a:t>basah</a:t>
            </a:r>
            <a:endParaRPr lang="en-ID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</a:pPr>
            <a:r>
              <a:rPr lang="en-ID" dirty="0" err="1">
                <a:solidFill>
                  <a:srgbClr val="0070C0"/>
                </a:solidFill>
              </a:rPr>
              <a:t>Muncul</a:t>
            </a:r>
            <a:r>
              <a:rPr lang="en-ID" dirty="0">
                <a:solidFill>
                  <a:srgbClr val="0070C0"/>
                </a:solidFill>
              </a:rPr>
              <a:t> </a:t>
            </a:r>
            <a:r>
              <a:rPr lang="en-ID" dirty="0" err="1">
                <a:solidFill>
                  <a:srgbClr val="0070C0"/>
                </a:solidFill>
              </a:rPr>
              <a:t>jakun</a:t>
            </a:r>
            <a:endParaRPr lang="en-ID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</a:pPr>
            <a:r>
              <a:rPr lang="en-ID" dirty="0" err="1">
                <a:solidFill>
                  <a:srgbClr val="0070C0"/>
                </a:solidFill>
              </a:rPr>
              <a:t>Tumbuh</a:t>
            </a:r>
            <a:r>
              <a:rPr lang="en-ID" dirty="0">
                <a:solidFill>
                  <a:srgbClr val="0070C0"/>
                </a:solidFill>
              </a:rPr>
              <a:t> </a:t>
            </a:r>
            <a:r>
              <a:rPr lang="en-ID" dirty="0" err="1">
                <a:solidFill>
                  <a:srgbClr val="0070C0"/>
                </a:solidFill>
              </a:rPr>
              <a:t>bulu</a:t>
            </a:r>
            <a:r>
              <a:rPr lang="en-ID" dirty="0">
                <a:solidFill>
                  <a:srgbClr val="0070C0"/>
                </a:solidFill>
              </a:rPr>
              <a:t> </a:t>
            </a:r>
            <a:r>
              <a:rPr lang="en-ID" dirty="0" err="1">
                <a:solidFill>
                  <a:srgbClr val="0070C0"/>
                </a:solidFill>
              </a:rPr>
              <a:t>kemaluan</a:t>
            </a:r>
            <a:endParaRPr lang="en-ID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</a:pPr>
            <a:r>
              <a:rPr lang="en-ID" dirty="0" err="1">
                <a:solidFill>
                  <a:srgbClr val="0070C0"/>
                </a:solidFill>
              </a:rPr>
              <a:t>Tumbuh</a:t>
            </a:r>
            <a:r>
              <a:rPr lang="en-ID" dirty="0">
                <a:solidFill>
                  <a:srgbClr val="0070C0"/>
                </a:solidFill>
              </a:rPr>
              <a:t> </a:t>
            </a:r>
            <a:r>
              <a:rPr lang="en-ID" dirty="0" err="1">
                <a:solidFill>
                  <a:srgbClr val="0070C0"/>
                </a:solidFill>
              </a:rPr>
              <a:t>bulu</a:t>
            </a:r>
            <a:r>
              <a:rPr lang="en-ID" dirty="0">
                <a:solidFill>
                  <a:srgbClr val="0070C0"/>
                </a:solidFill>
              </a:rPr>
              <a:t> </a:t>
            </a:r>
            <a:r>
              <a:rPr lang="en-ID" dirty="0" err="1">
                <a:solidFill>
                  <a:srgbClr val="0070C0"/>
                </a:solidFill>
              </a:rPr>
              <a:t>ketiak</a:t>
            </a:r>
            <a:endParaRPr lang="en-ID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</a:pPr>
            <a:r>
              <a:rPr lang="en-ID" dirty="0" err="1">
                <a:solidFill>
                  <a:srgbClr val="0070C0"/>
                </a:solidFill>
              </a:rPr>
              <a:t>Tumbuh</a:t>
            </a:r>
            <a:r>
              <a:rPr lang="en-ID" dirty="0">
                <a:solidFill>
                  <a:srgbClr val="0070C0"/>
                </a:solidFill>
              </a:rPr>
              <a:t> kumis / </a:t>
            </a:r>
            <a:r>
              <a:rPr lang="en-ID" dirty="0" err="1">
                <a:solidFill>
                  <a:srgbClr val="0070C0"/>
                </a:solidFill>
              </a:rPr>
              <a:t>jenggot</a:t>
            </a:r>
            <a:endParaRPr lang="en-ID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</a:pPr>
            <a:r>
              <a:rPr lang="en-ID" dirty="0" err="1">
                <a:solidFill>
                  <a:srgbClr val="0070C0"/>
                </a:solidFill>
              </a:rPr>
              <a:t>Mulai</a:t>
            </a:r>
            <a:r>
              <a:rPr lang="en-ID" dirty="0">
                <a:solidFill>
                  <a:srgbClr val="0070C0"/>
                </a:solidFill>
              </a:rPr>
              <a:t> </a:t>
            </a:r>
            <a:r>
              <a:rPr lang="en-ID" dirty="0" err="1">
                <a:solidFill>
                  <a:srgbClr val="0070C0"/>
                </a:solidFill>
              </a:rPr>
              <a:t>berotot</a:t>
            </a:r>
            <a:r>
              <a:rPr lang="en-ID" dirty="0">
                <a:solidFill>
                  <a:srgbClr val="0070C0"/>
                </a:solidFill>
              </a:rPr>
              <a:t>/dada </a:t>
            </a:r>
            <a:r>
              <a:rPr lang="en-ID" dirty="0" err="1">
                <a:solidFill>
                  <a:srgbClr val="0070C0"/>
                </a:solidFill>
              </a:rPr>
              <a:t>melebar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128999" y="3179636"/>
            <a:ext cx="4000500" cy="3111690"/>
          </a:xfrm>
        </p:spPr>
        <p:txBody>
          <a:bodyPr>
            <a:normAutofit/>
          </a:bodyPr>
          <a:lstStyle/>
          <a:p>
            <a:pPr marL="216000" indent="-216000"/>
            <a:r>
              <a:rPr lang="en-ID" dirty="0" err="1">
                <a:solidFill>
                  <a:srgbClr val="FF3399"/>
                </a:solidFill>
              </a:rPr>
              <a:t>Haid</a:t>
            </a:r>
            <a:r>
              <a:rPr lang="en-ID" dirty="0">
                <a:solidFill>
                  <a:srgbClr val="FF3399"/>
                </a:solidFill>
              </a:rPr>
              <a:t>/</a:t>
            </a:r>
            <a:r>
              <a:rPr lang="en-ID" dirty="0" err="1">
                <a:solidFill>
                  <a:srgbClr val="FF3399"/>
                </a:solidFill>
              </a:rPr>
              <a:t>menstruasi</a:t>
            </a:r>
            <a:endParaRPr lang="en-ID" dirty="0">
              <a:solidFill>
                <a:srgbClr val="FF3399"/>
              </a:solidFill>
            </a:endParaRPr>
          </a:p>
          <a:p>
            <a:pPr marL="216000" indent="-216000"/>
            <a:r>
              <a:rPr lang="en-ID" dirty="0" err="1">
                <a:solidFill>
                  <a:srgbClr val="FF3399"/>
                </a:solidFill>
              </a:rPr>
              <a:t>Muncul</a:t>
            </a:r>
            <a:r>
              <a:rPr lang="en-ID" dirty="0">
                <a:solidFill>
                  <a:srgbClr val="FF3399"/>
                </a:solidFill>
              </a:rPr>
              <a:t> </a:t>
            </a:r>
            <a:r>
              <a:rPr lang="en-ID" dirty="0" err="1">
                <a:solidFill>
                  <a:srgbClr val="FF3399"/>
                </a:solidFill>
              </a:rPr>
              <a:t>puting</a:t>
            </a:r>
            <a:r>
              <a:rPr lang="en-ID" dirty="0">
                <a:solidFill>
                  <a:srgbClr val="FF3399"/>
                </a:solidFill>
              </a:rPr>
              <a:t> </a:t>
            </a:r>
            <a:r>
              <a:rPr lang="en-ID" dirty="0" err="1">
                <a:solidFill>
                  <a:srgbClr val="FF3399"/>
                </a:solidFill>
              </a:rPr>
              <a:t>payudara</a:t>
            </a:r>
            <a:r>
              <a:rPr lang="en-ID" dirty="0">
                <a:solidFill>
                  <a:srgbClr val="FF3399"/>
                </a:solidFill>
              </a:rPr>
              <a:t> </a:t>
            </a:r>
          </a:p>
          <a:p>
            <a:pPr marL="216000" indent="-216000"/>
            <a:r>
              <a:rPr lang="en-ID" dirty="0" err="1">
                <a:solidFill>
                  <a:srgbClr val="FF3399"/>
                </a:solidFill>
              </a:rPr>
              <a:t>Tumbuh</a:t>
            </a:r>
            <a:r>
              <a:rPr lang="en-ID" dirty="0">
                <a:solidFill>
                  <a:srgbClr val="FF3399"/>
                </a:solidFill>
              </a:rPr>
              <a:t> </a:t>
            </a:r>
            <a:r>
              <a:rPr lang="en-ID" dirty="0" err="1">
                <a:solidFill>
                  <a:srgbClr val="FF3399"/>
                </a:solidFill>
              </a:rPr>
              <a:t>bulu</a:t>
            </a:r>
            <a:r>
              <a:rPr lang="en-ID" dirty="0">
                <a:solidFill>
                  <a:srgbClr val="FF3399"/>
                </a:solidFill>
              </a:rPr>
              <a:t> </a:t>
            </a:r>
            <a:r>
              <a:rPr lang="en-ID" dirty="0" err="1">
                <a:solidFill>
                  <a:srgbClr val="FF3399"/>
                </a:solidFill>
              </a:rPr>
              <a:t>kemaluan</a:t>
            </a:r>
            <a:endParaRPr lang="en-ID" dirty="0">
              <a:solidFill>
                <a:srgbClr val="FF3399"/>
              </a:solidFill>
            </a:endParaRPr>
          </a:p>
          <a:p>
            <a:pPr marL="216000" indent="-216000"/>
            <a:r>
              <a:rPr lang="en-ID" dirty="0" err="1">
                <a:solidFill>
                  <a:srgbClr val="FF3399"/>
                </a:solidFill>
              </a:rPr>
              <a:t>Tumbuh</a:t>
            </a:r>
            <a:r>
              <a:rPr lang="en-ID" dirty="0">
                <a:solidFill>
                  <a:srgbClr val="FF3399"/>
                </a:solidFill>
              </a:rPr>
              <a:t> </a:t>
            </a:r>
            <a:r>
              <a:rPr lang="en-ID" dirty="0" err="1">
                <a:solidFill>
                  <a:srgbClr val="FF3399"/>
                </a:solidFill>
              </a:rPr>
              <a:t>bulu</a:t>
            </a:r>
            <a:r>
              <a:rPr lang="en-ID" dirty="0">
                <a:solidFill>
                  <a:srgbClr val="FF3399"/>
                </a:solidFill>
              </a:rPr>
              <a:t> </a:t>
            </a:r>
            <a:r>
              <a:rPr lang="en-ID" dirty="0" err="1">
                <a:solidFill>
                  <a:srgbClr val="FF3399"/>
                </a:solidFill>
              </a:rPr>
              <a:t>ketiak</a:t>
            </a:r>
            <a:endParaRPr lang="en-ID" dirty="0">
              <a:solidFill>
                <a:srgbClr val="FF3399"/>
              </a:solidFill>
            </a:endParaRPr>
          </a:p>
          <a:p>
            <a:pPr marL="216000" indent="-216000"/>
            <a:r>
              <a:rPr lang="en-ID" dirty="0" err="1">
                <a:solidFill>
                  <a:srgbClr val="FF3399"/>
                </a:solidFill>
              </a:rPr>
              <a:t>Payudara</a:t>
            </a:r>
            <a:r>
              <a:rPr lang="en-ID" dirty="0">
                <a:solidFill>
                  <a:srgbClr val="FF3399"/>
                </a:solidFill>
              </a:rPr>
              <a:t> </a:t>
            </a:r>
            <a:r>
              <a:rPr lang="en-ID" dirty="0" err="1">
                <a:solidFill>
                  <a:srgbClr val="FF3399"/>
                </a:solidFill>
              </a:rPr>
              <a:t>membesar</a:t>
            </a:r>
            <a:endParaRPr lang="en-ID" dirty="0">
              <a:solidFill>
                <a:srgbClr val="FF3399"/>
              </a:solidFill>
            </a:endParaRPr>
          </a:p>
          <a:p>
            <a:pPr marL="216000" indent="-216000"/>
            <a:r>
              <a:rPr lang="en-ID" dirty="0" err="1">
                <a:solidFill>
                  <a:srgbClr val="FF3399"/>
                </a:solidFill>
              </a:rPr>
              <a:t>Pinggul</a:t>
            </a:r>
            <a:r>
              <a:rPr lang="en-ID" dirty="0">
                <a:solidFill>
                  <a:srgbClr val="FF3399"/>
                </a:solidFill>
              </a:rPr>
              <a:t> </a:t>
            </a:r>
            <a:r>
              <a:rPr lang="en-ID" dirty="0" err="1">
                <a:solidFill>
                  <a:srgbClr val="FF3399"/>
                </a:solidFill>
              </a:rPr>
              <a:t>melebar</a:t>
            </a:r>
            <a:endParaRPr lang="en-ID" dirty="0">
              <a:solidFill>
                <a:srgbClr val="FF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95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3"/>
          <p:cNvSpPr txBox="1">
            <a:spLocks/>
          </p:cNvSpPr>
          <p:nvPr/>
        </p:nvSpPr>
        <p:spPr>
          <a:xfrm>
            <a:off x="1246302" y="11576"/>
            <a:ext cx="6743636" cy="1089100"/>
          </a:xfrm>
          <a:prstGeom prst="rect">
            <a:avLst/>
          </a:prstGeom>
          <a:solidFill>
            <a:srgbClr val="002060"/>
          </a:solidFill>
        </p:spPr>
        <p:txBody>
          <a:bodyPr>
            <a:normAutofit fontScale="92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53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anose="030F0702030302020204" pitchFamily="66" charset="0"/>
                <a:ea typeface="+mj-ea"/>
                <a:cs typeface="+mj-cs"/>
              </a:rPr>
              <a:t>Apakah Aku Baligh ?</a:t>
            </a:r>
            <a:r>
              <a:rPr kumimoji="0" lang="en-ID" sz="3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anose="030F0702030302020204" pitchFamily="66" charset="0"/>
                <a:ea typeface="+mj-ea"/>
                <a:cs typeface="+mj-cs"/>
              </a:rPr>
              <a:t> 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mic Sans MS" panose="030F0702030302020204" pitchFamily="66" charset="0"/>
              <a:ea typeface="+mj-ea"/>
              <a:cs typeface="+mj-cs"/>
            </a:endParaRPr>
          </a:p>
        </p:txBody>
      </p:sp>
      <p:sp>
        <p:nvSpPr>
          <p:cNvPr id="14" name="Content Placeholder 4"/>
          <p:cNvSpPr txBox="1">
            <a:spLocks/>
          </p:cNvSpPr>
          <p:nvPr/>
        </p:nvSpPr>
        <p:spPr>
          <a:xfrm rot="21302697">
            <a:off x="2622364" y="1411095"/>
            <a:ext cx="4739863" cy="5263235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>
            <a:noAutofit/>
          </a:bodyPr>
          <a:lstStyle/>
          <a:p>
            <a:pPr marL="457200" marR="0" lvl="0" indent="-271463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D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PSIKOLOGIS</a:t>
            </a:r>
          </a:p>
          <a:p>
            <a:pPr marL="457200" marR="0" lvl="0" indent="-2714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77800">
                  <a:schemeClr val="bg1"/>
                </a:glo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2714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Merasa</a:t>
            </a: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mandiri</a:t>
            </a:r>
            <a:endParaRPr kumimoji="0" lang="en-ID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77800">
                  <a:schemeClr val="bg1"/>
                </a:glo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2714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Tertarik</a:t>
            </a: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dengan</a:t>
            </a: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lawan</a:t>
            </a: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jenis</a:t>
            </a:r>
            <a:endParaRPr kumimoji="0" lang="en-ID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77800">
                  <a:schemeClr val="bg1"/>
                </a:glo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2714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Senang</a:t>
            </a: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berpenampilan</a:t>
            </a: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menarik</a:t>
            </a:r>
            <a:endParaRPr kumimoji="0" lang="en-ID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77800">
                  <a:schemeClr val="bg1"/>
                </a:glo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2714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Kadang</a:t>
            </a: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muncul</a:t>
            </a: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pikiran</a:t>
            </a: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“</a:t>
            </a: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jorok</a:t>
            </a: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</a:p>
          <a:p>
            <a:pPr marL="457200" marR="0" lvl="0" indent="-2714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Bingung</a:t>
            </a: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dengan</a:t>
            </a: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diri</a:t>
            </a: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778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sendiri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77800">
                  <a:schemeClr val="bg1"/>
                </a:glo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0" y="-11338"/>
            <a:ext cx="9204960" cy="686933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39737" y="-279360"/>
            <a:ext cx="7485364" cy="2770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Kecenderungan</a:t>
            </a:r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 </a:t>
            </a:r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positif</a:t>
            </a:r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 </a:t>
            </a:r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pribadi</a:t>
            </a:r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 </a:t>
            </a:r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baligh</a:t>
            </a:r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 :</a:t>
            </a:r>
          </a:p>
          <a:p>
            <a:pPr marL="685800" indent="-685800">
              <a:buFont typeface="Courier New" panose="02070309020205020404" pitchFamily="49" charset="0"/>
              <a:buChar char="o"/>
            </a:pPr>
            <a:r>
              <a:rPr lang="en-ID" sz="44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Ingin</a:t>
            </a:r>
            <a:r>
              <a:rPr lang="en-ID" sz="44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 </a:t>
            </a:r>
            <a:r>
              <a:rPr lang="en-ID" sz="44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mandiri</a:t>
            </a:r>
            <a:r>
              <a:rPr lang="en-ID" sz="44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 </a:t>
            </a:r>
            <a:r>
              <a:rPr lang="en-ID" sz="44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berkarya</a:t>
            </a:r>
            <a:endParaRPr lang="en-ID" sz="4400" dirty="0">
              <a:solidFill>
                <a:schemeClr val="bg1"/>
              </a:solidFill>
              <a:effectLst>
                <a:glow rad="254000">
                  <a:prstClr val="black"/>
                </a:glow>
              </a:effectLst>
              <a:latin typeface="+mj-lt"/>
              <a:cs typeface="Arial" pitchFamily="34" charset="0"/>
            </a:endParaRPr>
          </a:p>
          <a:p>
            <a:pPr marL="685800" indent="-685800">
              <a:buFont typeface="Courier New" panose="02070309020205020404" pitchFamily="49" charset="0"/>
              <a:buChar char="o"/>
            </a:pPr>
            <a:r>
              <a:rPr lang="en-ID" sz="44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Ingin</a:t>
            </a:r>
            <a:r>
              <a:rPr lang="en-ID" sz="44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 </a:t>
            </a:r>
            <a:r>
              <a:rPr lang="en-ID" sz="44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menikah</a:t>
            </a:r>
            <a:endParaRPr lang="en-US" sz="4400" dirty="0">
              <a:solidFill>
                <a:schemeClr val="bg1"/>
              </a:solidFill>
              <a:effectLst>
                <a:glow rad="254000">
                  <a:prstClr val="black"/>
                </a:glow>
              </a:effectLst>
              <a:latin typeface="+mj-lt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4476" y="2663546"/>
            <a:ext cx="8909523" cy="2770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D" sz="3600" dirty="0">
              <a:solidFill>
                <a:schemeClr val="bg1"/>
              </a:solidFill>
              <a:effectLst>
                <a:glow rad="254000">
                  <a:prstClr val="black"/>
                </a:glow>
              </a:effectLst>
              <a:latin typeface="+mj-lt"/>
              <a:ea typeface="Segoe UI Emoji" panose="020B0502040204020203" pitchFamily="34" charset="0"/>
              <a:cs typeface="Arial" pitchFamily="34" charset="0"/>
            </a:endParaRPr>
          </a:p>
          <a:p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Karena</a:t>
            </a:r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 </a:t>
            </a:r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tidak</a:t>
            </a:r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 </a:t>
            </a:r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berdaya</a:t>
            </a:r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 (</a:t>
            </a:r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tidak</a:t>
            </a:r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 </a:t>
            </a:r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mampu</a:t>
            </a:r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) :</a:t>
            </a:r>
          </a:p>
          <a:p>
            <a:pPr marL="685800" indent="-685800">
              <a:buFont typeface="Courier New" panose="02070309020205020404" pitchFamily="49" charset="0"/>
              <a:buChar char="o"/>
            </a:pPr>
            <a:r>
              <a:rPr lang="en-ID" sz="44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Ingin</a:t>
            </a:r>
            <a:r>
              <a:rPr lang="en-ID" sz="44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 </a:t>
            </a:r>
            <a:r>
              <a:rPr lang="en-ID" sz="44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mandiri</a:t>
            </a:r>
            <a:r>
              <a:rPr lang="en-ID" sz="44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 </a:t>
            </a:r>
            <a:r>
              <a:rPr lang="en-ID" sz="44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berkarya</a:t>
            </a:r>
            <a:r>
              <a:rPr lang="en-ID" sz="44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:</a:t>
            </a:r>
          </a:p>
          <a:p>
            <a:pPr lvl="0"/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	- </a:t>
            </a:r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menjauh</a:t>
            </a:r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 </a:t>
            </a:r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dari</a:t>
            </a:r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 </a:t>
            </a:r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ortu</a:t>
            </a:r>
            <a:endParaRPr lang="en-ID" sz="3600" dirty="0">
              <a:solidFill>
                <a:schemeClr val="bg1"/>
              </a:solidFill>
              <a:effectLst>
                <a:glow rad="254000">
                  <a:prstClr val="black"/>
                </a:glow>
              </a:effectLst>
              <a:latin typeface="+mj-lt"/>
              <a:ea typeface="Segoe UI Emoji" panose="020B0502040204020203" pitchFamily="34" charset="0"/>
              <a:cs typeface="Arial" pitchFamily="34" charset="0"/>
            </a:endParaRPr>
          </a:p>
          <a:p>
            <a:pPr lvl="0"/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	- </a:t>
            </a:r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berbuat</a:t>
            </a:r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 </a:t>
            </a:r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kenakalan</a:t>
            </a:r>
            <a:endParaRPr lang="en-ID" sz="5400" dirty="0">
              <a:solidFill>
                <a:schemeClr val="bg1"/>
              </a:solidFill>
              <a:effectLst>
                <a:glow rad="254000">
                  <a:prstClr val="black"/>
                </a:glow>
              </a:effectLst>
              <a:latin typeface="+mj-lt"/>
              <a:cs typeface="Arial" pitchFamily="34" charset="0"/>
            </a:endParaRPr>
          </a:p>
          <a:p>
            <a:pPr marL="685800" indent="-685800">
              <a:buFont typeface="Courier New" panose="02070309020205020404" pitchFamily="49" charset="0"/>
              <a:buChar char="o"/>
            </a:pPr>
            <a:r>
              <a:rPr lang="en-ID" sz="44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Ingin</a:t>
            </a:r>
            <a:r>
              <a:rPr lang="en-ID" sz="44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 </a:t>
            </a:r>
            <a:r>
              <a:rPr lang="en-ID" sz="44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menikah</a:t>
            </a:r>
            <a:r>
              <a:rPr lang="en-ID" sz="44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cs typeface="Arial" pitchFamily="34" charset="0"/>
              </a:rPr>
              <a:t>:</a:t>
            </a:r>
          </a:p>
          <a:p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	- </a:t>
            </a:r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pacaran</a:t>
            </a:r>
            <a:endParaRPr lang="en-ID" sz="3600" dirty="0">
              <a:solidFill>
                <a:schemeClr val="bg1"/>
              </a:solidFill>
              <a:effectLst>
                <a:glow rad="254000">
                  <a:prstClr val="black"/>
                </a:glow>
              </a:effectLst>
              <a:latin typeface="+mj-lt"/>
              <a:ea typeface="Segoe UI Emoji" panose="020B0502040204020203" pitchFamily="34" charset="0"/>
              <a:cs typeface="Arial" pitchFamily="34" charset="0"/>
            </a:endParaRPr>
          </a:p>
          <a:p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	- </a:t>
            </a:r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pornografi</a:t>
            </a:r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 </a:t>
            </a:r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dan</a:t>
            </a:r>
            <a:r>
              <a:rPr lang="en-ID" sz="3600" dirty="0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 </a:t>
            </a:r>
            <a:r>
              <a:rPr lang="en-ID" sz="3600" dirty="0" err="1">
                <a:solidFill>
                  <a:schemeClr val="bg1"/>
                </a:solidFill>
                <a:effectLst>
                  <a:glow rad="254000">
                    <a:prstClr val="black"/>
                  </a:glow>
                </a:effectLst>
                <a:latin typeface="+mj-lt"/>
                <a:ea typeface="Segoe UI Emoji" panose="020B0502040204020203" pitchFamily="34" charset="0"/>
                <a:cs typeface="Arial" pitchFamily="34" charset="0"/>
              </a:rPr>
              <a:t>pornoaksi</a:t>
            </a:r>
            <a:endParaRPr lang="en-US" sz="5400" dirty="0">
              <a:solidFill>
                <a:schemeClr val="bg1"/>
              </a:solidFill>
              <a:effectLst>
                <a:glow rad="254000">
                  <a:prstClr val="black"/>
                </a:glow>
              </a:effectLst>
              <a:latin typeface="+mj-lt"/>
              <a:cs typeface="Arial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930166" y="3216167"/>
            <a:ext cx="5533696" cy="15764"/>
          </a:xfrm>
          <a:prstGeom prst="line">
            <a:avLst/>
          </a:prstGeom>
          <a:ln w="114300" cmpd="dbl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924906" y="4966139"/>
            <a:ext cx="3394846" cy="42092"/>
          </a:xfrm>
          <a:prstGeom prst="line">
            <a:avLst/>
          </a:prstGeom>
          <a:ln w="114300" cmpd="dbl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9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>
            <a:spLocks/>
          </p:cNvSpPr>
          <p:nvPr/>
        </p:nvSpPr>
        <p:spPr>
          <a:xfrm>
            <a:off x="4176979" y="2779090"/>
            <a:ext cx="4445356" cy="341910"/>
          </a:xfrm>
          <a:prstGeom prst="rect">
            <a:avLst/>
          </a:prstGeom>
          <a:solidFill>
            <a:srgbClr val="FF0000"/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d-ID" sz="2000" dirty="0">
                <a:solidFill>
                  <a:schemeClr val="bg1"/>
                </a:solidFill>
                <a:latin typeface="Arno Pro Caption" panose="02020502040506020403" pitchFamily="18" charset="0"/>
              </a:rPr>
              <a:t>       MUKALLAF --------------------&gt;</a:t>
            </a:r>
            <a:endParaRPr lang="en-US" sz="2000" dirty="0">
              <a:solidFill>
                <a:schemeClr val="bg1"/>
              </a:solidFill>
              <a:latin typeface="Arno Pro Caption" panose="02020502040506020403" pitchFamily="18" charset="0"/>
            </a:endParaRPr>
          </a:p>
        </p:txBody>
      </p:sp>
      <p:pic>
        <p:nvPicPr>
          <p:cNvPr id="4" name="Picture 3" descr="human-growth-and-development-textbook_138077_lar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" y="3723682"/>
            <a:ext cx="5572164" cy="3134342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-1" y="2879373"/>
            <a:ext cx="9144001" cy="101483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Down Arrow Callout 8"/>
          <p:cNvSpPr/>
          <p:nvPr/>
        </p:nvSpPr>
        <p:spPr>
          <a:xfrm>
            <a:off x="3714744" y="-2220094"/>
            <a:ext cx="785818" cy="1984554"/>
          </a:xfrm>
          <a:prstGeom prst="downArrowCallout">
            <a:avLst>
              <a:gd name="adj1" fmla="val 11911"/>
              <a:gd name="adj2" fmla="val 11627"/>
              <a:gd name="adj3" fmla="val 25000"/>
              <a:gd name="adj4" fmla="val 1982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b="1" dirty="0">
                <a:solidFill>
                  <a:prstClr val="black"/>
                </a:solidFill>
              </a:rPr>
              <a:t>AQIL</a:t>
            </a:r>
            <a:endParaRPr lang="en-US" sz="2000" b="1" dirty="0">
              <a:solidFill>
                <a:prstClr val="black"/>
              </a:solidFill>
            </a:endParaRPr>
          </a:p>
        </p:txBody>
      </p:sp>
      <p:sp>
        <p:nvSpPr>
          <p:cNvPr id="10" name="Down Arrow Callout 9"/>
          <p:cNvSpPr/>
          <p:nvPr/>
        </p:nvSpPr>
        <p:spPr>
          <a:xfrm>
            <a:off x="3679025" y="2194250"/>
            <a:ext cx="857256" cy="1428760"/>
          </a:xfrm>
          <a:prstGeom prst="downArrowCallout">
            <a:avLst>
              <a:gd name="adj1" fmla="val 11729"/>
              <a:gd name="adj2" fmla="val 11627"/>
              <a:gd name="adj3" fmla="val 25000"/>
              <a:gd name="adj4" fmla="val 1982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prstClr val="black"/>
                </a:solidFill>
              </a:rPr>
              <a:t>BALIGH</a:t>
            </a: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628650" y="60325"/>
            <a:ext cx="7886700" cy="74324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dirty="0">
                <a:latin typeface="Arno Pro Caption" panose="02020502040506020403" pitchFamily="18" charset="0"/>
              </a:rPr>
              <a:t>AQIL </a:t>
            </a:r>
            <a:r>
              <a:rPr lang="en-ID" dirty="0" err="1">
                <a:latin typeface="Arno Pro Caption" panose="02020502040506020403" pitchFamily="18" charset="0"/>
              </a:rPr>
              <a:t>dan</a:t>
            </a:r>
            <a:r>
              <a:rPr lang="en-ID" dirty="0">
                <a:latin typeface="Arno Pro Caption" panose="02020502040506020403" pitchFamily="18" charset="0"/>
              </a:rPr>
              <a:t> BALIGH</a:t>
            </a:r>
            <a:endParaRPr lang="en-US" dirty="0">
              <a:latin typeface="Arno Pro Caption" panose="02020502040506020403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13160" y="3214358"/>
            <a:ext cx="1482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dirty="0">
                <a:solidFill>
                  <a:schemeClr val="bg1"/>
                </a:solidFill>
              </a:rPr>
              <a:t>ANAK-ANAK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21378" y="3214357"/>
            <a:ext cx="1482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dirty="0">
                <a:solidFill>
                  <a:schemeClr val="bg1"/>
                </a:solidFill>
              </a:rPr>
              <a:t>DEWASA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30913" y="3191406"/>
            <a:ext cx="1482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dirty="0">
                <a:solidFill>
                  <a:srgbClr val="00B050"/>
                </a:solidFill>
                <a:effectLst>
                  <a:glow rad="127000">
                    <a:schemeClr val="bg1"/>
                  </a:glow>
                </a:effectLst>
                <a:latin typeface="Stencil" panose="040409050D0802020404" pitchFamily="82" charset="0"/>
              </a:rPr>
              <a:t>REMAJ</a:t>
            </a:r>
            <a:r>
              <a:rPr lang="en-ID" sz="2000" dirty="0">
                <a:solidFill>
                  <a:srgbClr val="00B050"/>
                </a:solidFill>
                <a:effectLst>
                  <a:glow rad="127000">
                    <a:schemeClr val="bg1"/>
                  </a:glow>
                </a:effectLst>
                <a:latin typeface="Stencil" panose="040409050D0802020404" pitchFamily="82" charset="0"/>
              </a:rPr>
              <a:t>A</a:t>
            </a:r>
            <a:endParaRPr lang="en-US" sz="2000" dirty="0">
              <a:solidFill>
                <a:srgbClr val="00B050"/>
              </a:solidFill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261" y="3684873"/>
            <a:ext cx="3286125" cy="3228975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185734" y="1117605"/>
            <a:ext cx="2886079" cy="74324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D" sz="2400" dirty="0">
                <a:latin typeface="Arial Narrow" panose="020B0606020202030204" pitchFamily="34" charset="0"/>
                <a:cs typeface="Arial" panose="020B0604020202020204" pitchFamily="34" charset="0"/>
              </a:rPr>
              <a:t>BALIGH = </a:t>
            </a:r>
            <a:r>
              <a:rPr lang="en-ID" sz="2400" dirty="0" err="1">
                <a:latin typeface="Arial Narrow" panose="020B0606020202030204" pitchFamily="34" charset="0"/>
                <a:cs typeface="Arial" panose="020B0604020202020204" pitchFamily="34" charset="0"/>
              </a:rPr>
              <a:t>dewasa</a:t>
            </a:r>
            <a:r>
              <a:rPr lang="en-ID" sz="2400" dirty="0"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latin typeface="Arial Narrow" panose="020B0606020202030204" pitchFamily="34" charset="0"/>
                <a:cs typeface="Arial" panose="020B0604020202020204" pitchFamily="34" charset="0"/>
              </a:rPr>
              <a:t>fisik</a:t>
            </a:r>
            <a:endParaRPr lang="en-ID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l"/>
            <a:r>
              <a:rPr lang="en-ID" sz="2400" dirty="0">
                <a:latin typeface="Arial Narrow" panose="020B0606020202030204" pitchFamily="34" charset="0"/>
                <a:cs typeface="Arial" panose="020B0604020202020204" pitchFamily="34" charset="0"/>
              </a:rPr>
              <a:t>AQIL  = </a:t>
            </a:r>
            <a:r>
              <a:rPr lang="en-ID" sz="2400" dirty="0" err="1">
                <a:latin typeface="Arial Narrow" panose="020B0606020202030204" pitchFamily="34" charset="0"/>
                <a:cs typeface="Arial" panose="020B0604020202020204" pitchFamily="34" charset="0"/>
              </a:rPr>
              <a:t>dewasa</a:t>
            </a:r>
            <a:r>
              <a:rPr lang="en-ID" sz="2400" dirty="0">
                <a:latin typeface="Arial Narrow" panose="020B0606020202030204" pitchFamily="34" charset="0"/>
                <a:cs typeface="Arial" panose="020B0604020202020204" pitchFamily="34" charset="0"/>
              </a:rPr>
              <a:t> mental</a:t>
            </a:r>
          </a:p>
          <a:p>
            <a:pPr algn="l"/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10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1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2 -0.00833 L -0.00017 0.5613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" y="2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56135 L 0.28993 0.56528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97" y="185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2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2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5" presetClass="emph" presetSubtype="0" repeatCount="indefinite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animBg="1"/>
      <p:bldP spid="9" grpId="0" animBg="1"/>
      <p:bldP spid="9" grpId="1" animBg="1"/>
      <p:bldP spid="32" grpId="0"/>
      <p:bldP spid="33" grpId="1"/>
      <p:bldP spid="33" grpId="2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880" y="2260"/>
            <a:ext cx="9201925" cy="685573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91985" y="2038189"/>
            <a:ext cx="6523669" cy="596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5400" dirty="0" err="1">
                <a:solidFill>
                  <a:prstClr val="white"/>
                </a:solidFill>
                <a:effectLst>
                  <a:glow rad="254000">
                    <a:prstClr val="black"/>
                  </a:glow>
                </a:effectLst>
                <a:latin typeface="Monotype Corsiva" pitchFamily="66" charset="0"/>
                <a:cs typeface="Arial" pitchFamily="34" charset="0"/>
              </a:rPr>
              <a:t>Ada</a:t>
            </a:r>
            <a:r>
              <a:rPr lang="en-US" sz="5400" dirty="0">
                <a:solidFill>
                  <a:prstClr val="white"/>
                </a:solidFill>
                <a:effectLst>
                  <a:glow rad="254000">
                    <a:prstClr val="black"/>
                  </a:glow>
                </a:effectLst>
                <a:latin typeface="Monotype Corsiva" pitchFamily="66" charset="0"/>
                <a:cs typeface="Arial" pitchFamily="34" charset="0"/>
              </a:rPr>
              <a:t> </a:t>
            </a:r>
            <a:r>
              <a:rPr lang="en-US" sz="5400" dirty="0" err="1">
                <a:solidFill>
                  <a:prstClr val="white"/>
                </a:solidFill>
                <a:effectLst>
                  <a:glow rad="254000">
                    <a:prstClr val="black"/>
                  </a:glow>
                </a:effectLst>
                <a:latin typeface="Monotype Corsiva" pitchFamily="66" charset="0"/>
                <a:cs typeface="Arial" pitchFamily="34" charset="0"/>
              </a:rPr>
              <a:t>apa</a:t>
            </a:r>
            <a:r>
              <a:rPr lang="en-US" sz="5400" dirty="0">
                <a:solidFill>
                  <a:prstClr val="white"/>
                </a:solidFill>
                <a:effectLst>
                  <a:glow rad="254000">
                    <a:prstClr val="black"/>
                  </a:glow>
                </a:effectLst>
                <a:latin typeface="Monotype Corsiva" pitchFamily="66" charset="0"/>
                <a:cs typeface="Arial" pitchFamily="34" charset="0"/>
              </a:rPr>
              <a:t> </a:t>
            </a:r>
            <a:r>
              <a:rPr lang="en-US" sz="5400" dirty="0" err="1">
                <a:solidFill>
                  <a:prstClr val="white"/>
                </a:solidFill>
                <a:effectLst>
                  <a:glow rad="254000">
                    <a:prstClr val="black"/>
                  </a:glow>
                </a:effectLst>
                <a:latin typeface="Monotype Corsiva" pitchFamily="66" charset="0"/>
                <a:cs typeface="Arial" pitchFamily="34" charset="0"/>
              </a:rPr>
              <a:t>dengan</a:t>
            </a:r>
            <a:r>
              <a:rPr lang="en-US" sz="5400" dirty="0">
                <a:solidFill>
                  <a:prstClr val="white"/>
                </a:solidFill>
                <a:effectLst>
                  <a:glow rad="254000">
                    <a:prstClr val="black"/>
                  </a:glow>
                </a:effectLst>
                <a:latin typeface="Monotype Corsiva" pitchFamily="66" charset="0"/>
                <a:cs typeface="Arial" pitchFamily="34" charset="0"/>
              </a:rPr>
              <a:t> 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 rot="20616600">
            <a:off x="1010160" y="2581755"/>
            <a:ext cx="7624013" cy="13782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12500" dirty="0">
                <a:solidFill>
                  <a:srgbClr val="FF0000"/>
                </a:solidFill>
                <a:effectLst>
                  <a:glow rad="228600">
                    <a:srgbClr val="92D050"/>
                  </a:glow>
                </a:effectLst>
                <a:latin typeface="Stencil" panose="040409050D0802020404" pitchFamily="82" charset="0"/>
              </a:rPr>
              <a:t>REMAJ</a:t>
            </a:r>
            <a:r>
              <a:rPr lang="en-ID" sz="12500" dirty="0">
                <a:solidFill>
                  <a:srgbClr val="FF0000"/>
                </a:solidFill>
                <a:effectLst>
                  <a:glow rad="228600">
                    <a:srgbClr val="92D050"/>
                  </a:glow>
                </a:effectLst>
                <a:latin typeface="Stencil" panose="040409050D0802020404" pitchFamily="82" charset="0"/>
              </a:rPr>
              <a:t>A ?</a:t>
            </a:r>
            <a:endParaRPr lang="en-US" sz="12500" dirty="0">
              <a:solidFill>
                <a:prstClr val="black"/>
              </a:solidFill>
              <a:effectLst>
                <a:glow rad="228600">
                  <a:srgbClr val="92D050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3883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800" b="1" dirty="0">
                <a:solidFill>
                  <a:srgbClr val="FFFF00"/>
                </a:solidFill>
                <a:latin typeface="Comic Sans MS" pitchFamily="66" charset="0"/>
              </a:rPr>
              <a:t>REMAJA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314" y="4286256"/>
            <a:ext cx="87154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3200" dirty="0">
                <a:solidFill>
                  <a:prstClr val="white"/>
                </a:solidFill>
                <a:latin typeface="Comic Sans MS" pitchFamily="66" charset="0"/>
              </a:rPr>
              <a:t>“Mahluk asing”</a:t>
            </a:r>
          </a:p>
          <a:p>
            <a:pPr algn="ctr"/>
            <a:r>
              <a:rPr lang="id-ID" sz="3200" dirty="0">
                <a:solidFill>
                  <a:prstClr val="white"/>
                </a:solidFill>
                <a:latin typeface="Comic Sans MS" pitchFamily="66" charset="0"/>
              </a:rPr>
              <a:t>yang baru muncul di muka bumi ini</a:t>
            </a:r>
            <a:endParaRPr lang="en-US" sz="3200" dirty="0">
              <a:solidFill>
                <a:prstClr val="white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38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2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22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206345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50" y="400050"/>
            <a:ext cx="8782050" cy="4610100"/>
          </a:xfrm>
        </p:spPr>
        <p:txBody>
          <a:bodyPr>
            <a:noAutofit/>
          </a:bodyPr>
          <a:lstStyle/>
          <a:p>
            <a:pPr marL="530225" indent="-265113">
              <a:buFont typeface="Wingdings" pitchFamily="2" charset="2"/>
              <a:buChar char="§"/>
            </a:pP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Dunia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tidak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mengenal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REMAJA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kecuali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sejak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awal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abad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ke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20</a:t>
            </a:r>
          </a:p>
          <a:p>
            <a:pPr marL="530225" indent="-265113">
              <a:buFont typeface="Wingdings" pitchFamily="2" charset="2"/>
              <a:buChar char="§"/>
            </a:pP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Islam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tidak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mengenal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REMAJA</a:t>
            </a:r>
          </a:p>
          <a:p>
            <a:pPr marL="530225" indent="-265113">
              <a:buFont typeface="Wingdings" pitchFamily="2" charset="2"/>
              <a:buChar char="§"/>
            </a:pP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Dunia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pendidikan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hanya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mengenal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Pedagogi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(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pendidikan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anak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)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dan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andragogi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(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pendidikan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orang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dewasa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),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tidak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mengenal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“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Remajagogi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” (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pendidikan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REMAJA)</a:t>
            </a:r>
          </a:p>
          <a:p>
            <a:pPr marL="530225" indent="-265113">
              <a:buFont typeface="Wingdings" pitchFamily="2" charset="2"/>
              <a:buChar char="§"/>
            </a:pP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Di Indonesia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dikenal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adanya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REMAJA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sejak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tahun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60 an</a:t>
            </a:r>
          </a:p>
          <a:p>
            <a:pPr marL="530225" indent="-265113">
              <a:buFont typeface="Wingdings" pitchFamily="2" charset="2"/>
              <a:buChar char="§"/>
            </a:pP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Undang-undang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Pidana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,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perdata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tidak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mengenal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REMAJA</a:t>
            </a:r>
          </a:p>
          <a:p>
            <a:pPr marL="530225" indent="-265113">
              <a:buFont typeface="Wingdings" pitchFamily="2" charset="2"/>
              <a:buChar char="§"/>
            </a:pP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Dalam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sejarah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ada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Sumpah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Pemuda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tapi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tidak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ada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sumpah</a:t>
            </a:r>
            <a:r>
              <a:rPr lang="en-US" sz="2800" dirty="0">
                <a:solidFill>
                  <a:srgbClr val="FFFF00"/>
                </a:solidFill>
                <a:effectLst>
                  <a:glow rad="228600">
                    <a:schemeClr val="tx1"/>
                  </a:glow>
                </a:effectLst>
                <a:latin typeface="Adobe Caslon Pro" panose="0205050205050A020403" pitchFamily="18" charset="0"/>
              </a:rPr>
              <a:t> REMAJA</a:t>
            </a:r>
          </a:p>
        </p:txBody>
      </p:sp>
    </p:spTree>
    <p:extLst>
      <p:ext uri="{BB962C8B-B14F-4D97-AF65-F5344CB8AC3E}">
        <p14:creationId xmlns:p14="http://schemas.microsoft.com/office/powerpoint/2010/main" val="140485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75292"/>
            <a:ext cx="9144001" cy="609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9707" y="368481"/>
            <a:ext cx="4428699" cy="1143000"/>
          </a:xfrm>
        </p:spPr>
        <p:txBody>
          <a:bodyPr>
            <a:normAutofit fontScale="90000"/>
          </a:bodyPr>
          <a:lstStyle/>
          <a:p>
            <a:r>
              <a:rPr lang="en-ID" sz="7200" dirty="0">
                <a:solidFill>
                  <a:schemeClr val="bg1"/>
                </a:solidFill>
              </a:rPr>
              <a:t>REMAJA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3510" y="1504670"/>
            <a:ext cx="4496937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D" dirty="0" err="1">
                <a:solidFill>
                  <a:srgbClr val="FFFF00"/>
                </a:solidFill>
              </a:rPr>
              <a:t>Dewasa</a:t>
            </a:r>
            <a:r>
              <a:rPr lang="en-ID" dirty="0">
                <a:solidFill>
                  <a:srgbClr val="FFFF00"/>
                </a:solidFill>
              </a:rPr>
              <a:t> </a:t>
            </a:r>
            <a:r>
              <a:rPr lang="en-ID" dirty="0" err="1">
                <a:solidFill>
                  <a:srgbClr val="FFFF00"/>
                </a:solidFill>
              </a:rPr>
              <a:t>fisik</a:t>
            </a:r>
            <a:r>
              <a:rPr lang="en-ID" dirty="0">
                <a:solidFill>
                  <a:srgbClr val="FFFF00"/>
                </a:solidFill>
              </a:rPr>
              <a:t> </a:t>
            </a:r>
            <a:r>
              <a:rPr lang="en-ID" dirty="0" err="1">
                <a:solidFill>
                  <a:srgbClr val="FFFF00"/>
                </a:solidFill>
              </a:rPr>
              <a:t>tetapi</a:t>
            </a:r>
            <a:r>
              <a:rPr lang="en-ID" dirty="0">
                <a:solidFill>
                  <a:srgbClr val="FFFF00"/>
                </a:solidFill>
              </a:rPr>
              <a:t> </a:t>
            </a:r>
            <a:r>
              <a:rPr lang="en-ID" dirty="0" err="1">
                <a:solidFill>
                  <a:srgbClr val="FFFF00"/>
                </a:solidFill>
              </a:rPr>
              <a:t>belum</a:t>
            </a:r>
            <a:r>
              <a:rPr lang="en-ID" dirty="0">
                <a:solidFill>
                  <a:srgbClr val="FFFF00"/>
                </a:solidFill>
              </a:rPr>
              <a:t> </a:t>
            </a:r>
            <a:r>
              <a:rPr lang="en-ID" dirty="0" err="1">
                <a:solidFill>
                  <a:srgbClr val="FFFF00"/>
                </a:solidFill>
              </a:rPr>
              <a:t>dewasa</a:t>
            </a:r>
            <a:r>
              <a:rPr lang="en-ID" dirty="0">
                <a:solidFill>
                  <a:srgbClr val="FFFF00"/>
                </a:solidFill>
              </a:rPr>
              <a:t> mental</a:t>
            </a:r>
          </a:p>
          <a:p>
            <a:r>
              <a:rPr lang="en-ID" dirty="0" err="1">
                <a:solidFill>
                  <a:srgbClr val="FFFF00"/>
                </a:solidFill>
              </a:rPr>
              <a:t>Fisik</a:t>
            </a:r>
            <a:r>
              <a:rPr lang="en-ID" dirty="0">
                <a:solidFill>
                  <a:srgbClr val="FFFF00"/>
                </a:solidFill>
              </a:rPr>
              <a:t> </a:t>
            </a:r>
            <a:r>
              <a:rPr lang="en-ID" dirty="0" err="1">
                <a:solidFill>
                  <a:srgbClr val="FFFF00"/>
                </a:solidFill>
              </a:rPr>
              <a:t>sudah</a:t>
            </a:r>
            <a:r>
              <a:rPr lang="en-ID" dirty="0">
                <a:solidFill>
                  <a:srgbClr val="FFFF00"/>
                </a:solidFill>
              </a:rPr>
              <a:t> </a:t>
            </a:r>
            <a:r>
              <a:rPr lang="en-ID" dirty="0" err="1">
                <a:solidFill>
                  <a:srgbClr val="FFFF00"/>
                </a:solidFill>
              </a:rPr>
              <a:t>kuat</a:t>
            </a:r>
            <a:r>
              <a:rPr lang="en-ID" dirty="0">
                <a:solidFill>
                  <a:srgbClr val="FFFF00"/>
                </a:solidFill>
              </a:rPr>
              <a:t> </a:t>
            </a:r>
            <a:r>
              <a:rPr lang="en-ID" dirty="0">
                <a:solidFill>
                  <a:srgbClr val="FFFF00"/>
                </a:solidFill>
                <a:sym typeface="Wingdings" panose="05000000000000000000" pitchFamily="2" charset="2"/>
              </a:rPr>
              <a:t>   </a:t>
            </a:r>
            <a:r>
              <a:rPr lang="en-ID" dirty="0">
                <a:solidFill>
                  <a:srgbClr val="FFFF00"/>
                </a:solidFill>
              </a:rPr>
              <a:t> </a:t>
            </a:r>
            <a:r>
              <a:rPr lang="en-ID" dirty="0" err="1">
                <a:solidFill>
                  <a:srgbClr val="FFFF00"/>
                </a:solidFill>
              </a:rPr>
              <a:t>ingin</a:t>
            </a:r>
            <a:r>
              <a:rPr lang="en-ID" dirty="0">
                <a:solidFill>
                  <a:srgbClr val="FFFF00"/>
                </a:solidFill>
              </a:rPr>
              <a:t> </a:t>
            </a:r>
            <a:r>
              <a:rPr lang="en-ID" dirty="0">
                <a:solidFill>
                  <a:schemeClr val="bg1"/>
                </a:solidFill>
              </a:rPr>
              <a:t>BERKARYA</a:t>
            </a:r>
          </a:p>
          <a:p>
            <a:r>
              <a:rPr lang="en-ID" dirty="0">
                <a:solidFill>
                  <a:srgbClr val="FFFF00"/>
                </a:solidFill>
              </a:rPr>
              <a:t>Organ </a:t>
            </a:r>
            <a:r>
              <a:rPr lang="en-ID" dirty="0" err="1">
                <a:solidFill>
                  <a:srgbClr val="FFFF00"/>
                </a:solidFill>
              </a:rPr>
              <a:t>seksualitas</a:t>
            </a:r>
            <a:r>
              <a:rPr lang="en-ID" dirty="0">
                <a:solidFill>
                  <a:srgbClr val="FFFF00"/>
                </a:solidFill>
              </a:rPr>
              <a:t>  </a:t>
            </a:r>
            <a:r>
              <a:rPr lang="en-ID" dirty="0" err="1">
                <a:solidFill>
                  <a:srgbClr val="FFFF00"/>
                </a:solidFill>
              </a:rPr>
              <a:t>berfungsi</a:t>
            </a:r>
            <a:r>
              <a:rPr lang="en-ID" dirty="0">
                <a:solidFill>
                  <a:srgbClr val="FFFF00"/>
                </a:solidFill>
              </a:rPr>
              <a:t> </a:t>
            </a:r>
            <a:r>
              <a:rPr lang="en-ID" dirty="0" err="1">
                <a:solidFill>
                  <a:srgbClr val="FFFF00"/>
                </a:solidFill>
              </a:rPr>
              <a:t>sempurna</a:t>
            </a:r>
            <a:r>
              <a:rPr lang="en-ID" dirty="0">
                <a:solidFill>
                  <a:srgbClr val="FFFF00"/>
                </a:solidFill>
              </a:rPr>
              <a:t> </a:t>
            </a:r>
            <a:r>
              <a:rPr lang="en-ID" dirty="0">
                <a:solidFill>
                  <a:srgbClr val="FFFF00"/>
                </a:solidFill>
                <a:sym typeface="Wingdings" panose="05000000000000000000" pitchFamily="2" charset="2"/>
              </a:rPr>
              <a:t></a:t>
            </a:r>
            <a:r>
              <a:rPr lang="en-ID" dirty="0">
                <a:solidFill>
                  <a:srgbClr val="FFFF00"/>
                </a:solidFill>
              </a:rPr>
              <a:t> </a:t>
            </a:r>
            <a:r>
              <a:rPr lang="en-ID" dirty="0" err="1">
                <a:solidFill>
                  <a:srgbClr val="FFFF00"/>
                </a:solidFill>
              </a:rPr>
              <a:t>ingin</a:t>
            </a:r>
            <a:r>
              <a:rPr lang="en-ID" dirty="0">
                <a:solidFill>
                  <a:srgbClr val="FFFF00"/>
                </a:solidFill>
              </a:rPr>
              <a:t> </a:t>
            </a:r>
            <a:r>
              <a:rPr lang="en-ID" dirty="0">
                <a:solidFill>
                  <a:schemeClr val="bg1"/>
                </a:solidFill>
              </a:rPr>
              <a:t>MENIKAH</a:t>
            </a:r>
          </a:p>
          <a:p>
            <a:pPr marL="0" indent="0">
              <a:buNone/>
            </a:pPr>
            <a:r>
              <a:rPr lang="en-ID" dirty="0" err="1">
                <a:solidFill>
                  <a:srgbClr val="FFFF00"/>
                </a:solidFill>
              </a:rPr>
              <a:t>Tetapi</a:t>
            </a:r>
            <a:r>
              <a:rPr lang="en-ID" dirty="0">
                <a:solidFill>
                  <a:srgbClr val="FFFF00"/>
                </a:solidFill>
              </a:rPr>
              <a:t> mental </a:t>
            </a:r>
            <a:r>
              <a:rPr lang="en-ID" dirty="0" err="1">
                <a:solidFill>
                  <a:srgbClr val="FFFF00"/>
                </a:solidFill>
              </a:rPr>
              <a:t>belum</a:t>
            </a:r>
            <a:r>
              <a:rPr lang="en-ID" dirty="0">
                <a:solidFill>
                  <a:srgbClr val="FFFF00"/>
                </a:solidFill>
              </a:rPr>
              <a:t> </a:t>
            </a:r>
            <a:r>
              <a:rPr lang="en-ID" dirty="0" err="1">
                <a:solidFill>
                  <a:srgbClr val="FFFF00"/>
                </a:solidFill>
              </a:rPr>
              <a:t>siap</a:t>
            </a:r>
            <a:r>
              <a:rPr lang="en-ID" dirty="0">
                <a:solidFill>
                  <a:srgbClr val="FFFF00"/>
                </a:solidFill>
              </a:rPr>
              <a:t> …</a:t>
            </a:r>
          </a:p>
          <a:p>
            <a:pPr marL="0" indent="0">
              <a:buNone/>
            </a:pPr>
            <a:r>
              <a:rPr lang="en-ID" sz="7100" dirty="0">
                <a:solidFill>
                  <a:srgbClr val="FFFF00"/>
                </a:solidFill>
                <a:latin typeface="Bauhaus 93" panose="04030905020B02020C02" pitchFamily="82" charset="0"/>
              </a:rPr>
              <a:t>GALAU …</a:t>
            </a:r>
            <a:endParaRPr lang="en-US" sz="7100" dirty="0">
              <a:solidFill>
                <a:srgbClr val="FFFF00"/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95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6" presetClass="emph" presetSubtype="0" repeatCount="5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 rot="20592528">
            <a:off x="1532281" y="3956777"/>
            <a:ext cx="49292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prstClr val="white"/>
                </a:solidFill>
                <a:effectLst>
                  <a:glow rad="444500">
                    <a:prstClr val="black"/>
                  </a:glow>
                </a:effectLst>
              </a:rPr>
              <a:t>REM</a:t>
            </a:r>
          </a:p>
          <a:p>
            <a:pPr algn="ctr"/>
            <a:r>
              <a:rPr lang="en-US" sz="4000" dirty="0">
                <a:solidFill>
                  <a:prstClr val="white"/>
                </a:solidFill>
                <a:effectLst>
                  <a:glow rad="444500">
                    <a:prstClr val="black"/>
                  </a:glow>
                </a:effectLst>
              </a:rPr>
              <a:t>BELUM FUNGSI</a:t>
            </a:r>
          </a:p>
        </p:txBody>
      </p:sp>
      <p:sp>
        <p:nvSpPr>
          <p:cNvPr id="6" name="Multiply 5"/>
          <p:cNvSpPr/>
          <p:nvPr/>
        </p:nvSpPr>
        <p:spPr>
          <a:xfrm>
            <a:off x="1357290" y="1571612"/>
            <a:ext cx="3571900" cy="3143272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 rot="20611876">
            <a:off x="7419979" y="1975345"/>
            <a:ext cx="115461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prstClr val="white"/>
                </a:solidFill>
                <a:effectLst>
                  <a:glow rad="381000">
                    <a:prstClr val="black"/>
                  </a:glow>
                </a:effectLst>
              </a:rPr>
              <a:t>PEDAL</a:t>
            </a:r>
          </a:p>
          <a:p>
            <a:pPr algn="ctr"/>
            <a:r>
              <a:rPr lang="en-US" sz="4400" b="1" dirty="0">
                <a:solidFill>
                  <a:prstClr val="white"/>
                </a:solidFill>
                <a:effectLst>
                  <a:glow rad="381000">
                    <a:prstClr val="black"/>
                  </a:glow>
                </a:effectLst>
              </a:rPr>
              <a:t>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32" y="24790"/>
            <a:ext cx="914403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400" dirty="0">
                <a:solidFill>
                  <a:srgbClr val="FFFF00"/>
                </a:solidFill>
                <a:effectLst>
                  <a:glow rad="127000">
                    <a:prstClr val="black"/>
                  </a:glow>
                </a:effectLst>
              </a:rPr>
              <a:t>REMAJA</a:t>
            </a:r>
          </a:p>
          <a:p>
            <a:r>
              <a:rPr lang="id-ID" sz="4400" i="1" dirty="0">
                <a:solidFill>
                  <a:srgbClr val="FFFF00"/>
                </a:solidFill>
                <a:effectLst>
                  <a:glow rad="127000">
                    <a:prstClr val="black"/>
                  </a:glow>
                </a:effectLst>
              </a:rPr>
              <a:t>Ibarat</a:t>
            </a:r>
            <a:r>
              <a:rPr lang="en-ID" sz="4400" i="1" dirty="0">
                <a:solidFill>
                  <a:srgbClr val="FFFF00"/>
                </a:solidFill>
                <a:effectLst>
                  <a:glow rad="127000">
                    <a:prstClr val="black"/>
                  </a:glow>
                </a:effectLst>
              </a:rPr>
              <a:t> MOBIL</a:t>
            </a:r>
          </a:p>
          <a:p>
            <a:r>
              <a:rPr lang="id-ID" sz="4400" i="1" dirty="0">
                <a:solidFill>
                  <a:srgbClr val="FFFF00"/>
                </a:solidFill>
                <a:effectLst>
                  <a:glow rad="127000">
                    <a:prstClr val="black"/>
                  </a:glow>
                </a:effectLst>
              </a:rPr>
              <a:t>hanya ada pedal GAS tanpa </a:t>
            </a:r>
            <a:r>
              <a:rPr lang="en-ID" sz="4400" i="1" dirty="0">
                <a:solidFill>
                  <a:srgbClr val="FFFF00"/>
                </a:solidFill>
                <a:effectLst>
                  <a:glow rad="127000">
                    <a:prstClr val="black"/>
                  </a:glow>
                </a:effectLst>
              </a:rPr>
              <a:t>pedal </a:t>
            </a:r>
            <a:r>
              <a:rPr lang="id-ID" sz="4400" i="1" dirty="0">
                <a:solidFill>
                  <a:srgbClr val="FFFF00"/>
                </a:solidFill>
                <a:effectLst>
                  <a:glow rad="127000">
                    <a:prstClr val="black"/>
                  </a:glow>
                </a:effectLst>
              </a:rPr>
              <a:t>REM</a:t>
            </a:r>
            <a:endParaRPr lang="en-US" sz="4400" i="1" dirty="0">
              <a:solidFill>
                <a:srgbClr val="FFFF00"/>
              </a:solidFill>
              <a:effectLst>
                <a:glow rad="127000">
                  <a:prstClr val="black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6402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87726" cy="68766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Comic Sans MS" pitchFamily="66" charset="0"/>
              </a:rPr>
              <a:t>Solusi</a:t>
            </a:r>
            <a:r>
              <a:rPr lang="en-US" dirty="0">
                <a:solidFill>
                  <a:schemeClr val="bg1"/>
                </a:solidFill>
                <a:latin typeface="Comic Sans MS" pitchFamily="66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mic Sans MS" pitchFamily="66" charset="0"/>
              </a:rPr>
              <a:t>bagi</a:t>
            </a:r>
            <a:r>
              <a:rPr lang="en-US" dirty="0">
                <a:solidFill>
                  <a:schemeClr val="bg1"/>
                </a:solidFill>
                <a:latin typeface="Comic Sans MS" pitchFamily="66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mic Sans MS" pitchFamily="66" charset="0"/>
              </a:rPr>
              <a:t>remaja</a:t>
            </a:r>
            <a:r>
              <a:rPr lang="en-US" dirty="0">
                <a:solidFill>
                  <a:schemeClr val="bg1"/>
                </a:solidFill>
                <a:latin typeface="Comic Sans MS" pitchFamily="66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46243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algn="l">
              <a:buNone/>
            </a:pPr>
            <a:r>
              <a:rPr lang="en-US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1. </a:t>
            </a:r>
            <a:r>
              <a:rPr lang="id-ID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Nabi shallallahu ‘alaihi wasallam bersabda:</a:t>
            </a:r>
            <a:endParaRPr lang="en-US" dirty="0">
              <a:solidFill>
                <a:schemeClr val="bg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  <a:p>
            <a:pPr algn="r" rtl="1">
              <a:buNone/>
            </a:pPr>
            <a:r>
              <a:rPr lang="en-US" b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	 </a:t>
            </a:r>
            <a:r>
              <a:rPr lang="ar-SA" b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cs typeface="Traditional Arabic" pitchFamily="2" charset="-78"/>
              </a:rPr>
              <a:t>يَا مَعْشَرَ الشَّبَابِ مَنْ اسْتَطَاعَ منكُم الْبَاءَةَ فَلْيَتَزَوَّجْ ، فَإِنَّهُ</a:t>
            </a:r>
            <a:r>
              <a:rPr lang="en-US" b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cs typeface="Traditional Arabic" pitchFamily="2" charset="-78"/>
              </a:rPr>
              <a:t> </a:t>
            </a:r>
            <a:r>
              <a:rPr lang="ar-SA" b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cs typeface="Traditional Arabic" pitchFamily="2" charset="-78"/>
              </a:rPr>
              <a:t>أَغَضُّ لِلْبَصَرِ ، وَأَحْصَنُ لِلْفَرْجِ ، وَمَنْ لَمْ يَسْتَطِعْ فَعَلَيْهِ بِالصَّوْمِ فَإِنَّهُ لَهُ وِجَاءٌ</a:t>
            </a:r>
          </a:p>
          <a:p>
            <a:pPr>
              <a:buNone/>
            </a:pP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	“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Wahai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para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pemuda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,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barangsiapa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diantara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kamu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telah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mampu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berkeluarga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hendaknya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menikah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,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karena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ia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dapat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menundukkan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pandangan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dan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memelihara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kemaluan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.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Barangsiapa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belum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mampu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hendaknya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berpuasa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,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sebab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ia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dapat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mengendalikanmu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”. </a:t>
            </a:r>
            <a:r>
              <a:rPr lang="en-US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(</a:t>
            </a:r>
            <a:r>
              <a:rPr lang="en-US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Muttafaqun</a:t>
            </a:r>
            <a:r>
              <a:rPr lang="en-US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‘</a:t>
            </a:r>
            <a:r>
              <a:rPr lang="en-US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alaihi</a:t>
            </a:r>
            <a:r>
              <a:rPr lang="en-US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)</a:t>
            </a:r>
          </a:p>
          <a:p>
            <a:endParaRPr lang="en-US" dirty="0">
              <a:solidFill>
                <a:schemeClr val="bg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2. </a:t>
            </a:r>
            <a:r>
              <a:rPr lang="id-ID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Nabi shallallahu ‘alaihi wasallam bersabda:</a:t>
            </a:r>
            <a:endParaRPr lang="en-US" dirty="0">
              <a:solidFill>
                <a:schemeClr val="bg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  <a:p>
            <a:pPr algn="r" rtl="1">
              <a:buNone/>
            </a:pPr>
            <a:r>
              <a:rPr lang="ar-SA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cs typeface="Traditional Arabic" pitchFamily="2" charset="-78"/>
              </a:rPr>
              <a:t>اِحْرِصْ عَلَى مَا يَنْفَعُكَ وَاسْتَعِنْ بِاللَّهِ وَلاَ تَعْجِزْ</a:t>
            </a:r>
            <a:endParaRPr lang="en-US" dirty="0">
              <a:solidFill>
                <a:schemeClr val="bg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  <a:cs typeface="Traditional Arabic" pitchFamily="2" charset="-78"/>
            </a:endParaRPr>
          </a:p>
          <a:p>
            <a:pPr>
              <a:buNone/>
            </a:pP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	</a:t>
            </a:r>
            <a:r>
              <a:rPr lang="id-ID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“Ber</a:t>
            </a:r>
            <a:r>
              <a:rPr lang="en-US" i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semangatlah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 </a:t>
            </a:r>
            <a:r>
              <a:rPr lang="id-ID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atas hal-hal yang bermanfaat bagimu,  dan minta tolonglah kepada Allah,  dan janganlah engkau lemah”. (HR. </a:t>
            </a: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Muslim no. 2664)</a:t>
            </a:r>
            <a:endParaRPr lang="en-US" dirty="0">
              <a:solidFill>
                <a:schemeClr val="bg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https://i.ytimg.com/vi/akMMKudLmLU/hqdefault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28" name="AutoShape 4" descr="https://i.ytimg.com/vi/akMMKudLmLU/hqdefault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30" name="AutoShape 6" descr="https://i.ytimg.com/vi/akMMKudLmLU/hqdefault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6" descr="hqdefa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6954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669864"/>
            <a:ext cx="8229600" cy="858691"/>
          </a:xfrm>
        </p:spPr>
        <p:txBody>
          <a:bodyPr/>
          <a:lstStyle/>
          <a:p>
            <a:r>
              <a:rPr lang="en-US" sz="54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Ingin jadi apa </a:t>
            </a:r>
            <a:r>
              <a:rPr lang="en-US" sz="54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kamu</a:t>
            </a:r>
            <a:r>
              <a:rPr lang="en-US" sz="5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34587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/>
          <p:cNvSpPr txBox="1">
            <a:spLocks/>
          </p:cNvSpPr>
          <p:nvPr/>
        </p:nvSpPr>
        <p:spPr>
          <a:xfrm>
            <a:off x="0" y="259306"/>
            <a:ext cx="9144000" cy="6598693"/>
          </a:xfrm>
          <a:prstGeom prst="rect">
            <a:avLst/>
          </a:prstGeom>
          <a:effectLst/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Allah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ta’ala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berfirman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342900" marR="0" lvl="0" indent="-342900" algn="ct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ar-SA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Traditional Arabic" pitchFamily="2" charset="-78"/>
              </a:rPr>
              <a:t>قُلْ كُلٌّ يَعْمَلُ عَلَىٰ شَاكِلَتِهِ فَرَبُّكُمْ أَعْلَمُ بِمَنْ هُوَ أَهْدَىٰ سَبِيلاً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27000">
                  <a:schemeClr val="bg1"/>
                </a:glow>
              </a:effectLst>
              <a:uLnTx/>
              <a:uFillTx/>
              <a:latin typeface="+mn-lt"/>
              <a:ea typeface="+mn-ea"/>
              <a:cs typeface="Traditional Arabic" pitchFamily="2" charset="-78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Katakan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(Muhammad) 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bahwa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setiap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orang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akan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berbuat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sesuai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bakat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pembawaannya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maka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Robbmu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lebih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mengetahui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siapa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yang 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lebih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benar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jalannya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” (QS. Al 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Isra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’ : 84)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ID" sz="2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27000">
                  <a:schemeClr val="bg1"/>
                </a:glo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828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D" sz="18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Tentang</a:t>
            </a:r>
            <a:r>
              <a:rPr kumimoji="0" lang="en-ID" sz="18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D" sz="18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makna</a:t>
            </a:r>
            <a:r>
              <a:rPr kumimoji="0" lang="en-ID" sz="18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D" sz="18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syakilah</a:t>
            </a:r>
            <a:r>
              <a:rPr kumimoji="0" lang="en-ID" sz="18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ar-SA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Traditional Arabic" pitchFamily="2" charset="-78"/>
              </a:rPr>
              <a:t>شَاكِلَة</a:t>
            </a:r>
            <a:r>
              <a:rPr kumimoji="0" lang="en-ID" sz="18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):</a:t>
            </a:r>
            <a:endParaRPr kumimoji="0" lang="en-US" sz="180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20638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ar-SA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aditional Arabic" panose="02010000000000000000" pitchFamily="2" charset="-78"/>
                <a:ea typeface="+mn-ea"/>
                <a:cs typeface="Traditional Arabic" panose="02010000000000000000" pitchFamily="2" charset="-78"/>
              </a:rPr>
              <a:t>قال ابن عباس : على ناحيته . وقال مجاهد : على حدته وطبيعته</a:t>
            </a:r>
            <a:endParaRPr kumimoji="0" lang="en-ID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aditional Arabic" panose="02010000000000000000" pitchFamily="2" charset="-78"/>
              <a:ea typeface="+mn-ea"/>
              <a:cs typeface="Traditional Arabic" panose="02010000000000000000" pitchFamily="2" charset="-78"/>
            </a:endParaRPr>
          </a:p>
          <a:p>
            <a:pPr marL="26828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Ibnu Abbas mengatakan: menurut keahliannya masing-masing. sedangkan Mujahid mengatakan: menurut keadaannya dan sifat bawaannya masing-masing.</a:t>
            </a:r>
            <a:r>
              <a:rPr kumimoji="0" lang="en-ID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ID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Tafsir</a:t>
            </a:r>
            <a:r>
              <a:rPr kumimoji="0" lang="en-ID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D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Ibnu</a:t>
            </a:r>
            <a:r>
              <a:rPr kumimoji="0" lang="en-ID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D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Katsir</a:t>
            </a:r>
            <a:r>
              <a:rPr kumimoji="0" lang="en-ID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63538" marR="0" lvl="0" indent="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ar-SA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aditional Arabic" panose="02010000000000000000" pitchFamily="2" charset="-78"/>
                <a:ea typeface="+mn-ea"/>
                <a:cs typeface="Traditional Arabic" panose="02010000000000000000" pitchFamily="2" charset="-78"/>
              </a:rPr>
              <a:t>مجاهد : طبيعته . مقاتل : جبلته . الفراء : على طريقته ومذهبه الذي جبل عليه</a:t>
            </a:r>
            <a:endParaRPr kumimoji="0" lang="en-ID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aditional Arabic" panose="02010000000000000000" pitchFamily="2" charset="-78"/>
              <a:ea typeface="+mn-ea"/>
              <a:cs typeface="Traditional Arabic" panose="02010000000000000000" pitchFamily="2" charset="-78"/>
            </a:endParaRPr>
          </a:p>
          <a:p>
            <a:pPr marL="26828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Mujahid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mengatakan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menurut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sifat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bawaannya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masing-masing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Muqatil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mengatakan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menurut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bakat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bawaannya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masing-masing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. Al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Fara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’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mengatakan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menurut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jalan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dan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cara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yang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telah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Allah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tetapkan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padanya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”. (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Tafsir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Al </a:t>
            </a:r>
            <a:r>
              <a:rPr kumimoji="0" lang="en-US" sz="160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Qurtubi</a:t>
            </a: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ID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27000">
                  <a:schemeClr val="bg1"/>
                </a:glow>
              </a:effectLst>
              <a:uLnTx/>
              <a:uFillTx/>
              <a:latin typeface="+mj-lt"/>
              <a:ea typeface="+mn-ea"/>
              <a:cs typeface="Traditional Arabic" pitchFamily="2" charset="-78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D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  <a:uLnTx/>
                <a:uFillTx/>
                <a:latin typeface="+mj-lt"/>
                <a:ea typeface="+mn-ea"/>
                <a:cs typeface="Traditional Arabic" pitchFamily="2" charset="-78"/>
              </a:rPr>
              <a:t>	</a:t>
            </a:r>
            <a:r>
              <a:rPr kumimoji="0" lang="en-ID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uLnTx/>
                <a:uFillTx/>
                <a:latin typeface="+mj-lt"/>
                <a:ea typeface="+mn-ea"/>
                <a:cs typeface="Traditional Arabic" pitchFamily="2" charset="-78"/>
              </a:rPr>
              <a:t>Syakilah</a:t>
            </a:r>
            <a:r>
              <a:rPr kumimoji="0" lang="en-ID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uLnTx/>
                <a:uFillTx/>
                <a:latin typeface="+mj-lt"/>
                <a:ea typeface="+mn-ea"/>
                <a:cs typeface="Traditional Arabic" pitchFamily="2" charset="-78"/>
              </a:rPr>
              <a:t> me</a:t>
            </a:r>
            <a:r>
              <a:rPr kumimoji="0" lang="id-ID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uLnTx/>
                <a:uFillTx/>
                <a:latin typeface="+mj-lt"/>
                <a:ea typeface="+mn-ea"/>
                <a:cs typeface="Traditional Arabic" pitchFamily="2" charset="-78"/>
              </a:rPr>
              <a:t>njadikan setiap orang adalah unik</a:t>
            </a:r>
            <a:endParaRPr kumimoji="0" lang="en-ID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glow rad="127000">
                  <a:schemeClr val="tx1"/>
                </a:glow>
              </a:effectLst>
              <a:uLnTx/>
              <a:uFillTx/>
              <a:latin typeface="+mj-lt"/>
              <a:ea typeface="+mn-ea"/>
              <a:cs typeface="Traditional Arabic" pitchFamily="2" charset="-78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D" sz="24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uLnTx/>
                <a:uFillTx/>
                <a:latin typeface="+mj-lt"/>
                <a:ea typeface="+mn-ea"/>
                <a:cs typeface="Traditional Arabic" pitchFamily="2" charset="-78"/>
              </a:rPr>
              <a:t>	</a:t>
            </a:r>
            <a:r>
              <a:rPr kumimoji="0" lang="id-ID" sz="24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uLnTx/>
                <a:uFillTx/>
                <a:latin typeface="+mj-lt"/>
                <a:ea typeface="+mn-ea"/>
                <a:cs typeface="Traditional Arabic" pitchFamily="2" charset="-78"/>
              </a:rPr>
              <a:t>(very special and limited edition)</a:t>
            </a:r>
            <a:endParaRPr kumimoji="0" lang="id-ID" sz="28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glow rad="127000">
                  <a:schemeClr val="tx1"/>
                </a:glow>
              </a:effectLst>
              <a:uLnTx/>
              <a:uFillTx/>
              <a:latin typeface="Arial Rounded MT Bold" pitchFamily="34" charset="0"/>
              <a:ea typeface="+mn-ea"/>
              <a:cs typeface="Traditional Arabic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 bwMode="auto">
          <a:xfrm>
            <a:off x="1066800" y="3048000"/>
            <a:ext cx="7620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4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Subhanallah ..., </a:t>
            </a:r>
          </a:p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87%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Mahasiswa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Indonesia Salah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Jurusan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!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Selasa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25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Februari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2014 04:09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wib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|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Rachmad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Faisal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Harahap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-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Okezone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838200" y="5200650"/>
            <a:ext cx="7543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Menurut Educational Psychologist dari Integrity Development Flexibility (IDF) Irene Guntur, M.Psi., Psi., CGA, sebanyak 87 persen mahasiswa di Indonesia salah jurusan.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217E-22EC-4A58-B372-B7F8110D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90056"/>
            <a:ext cx="8229600" cy="1143000"/>
          </a:xfrm>
        </p:spPr>
        <p:txBody>
          <a:bodyPr/>
          <a:lstStyle/>
          <a:p>
            <a:r>
              <a:rPr lang="id-ID" dirty="0"/>
              <a:t>Apa itu bakat?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27143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815654"/>
            <a:ext cx="8229600" cy="175736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4800" dirty="0"/>
              <a:t>BAKAT </a:t>
            </a:r>
            <a:r>
              <a:rPr lang="en-US" sz="4800" dirty="0" err="1"/>
              <a:t>adalah</a:t>
            </a:r>
            <a:r>
              <a:rPr lang="en-US" sz="4800" dirty="0"/>
              <a:t> SIFAT,</a:t>
            </a:r>
          </a:p>
          <a:p>
            <a:pPr algn="ctr">
              <a:buNone/>
            </a:pPr>
            <a:r>
              <a:rPr lang="en-US" sz="4800" dirty="0" err="1">
                <a:solidFill>
                  <a:srgbClr val="C00000"/>
                </a:solidFill>
              </a:rPr>
              <a:t>yaitu</a:t>
            </a:r>
            <a:r>
              <a:rPr lang="en-US" sz="4800" dirty="0">
                <a:solidFill>
                  <a:srgbClr val="C00000"/>
                </a:solidFill>
              </a:rPr>
              <a:t> SIFAT yang </a:t>
            </a:r>
            <a:r>
              <a:rPr lang="id-ID" sz="4800" dirty="0">
                <a:solidFill>
                  <a:srgbClr val="C00000"/>
                </a:solidFill>
              </a:rPr>
              <a:t>BERMANFAAT</a:t>
            </a:r>
            <a:endParaRPr lang="en-US" sz="4800" dirty="0">
              <a:solidFill>
                <a:srgbClr val="C0000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274638"/>
            <a:ext cx="8229600" cy="671293"/>
          </a:xfrm>
          <a:prstGeom prst="rect">
            <a:avLst/>
          </a:prstGeom>
          <a:solidFill>
            <a:srgbClr val="002060"/>
          </a:solidFill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APA itu BAKAT ? 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852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217E-22EC-4A58-B372-B7F8110D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900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id-ID" dirty="0"/>
              <a:t>Bagaimana cara mengetahui bahwa sebuah aktifitas adalah bakat?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72743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 rot="20761357">
            <a:off x="5033368" y="745994"/>
            <a:ext cx="1724783" cy="14465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3 </a:t>
            </a:r>
            <a:r>
              <a:rPr kumimoji="0" lang="en-ID" sz="8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A</a:t>
            </a:r>
            <a:endParaRPr kumimoji="0" lang="en-US" sz="8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85786" y="607618"/>
            <a:ext cx="800105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4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aditional Arabic" panose="02010000000000000000" pitchFamily="2" charset="-78"/>
                <a:ea typeface="+mn-ea"/>
                <a:cs typeface="Traditional Arabic" panose="02010000000000000000" pitchFamily="2" charset="-78"/>
              </a:rPr>
              <a:t>اركان الموهبة</a:t>
            </a:r>
            <a:endParaRPr kumimoji="0" lang="id-ID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4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RUKUN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BAKAT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A</a:t>
            </a:r>
            <a:r>
              <a:rPr kumimoji="0" lang="en-US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l </a:t>
            </a:r>
            <a:r>
              <a:rPr kumimoji="0" lang="id-ID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hirsh</a:t>
            </a:r>
            <a:r>
              <a:rPr kumimoji="0" lang="id-ID" sz="4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 </a:t>
            </a:r>
            <a:r>
              <a:rPr kumimoji="0" lang="ar-SA" sz="4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Arial" panose="020B0604020202020204" pitchFamily="34" charset="0"/>
              </a:rPr>
              <a:t> </a:t>
            </a:r>
            <a:r>
              <a:rPr kumimoji="0" lang="ar-SA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Arial Unicode MS" panose="020B0604020202020204" pitchFamily="34" charset="-128"/>
                <a:cs typeface="Traditional Arabic" panose="02010000000000000000" pitchFamily="2" charset="-78"/>
              </a:rPr>
              <a:t>الحرص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(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suk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A</a:t>
            </a:r>
            <a:r>
              <a:rPr kumimoji="0" lang="en-US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l </a:t>
            </a:r>
            <a:r>
              <a:rPr kumimoji="0" lang="en-US" sz="3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i</a:t>
            </a:r>
            <a:r>
              <a:rPr kumimoji="0" lang="id-ID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tqan </a:t>
            </a:r>
            <a:r>
              <a:rPr kumimoji="0" lang="ar-SA" sz="4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Arial" panose="020B0604020202020204" pitchFamily="34" charset="0"/>
              </a:rPr>
              <a:t> </a:t>
            </a:r>
            <a:r>
              <a:rPr kumimoji="0" lang="ar-SA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Arial Unicode MS" panose="020B0604020202020204" pitchFamily="34" charset="-128"/>
                <a:cs typeface="Traditional Arabic" panose="02010000000000000000" pitchFamily="2" charset="-78"/>
              </a:rPr>
              <a:t>الاتقان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(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bis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A</a:t>
            </a:r>
            <a:r>
              <a:rPr kumimoji="0" lang="en-US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l  </a:t>
            </a:r>
            <a:r>
              <a:rPr kumimoji="0" lang="id-ID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mufid </a:t>
            </a:r>
            <a:r>
              <a:rPr kumimoji="0" lang="ar-SA" sz="4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Arial" panose="020B0604020202020204" pitchFamily="34" charset="0"/>
              </a:rPr>
              <a:t> </a:t>
            </a:r>
            <a:r>
              <a:rPr kumimoji="0" lang="ar-SA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Arial Unicode MS" panose="020B0604020202020204" pitchFamily="34" charset="-128"/>
                <a:cs typeface="Traditional Arabic" panose="02010000000000000000" pitchFamily="2" charset="-78"/>
              </a:rPr>
              <a:t>المفيد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(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bergun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+mn-ea"/>
                <a:cs typeface="+mn-cs"/>
              </a:rPr>
              <a:t>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941747" y="3063223"/>
            <a:ext cx="3833556" cy="27672"/>
          </a:xfrm>
          <a:prstGeom prst="line">
            <a:avLst/>
          </a:prstGeom>
          <a:ln w="1397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rot="20675645">
            <a:off x="3801281" y="3932796"/>
            <a:ext cx="4857090" cy="14465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itchFamily="18" charset="0"/>
                <a:ea typeface="+mn-ea"/>
                <a:cs typeface="+mn-cs"/>
              </a:rPr>
              <a:t>BAKAT</a:t>
            </a: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itchFamily="18" charset="0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 rot="20071462">
            <a:off x="3910657" y="4471439"/>
            <a:ext cx="3353583" cy="1754326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KOMPETEN / TERAMPIL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/ HEBAT 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945950" y="4517834"/>
            <a:ext cx="4675514" cy="4643"/>
          </a:xfrm>
          <a:prstGeom prst="line">
            <a:avLst/>
          </a:prstGeom>
          <a:ln w="1397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rot="19978393">
            <a:off x="3964748" y="4352809"/>
            <a:ext cx="3521562" cy="144655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HOBBY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941747" y="3766776"/>
            <a:ext cx="4143404" cy="20585"/>
          </a:xfrm>
          <a:prstGeom prst="line">
            <a:avLst/>
          </a:prstGeom>
          <a:ln w="1397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rot="19978393">
            <a:off x="5145848" y="3492897"/>
            <a:ext cx="3521562" cy="1446550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MIMPI</a:t>
            </a:r>
            <a:endParaRPr kumimoji="0" lang="en-US" sz="8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796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85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385" decel="100000"/>
                                        <p:tgtEl>
                                          <p:spTgt spid="1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4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5" dur="385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6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7" dur="385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8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7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770" decel="100000"/>
                                        <p:tgtEl>
                                          <p:spTgt spid="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3" dur="7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5" dur="7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7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770" decel="100000"/>
                                        <p:tgtEl>
                                          <p:spTgt spid="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4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6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70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770" decel="100000"/>
                                        <p:tgtEl>
                                          <p:spTgt spid="1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8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85" dur="77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8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7" dur="77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8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5"/>
      <p:bldP spid="10" grpId="0" animBg="1"/>
      <p:bldP spid="10" grpId="1" animBg="1"/>
      <p:bldP spid="7" grpId="0" animBg="1"/>
      <p:bldP spid="7" grpId="1" animBg="1"/>
      <p:bldP spid="9" grpId="0" animBg="1"/>
      <p:bldP spid="9" grpId="1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217E-22EC-4A58-B372-B7F8110D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90056"/>
            <a:ext cx="8229600" cy="1143000"/>
          </a:xfrm>
        </p:spPr>
        <p:txBody>
          <a:bodyPr/>
          <a:lstStyle/>
          <a:p>
            <a:r>
              <a:rPr lang="id-ID" dirty="0"/>
              <a:t>Bagaimana cara menggali bakat?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25746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0360"/>
            <a:ext cx="8229600" cy="12527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BAKAT </a:t>
            </a:r>
            <a:r>
              <a:rPr lang="en-US" sz="2200" dirty="0" err="1"/>
              <a:t>adalah</a:t>
            </a:r>
            <a:r>
              <a:rPr lang="en-US" sz="2200" dirty="0"/>
              <a:t> SIFAT</a:t>
            </a:r>
            <a:r>
              <a:rPr lang="id-ID" sz="2200" dirty="0"/>
              <a:t> (karakter), sedangkan sifat itu tidak dapat dilihat, yang dapat dilihat adalah perilakunya, karena perilaku adalah aktifitas yang didorong oleh sifat.</a:t>
            </a:r>
          </a:p>
          <a:p>
            <a:pPr marL="0" indent="0">
              <a:buNone/>
            </a:pPr>
            <a:r>
              <a:rPr lang="id-ID" sz="2200" dirty="0"/>
              <a:t>Aktifitas yang diamati berupa: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d-ID" sz="2200" dirty="0"/>
              <a:t>Ekspresi gerakan: .....tangan memegang, kaki berjalan, mengoperasikan alat , dsb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d-ID" sz="2200" dirty="0"/>
              <a:t>Ekspresi perasaan (ekspresi raut muka): menangis, tertawa, marah, bicara, tersenyum, dsb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d-ID" sz="2200" dirty="0"/>
              <a:t>Ekspresi berpikir: fokus, wajah serius, memegang kepala, dsb.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274638"/>
            <a:ext cx="8229600" cy="671293"/>
          </a:xfrm>
          <a:prstGeom prst="rect">
            <a:avLst/>
          </a:prstGeom>
          <a:solidFill>
            <a:srgbClr val="002060"/>
          </a:solidFill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Bagaimana cara menggali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BAKAT ?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1B0AD35-1595-40FC-8FF6-9A76E974B3AF}"/>
              </a:ext>
            </a:extLst>
          </p:cNvPr>
          <p:cNvSpPr txBox="1">
            <a:spLocks/>
          </p:cNvSpPr>
          <p:nvPr/>
        </p:nvSpPr>
        <p:spPr>
          <a:xfrm>
            <a:off x="457200" y="1052736"/>
            <a:ext cx="8200996" cy="17573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BAKAT 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digali dengan ber- </a:t>
            </a:r>
            <a:r>
              <a:rPr kumimoji="0" lang="id-ID" sz="5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AKTIFITAS </a:t>
            </a:r>
            <a:r>
              <a:rPr kumimoji="0" lang="id-ID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yang beragam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941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1668" y="364039"/>
            <a:ext cx="3938898" cy="122827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BAKAT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(SIFAT)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88222" y="362607"/>
            <a:ext cx="2569778" cy="124547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AKTIFITAS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31420" y="346841"/>
            <a:ext cx="1907627" cy="127700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PROFESI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(PERAN)</a:t>
            </a:r>
            <a:endParaRPr kumimoji="0" lang="id-ID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7185" y="1880524"/>
            <a:ext cx="1907629" cy="95410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Dokter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Teknisi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9186" y="1885666"/>
            <a:ext cx="3957145" cy="181588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marL="361950" marR="0" lvl="0" indent="-361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menganalisa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61950" marR="0" lvl="0" indent="-361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memperbaiki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61950" marR="0" lvl="0" indent="-361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Peduli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61950" marR="0" lvl="0" indent="-361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melayani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orang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01556" y="1879192"/>
            <a:ext cx="2619506" cy="181588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Meneliti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Memperbaiki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Merasakan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Melayani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51424" y="4421875"/>
            <a:ext cx="1774212" cy="120032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ID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Ahli</a:t>
            </a:r>
            <a:r>
              <a:rPr kumimoji="0" lang="en-ID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ID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Hadits</a:t>
            </a: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ID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hli</a:t>
            </a:r>
            <a:r>
              <a:rPr kumimoji="0" lang="en-ID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ID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fiqih</a:t>
            </a: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ID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Ahli</a:t>
            </a:r>
            <a:r>
              <a:rPr kumimoji="0" lang="en-ID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ID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tafsir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5719" y="4383275"/>
            <a:ext cx="3863199" cy="181588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menganalisa</a:t>
            </a:r>
            <a:endParaRPr kumimoji="0" lang="ar-SA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mempelajari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Cerdas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Ahli hikmah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39988" y="4380931"/>
            <a:ext cx="2647665" cy="181588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Meneliti</a:t>
            </a:r>
            <a:endParaRPr kumimoji="0" lang="id-ID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empelajari</a:t>
            </a:r>
            <a:endParaRPr kumimoji="0" lang="id-ID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erpikir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id-ID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nghayati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45206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1" grpId="0" animBg="1"/>
      <p:bldP spid="18" grpId="0" animBg="1"/>
      <p:bldP spid="19" grpId="0" animBg="1"/>
      <p:bldP spid="8" grpId="0" animBg="1"/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217E-22EC-4A58-B372-B7F8110D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90056"/>
            <a:ext cx="8229600" cy="1143000"/>
          </a:xfrm>
        </p:spPr>
        <p:txBody>
          <a:bodyPr/>
          <a:lstStyle/>
          <a:p>
            <a:r>
              <a:rPr lang="id-ID" dirty="0"/>
              <a:t>Bakat itu apa saja?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75491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627784" y="688164"/>
            <a:ext cx="1857388" cy="7143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BERGAUL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27784" y="3045618"/>
            <a:ext cx="1857388" cy="7143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BERPIKIR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9222" y="5474510"/>
            <a:ext cx="1857388" cy="7143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BEKERJA</a:t>
            </a:r>
          </a:p>
        </p:txBody>
      </p:sp>
      <p:sp>
        <p:nvSpPr>
          <p:cNvPr id="11" name="Rounded Rectangle 10">
            <a:hlinkClick r:id="" action="ppaction://noaction"/>
          </p:cNvPr>
          <p:cNvSpPr/>
          <p:nvPr/>
        </p:nvSpPr>
        <p:spPr>
          <a:xfrm>
            <a:off x="5234892" y="545288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MEMPENGARUHI</a:t>
            </a:r>
          </a:p>
        </p:txBody>
      </p:sp>
      <p:sp>
        <p:nvSpPr>
          <p:cNvPr id="14" name="Rounded Rectangle 13">
            <a:hlinkClick r:id="" action="ppaction://noaction"/>
          </p:cNvPr>
          <p:cNvSpPr/>
          <p:nvPr/>
        </p:nvSpPr>
        <p:spPr>
          <a:xfrm>
            <a:off x="5234892" y="1402544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BEKERJASAMA</a:t>
            </a:r>
          </a:p>
        </p:txBody>
      </p:sp>
      <p:sp>
        <p:nvSpPr>
          <p:cNvPr id="15" name="Rounded Rectangle 14">
            <a:hlinkClick r:id="" action="ppaction://noaction"/>
          </p:cNvPr>
          <p:cNvSpPr/>
          <p:nvPr/>
        </p:nvSpPr>
        <p:spPr>
          <a:xfrm>
            <a:off x="5234892" y="2188362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MELAYANI</a:t>
            </a:r>
          </a:p>
        </p:txBody>
      </p:sp>
      <p:sp>
        <p:nvSpPr>
          <p:cNvPr id="16" name="Rounded Rectangle 15">
            <a:hlinkClick r:id="" action="ppaction://noaction"/>
          </p:cNvPr>
          <p:cNvSpPr/>
          <p:nvPr/>
        </p:nvSpPr>
        <p:spPr>
          <a:xfrm>
            <a:off x="5234892" y="3045618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ANALITIS</a:t>
            </a:r>
          </a:p>
        </p:txBody>
      </p:sp>
      <p:sp>
        <p:nvSpPr>
          <p:cNvPr id="17" name="Rounded Rectangle 16">
            <a:hlinkClick r:id="" action="ppaction://noaction"/>
          </p:cNvPr>
          <p:cNvSpPr/>
          <p:nvPr/>
        </p:nvSpPr>
        <p:spPr>
          <a:xfrm>
            <a:off x="5234892" y="3831436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KRITIS</a:t>
            </a:r>
          </a:p>
        </p:txBody>
      </p:sp>
      <p:sp>
        <p:nvSpPr>
          <p:cNvPr id="18" name="Rounded Rectangle 17">
            <a:hlinkClick r:id="" action="ppaction://noaction"/>
          </p:cNvPr>
          <p:cNvSpPr/>
          <p:nvPr/>
        </p:nvSpPr>
        <p:spPr>
          <a:xfrm>
            <a:off x="5234892" y="4617254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IMAJINATIF</a:t>
            </a:r>
          </a:p>
        </p:txBody>
      </p:sp>
      <p:sp>
        <p:nvSpPr>
          <p:cNvPr id="19" name="Rounded Rectangle 18">
            <a:hlinkClick r:id="" action="ppaction://noaction"/>
          </p:cNvPr>
          <p:cNvSpPr/>
          <p:nvPr/>
        </p:nvSpPr>
        <p:spPr>
          <a:xfrm>
            <a:off x="5234892" y="5474510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TEKNIS</a:t>
            </a:r>
          </a:p>
        </p:txBody>
      </p:sp>
      <p:sp>
        <p:nvSpPr>
          <p:cNvPr id="20" name="Rounded Rectangle 19">
            <a:hlinkClick r:id="" action="ppaction://noaction"/>
          </p:cNvPr>
          <p:cNvSpPr/>
          <p:nvPr/>
        </p:nvSpPr>
        <p:spPr>
          <a:xfrm>
            <a:off x="5234892" y="6260328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ADMINISTRATIF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4499992" y="688164"/>
            <a:ext cx="714380" cy="285752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499992" y="973916"/>
            <a:ext cx="714380" cy="428628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6200000" flipH="1">
            <a:off x="4178521" y="1295387"/>
            <a:ext cx="1357322" cy="714380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499992" y="3474246"/>
            <a:ext cx="714380" cy="428628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499992" y="3188494"/>
            <a:ext cx="714380" cy="285752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16200000" flipH="1">
            <a:off x="4214240" y="3759998"/>
            <a:ext cx="1214446" cy="642942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4499992" y="5617386"/>
            <a:ext cx="714380" cy="285752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499992" y="5903138"/>
            <a:ext cx="714380" cy="428628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927084" y="-39487"/>
            <a:ext cx="4500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KELOMPOK BAKAT</a:t>
            </a:r>
          </a:p>
        </p:txBody>
      </p:sp>
      <p:cxnSp>
        <p:nvCxnSpPr>
          <p:cNvPr id="48" name="Straight Arrow Connector 47"/>
          <p:cNvCxnSpPr>
            <a:cxnSpLocks/>
          </p:cNvCxnSpPr>
          <p:nvPr/>
        </p:nvCxnSpPr>
        <p:spPr>
          <a:xfrm flipV="1">
            <a:off x="2244824" y="1445297"/>
            <a:ext cx="598984" cy="390015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cxnSpLocks/>
          </p:cNvCxnSpPr>
          <p:nvPr/>
        </p:nvCxnSpPr>
        <p:spPr>
          <a:xfrm flipV="1">
            <a:off x="2278771" y="3831436"/>
            <a:ext cx="420451" cy="1161077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cxnSpLocks/>
          </p:cNvCxnSpPr>
          <p:nvPr/>
        </p:nvCxnSpPr>
        <p:spPr>
          <a:xfrm>
            <a:off x="2297051" y="4956376"/>
            <a:ext cx="491636" cy="518134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315998" y="1406875"/>
            <a:ext cx="1857388" cy="178837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BERTEMU ORANG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1918" y="4275181"/>
            <a:ext cx="1857388" cy="178837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TIDAK SENANG BERTEMU ORANG</a:t>
            </a:r>
          </a:p>
        </p:txBody>
      </p:sp>
      <p:sp>
        <p:nvSpPr>
          <p:cNvPr id="12" name="TextBox 11"/>
          <p:cNvSpPr txBox="1"/>
          <p:nvPr/>
        </p:nvSpPr>
        <p:spPr>
          <a:xfrm rot="19666244">
            <a:off x="225850" y="1027590"/>
            <a:ext cx="2217203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EXTROVERT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 rot="19666244">
            <a:off x="76211" y="3800625"/>
            <a:ext cx="2217203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INTROVERT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ounded Rectangle 19">
            <a:extLst>
              <a:ext uri="{FF2B5EF4-FFF2-40B4-BE49-F238E27FC236}">
                <a16:creationId xmlns:a16="http://schemas.microsoft.com/office/drawing/2014/main" id="{4759ABD1-E827-4F0C-B1B4-36BC882CD46E}"/>
              </a:ext>
            </a:extLst>
          </p:cNvPr>
          <p:cNvSpPr/>
          <p:nvPr/>
        </p:nvSpPr>
        <p:spPr>
          <a:xfrm>
            <a:off x="7092280" y="365177"/>
            <a:ext cx="1584176" cy="6119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Diatas  orang lain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ounded Rectangle 19">
            <a:extLst>
              <a:ext uri="{FF2B5EF4-FFF2-40B4-BE49-F238E27FC236}">
                <a16:creationId xmlns:a16="http://schemas.microsoft.com/office/drawing/2014/main" id="{75A069C6-3CF7-4263-8124-E66795F1097C}"/>
              </a:ext>
            </a:extLst>
          </p:cNvPr>
          <p:cNvSpPr/>
          <p:nvPr/>
        </p:nvSpPr>
        <p:spPr>
          <a:xfrm>
            <a:off x="7092280" y="1193360"/>
            <a:ext cx="1584176" cy="6119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Sejajar orang lain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ounded Rectangle 19">
            <a:extLst>
              <a:ext uri="{FF2B5EF4-FFF2-40B4-BE49-F238E27FC236}">
                <a16:creationId xmlns:a16="http://schemas.microsoft.com/office/drawing/2014/main" id="{8B33FEB8-2BC7-41B6-82A4-5C6EB9D233D0}"/>
              </a:ext>
            </a:extLst>
          </p:cNvPr>
          <p:cNvSpPr/>
          <p:nvPr/>
        </p:nvSpPr>
        <p:spPr>
          <a:xfrm>
            <a:off x="7092280" y="2021361"/>
            <a:ext cx="1584176" cy="6119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Dibawah orang lain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ounded Rectangle 19">
            <a:extLst>
              <a:ext uri="{FF2B5EF4-FFF2-40B4-BE49-F238E27FC236}">
                <a16:creationId xmlns:a16="http://schemas.microsoft.com/office/drawing/2014/main" id="{31CCF993-ED8C-47FC-B04E-FB9C33D379FE}"/>
              </a:ext>
            </a:extLst>
          </p:cNvPr>
          <p:cNvSpPr/>
          <p:nvPr/>
        </p:nvSpPr>
        <p:spPr>
          <a:xfrm>
            <a:off x="7092280" y="2885457"/>
            <a:ext cx="1584176" cy="6119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Berpikir utk hari ini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ounded Rectangle 19">
            <a:extLst>
              <a:ext uri="{FF2B5EF4-FFF2-40B4-BE49-F238E27FC236}">
                <a16:creationId xmlns:a16="http://schemas.microsoft.com/office/drawing/2014/main" id="{C5261233-B2D0-4064-A04F-D5BB8BD5660F}"/>
              </a:ext>
            </a:extLst>
          </p:cNvPr>
          <p:cNvSpPr/>
          <p:nvPr/>
        </p:nvSpPr>
        <p:spPr>
          <a:xfrm>
            <a:off x="7092280" y="3677545"/>
            <a:ext cx="1584176" cy="6119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Berpikir ttg masa lalu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Rounded Rectangle 19">
            <a:extLst>
              <a:ext uri="{FF2B5EF4-FFF2-40B4-BE49-F238E27FC236}">
                <a16:creationId xmlns:a16="http://schemas.microsoft.com/office/drawing/2014/main" id="{E6D8625A-A844-4218-A968-63BAD803B083}"/>
              </a:ext>
            </a:extLst>
          </p:cNvPr>
          <p:cNvSpPr/>
          <p:nvPr/>
        </p:nvSpPr>
        <p:spPr>
          <a:xfrm>
            <a:off x="7092280" y="4473207"/>
            <a:ext cx="1584176" cy="6119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Berpikir ttg masa depan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ounded Rectangle 19">
            <a:extLst>
              <a:ext uri="{FF2B5EF4-FFF2-40B4-BE49-F238E27FC236}">
                <a16:creationId xmlns:a16="http://schemas.microsoft.com/office/drawing/2014/main" id="{E31E99F1-177C-4505-9FB6-11789DDF57F7}"/>
              </a:ext>
            </a:extLst>
          </p:cNvPr>
          <p:cNvSpPr/>
          <p:nvPr/>
        </p:nvSpPr>
        <p:spPr>
          <a:xfrm>
            <a:off x="7092280" y="5261721"/>
            <a:ext cx="1584176" cy="6119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Bekerja outdoor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Rounded Rectangle 19">
            <a:extLst>
              <a:ext uri="{FF2B5EF4-FFF2-40B4-BE49-F238E27FC236}">
                <a16:creationId xmlns:a16="http://schemas.microsoft.com/office/drawing/2014/main" id="{90FE517B-2084-4C7F-9D0E-ED41D6E1125D}"/>
              </a:ext>
            </a:extLst>
          </p:cNvPr>
          <p:cNvSpPr/>
          <p:nvPr/>
        </p:nvSpPr>
        <p:spPr>
          <a:xfrm>
            <a:off x="7092280" y="6057383"/>
            <a:ext cx="1584176" cy="6119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Bekerja indoor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415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51" grpId="0" animBg="1"/>
      <p:bldP spid="52" grpId="0" animBg="1"/>
      <p:bldP spid="12" grpId="0" animBg="1"/>
      <p:bldP spid="53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56" grpId="0" animBg="1"/>
      <p:bldP spid="5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00034" y="857232"/>
            <a:ext cx="1857388" cy="7143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BERGAUL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34" y="3214686"/>
            <a:ext cx="1857388" cy="7143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BERPIKIR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472" y="5301208"/>
            <a:ext cx="1857388" cy="7143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BE</a:t>
            </a: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KERJA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57554" y="714355"/>
            <a:ext cx="1857388" cy="58477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MEMPENGARUHI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(Headman)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7554" y="1412777"/>
            <a:ext cx="1857388" cy="5714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BEKERJASAMA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(Networking)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57554" y="2108345"/>
            <a:ext cx="1857388" cy="60057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MELAYANI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(Servicing)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357554" y="2852936"/>
            <a:ext cx="1857388" cy="60722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ANALITIS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(Thinking)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357554" y="3613865"/>
            <a:ext cx="1857388" cy="60722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KRITIS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(Reasoning)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357554" y="4323773"/>
            <a:ext cx="1857388" cy="64868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IMAJINATIF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(Generating Idea)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362684" y="5085184"/>
            <a:ext cx="1857388" cy="62618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TEKNIS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(Technical)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362684" y="5827150"/>
            <a:ext cx="1857388" cy="62618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ADMINISTRATIF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(Elementary)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2500298" y="857232"/>
            <a:ext cx="714380" cy="285752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500298" y="1142984"/>
            <a:ext cx="714380" cy="428628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6200000" flipH="1">
            <a:off x="2178827" y="1464455"/>
            <a:ext cx="1357322" cy="714380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500298" y="3643314"/>
            <a:ext cx="714380" cy="428628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cxnSpLocks/>
          </p:cNvCxnSpPr>
          <p:nvPr/>
        </p:nvCxnSpPr>
        <p:spPr>
          <a:xfrm flipV="1">
            <a:off x="2500298" y="3250405"/>
            <a:ext cx="735797" cy="392909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16200000" flipH="1">
            <a:off x="2214546" y="3929066"/>
            <a:ext cx="1214446" cy="642942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2500298" y="5373216"/>
            <a:ext cx="714380" cy="285752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2500298" y="5661248"/>
            <a:ext cx="714380" cy="428628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143108" y="0"/>
            <a:ext cx="4500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 Aktifitas BAKAT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71472" y="1600130"/>
            <a:ext cx="1857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RASA / AFEKTIF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0034" y="4000504"/>
            <a:ext cx="185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CIPTA / KOGNITIF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7158" y="6093296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KARSA / PSIKOMOTOR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B2788-6F96-422B-B5B4-FF692E7CE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730" y="357166"/>
            <a:ext cx="2471726" cy="5952154"/>
          </a:xfrm>
          <a:ln>
            <a:noFill/>
          </a:ln>
        </p:spPr>
        <p:txBody>
          <a:bodyPr tIns="108000" bIns="108000">
            <a:noAutofit/>
          </a:bodyPr>
          <a:lstStyle/>
          <a:p>
            <a:pPr marL="88900" indent="-88900">
              <a:lnSpc>
                <a:spcPts val="1000"/>
              </a:lnSpc>
            </a:pPr>
            <a:r>
              <a:rPr lang="id-ID" sz="1400" dirty="0"/>
              <a:t>Arranger (ARR)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Commander (CMD)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Mediator (MED)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Seller (SEL)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Selector (SLC)</a:t>
            </a:r>
          </a:p>
          <a:p>
            <a:pPr marL="88900" indent="-88900">
              <a:lnSpc>
                <a:spcPts val="1000"/>
              </a:lnSpc>
            </a:pPr>
            <a:endParaRPr lang="id-ID" sz="1400" dirty="0"/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Educator (EDU)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Motivator (CMD)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Ambassador (AMB)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Communicator(COM)</a:t>
            </a:r>
          </a:p>
          <a:p>
            <a:pPr marL="88900" indent="-88900">
              <a:lnSpc>
                <a:spcPts val="1000"/>
              </a:lnSpc>
            </a:pPr>
            <a:endParaRPr lang="id-ID" sz="1400" dirty="0"/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Care taker (CAR)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Server (SER)</a:t>
            </a:r>
          </a:p>
          <a:p>
            <a:pPr marL="88900" indent="-88900">
              <a:lnSpc>
                <a:spcPts val="1000"/>
              </a:lnSpc>
            </a:pPr>
            <a:endParaRPr lang="id-ID" sz="1400" dirty="0"/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Analyst (ANA)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Treasury (TRE)</a:t>
            </a:r>
          </a:p>
          <a:p>
            <a:pPr marL="88900" indent="-88900">
              <a:lnSpc>
                <a:spcPts val="1000"/>
              </a:lnSpc>
            </a:pPr>
            <a:endParaRPr lang="id-ID" sz="1400" dirty="0"/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Restorer (RES)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Evaluator (EVA)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Explorer (EXP)</a:t>
            </a:r>
          </a:p>
          <a:p>
            <a:pPr marL="88900" indent="-88900">
              <a:lnSpc>
                <a:spcPts val="1000"/>
              </a:lnSpc>
            </a:pPr>
            <a:endParaRPr lang="id-ID" sz="1400" dirty="0"/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Designer (DES)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Creator (CRE)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Synthesizer (SYN)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Marketer (MAR)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Strategist (STR)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Visionary (VIS)</a:t>
            </a:r>
          </a:p>
          <a:p>
            <a:pPr marL="88900" indent="-88900">
              <a:lnSpc>
                <a:spcPts val="1000"/>
              </a:lnSpc>
            </a:pPr>
            <a:endParaRPr lang="id-ID" sz="1400" dirty="0"/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Producer (PRO)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Safekeeper (SAF)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Qualitycontroller (QCA)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Distributor (DIS)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Operator (OPE)</a:t>
            </a:r>
          </a:p>
          <a:p>
            <a:pPr marL="88900" indent="-88900">
              <a:lnSpc>
                <a:spcPts val="1000"/>
              </a:lnSpc>
            </a:pPr>
            <a:endParaRPr lang="id-ID" sz="1400" dirty="0"/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Journalist (JOU)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Intrepreter (INT)</a:t>
            </a:r>
          </a:p>
          <a:p>
            <a:pPr marL="88900" indent="-88900">
              <a:lnSpc>
                <a:spcPts val="1000"/>
              </a:lnSpc>
            </a:pPr>
            <a:r>
              <a:rPr lang="id-ID" sz="1400" dirty="0"/>
              <a:t>Administrator (ADM)</a:t>
            </a:r>
          </a:p>
          <a:p>
            <a:pPr marL="88900" indent="-88900">
              <a:lnSpc>
                <a:spcPts val="1000"/>
              </a:lnSpc>
            </a:pPr>
            <a:endParaRPr lang="en-ID" sz="1400" dirty="0"/>
          </a:p>
          <a:p>
            <a:pPr marL="88900" indent="-88900">
              <a:lnSpc>
                <a:spcPts val="1000"/>
              </a:lnSpc>
            </a:pPr>
            <a:endParaRPr lang="id-ID" sz="1400" dirty="0"/>
          </a:p>
          <a:p>
            <a:pPr marL="88900" indent="-88900">
              <a:lnSpc>
                <a:spcPts val="1000"/>
              </a:lnSpc>
            </a:pPr>
            <a:endParaRPr lang="en-ID" sz="1400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6E92F19-1EE1-4B77-A955-E18E55EF1F05}"/>
              </a:ext>
            </a:extLst>
          </p:cNvPr>
          <p:cNvCxnSpPr>
            <a:cxnSpLocks/>
          </p:cNvCxnSpPr>
          <p:nvPr/>
        </p:nvCxnSpPr>
        <p:spPr>
          <a:xfrm>
            <a:off x="5288686" y="863879"/>
            <a:ext cx="916044" cy="0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ABAC909-FD55-4465-A485-33B54A7CDEB7}"/>
              </a:ext>
            </a:extLst>
          </p:cNvPr>
          <p:cNvCxnSpPr>
            <a:cxnSpLocks/>
          </p:cNvCxnSpPr>
          <p:nvPr/>
        </p:nvCxnSpPr>
        <p:spPr>
          <a:xfrm>
            <a:off x="5357818" y="1714488"/>
            <a:ext cx="846912" cy="6647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34CFC6-A316-4B53-9ED4-FBECBDD1A956}"/>
              </a:ext>
            </a:extLst>
          </p:cNvPr>
          <p:cNvCxnSpPr>
            <a:cxnSpLocks/>
          </p:cNvCxnSpPr>
          <p:nvPr/>
        </p:nvCxnSpPr>
        <p:spPr>
          <a:xfrm flipV="1">
            <a:off x="5288686" y="2446915"/>
            <a:ext cx="916044" cy="22800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FEF0174-5632-466E-86DB-8261D8A8F72E}"/>
              </a:ext>
            </a:extLst>
          </p:cNvPr>
          <p:cNvCxnSpPr>
            <a:cxnSpLocks/>
          </p:cNvCxnSpPr>
          <p:nvPr/>
        </p:nvCxnSpPr>
        <p:spPr>
          <a:xfrm flipV="1">
            <a:off x="5288686" y="3620515"/>
            <a:ext cx="916044" cy="293530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241E579-F292-4F59-9FD3-251311BE7E1F}"/>
              </a:ext>
            </a:extLst>
          </p:cNvPr>
          <p:cNvCxnSpPr>
            <a:cxnSpLocks/>
          </p:cNvCxnSpPr>
          <p:nvPr/>
        </p:nvCxnSpPr>
        <p:spPr>
          <a:xfrm flipV="1">
            <a:off x="5288686" y="3031338"/>
            <a:ext cx="916044" cy="175366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9AEDE2C-7999-4C9E-9549-35A75D7F4FE0}"/>
              </a:ext>
            </a:extLst>
          </p:cNvPr>
          <p:cNvCxnSpPr>
            <a:cxnSpLocks/>
          </p:cNvCxnSpPr>
          <p:nvPr/>
        </p:nvCxnSpPr>
        <p:spPr>
          <a:xfrm flipV="1">
            <a:off x="5288686" y="4509121"/>
            <a:ext cx="987481" cy="120073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E35256D-E93E-43EC-89DB-F5394D682B3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5220072" y="5398277"/>
            <a:ext cx="984658" cy="245301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C551A4F-B2B1-4AEF-A89B-36C605C70D91}"/>
              </a:ext>
            </a:extLst>
          </p:cNvPr>
          <p:cNvCxnSpPr>
            <a:cxnSpLocks/>
          </p:cNvCxnSpPr>
          <p:nvPr/>
        </p:nvCxnSpPr>
        <p:spPr>
          <a:xfrm>
            <a:off x="5288686" y="6248145"/>
            <a:ext cx="916044" cy="200214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4314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217E-22EC-4A58-B372-B7F8110D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90056"/>
            <a:ext cx="8229600" cy="1143000"/>
          </a:xfrm>
        </p:spPr>
        <p:txBody>
          <a:bodyPr>
            <a:normAutofit/>
          </a:bodyPr>
          <a:lstStyle/>
          <a:p>
            <a:r>
              <a:rPr lang="id-ID" dirty="0"/>
              <a:t>Bagaimana cara pemetaan bakat?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48093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434300" y="727651"/>
            <a:ext cx="1857388" cy="7143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BERGAUL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4300" y="3085105"/>
            <a:ext cx="1857388" cy="7143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BERPIKIR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5738" y="5513997"/>
            <a:ext cx="1857388" cy="7143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BEKERJA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820" y="584775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MEMPENGARUHI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820" y="1442031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BEKERJASAMA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820" y="2227849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MELAYANI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820" y="3085105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ANALITIS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820" y="3870923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KRITIS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820" y="4656741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IMAJINATIF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0382" y="5513997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TEKNIS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0382" y="6299815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ADMINISTRATIF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5434564" y="727651"/>
            <a:ext cx="714380" cy="285752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5434564" y="1013403"/>
            <a:ext cx="714380" cy="428628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6200000" flipH="1">
            <a:off x="5113093" y="1334874"/>
            <a:ext cx="1357322" cy="714380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434564" y="3513733"/>
            <a:ext cx="714380" cy="428628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5434564" y="3227981"/>
            <a:ext cx="714380" cy="285752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16200000" flipH="1">
            <a:off x="5148812" y="3799485"/>
            <a:ext cx="1214446" cy="642942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5434564" y="5656873"/>
            <a:ext cx="714380" cy="285752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434564" y="5942625"/>
            <a:ext cx="714380" cy="428628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760967" y="0"/>
            <a:ext cx="5144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CONTOH PROSENTASE BAKAT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2460848" y="1442031"/>
            <a:ext cx="973452" cy="864815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2494795" y="3863941"/>
            <a:ext cx="868067" cy="1168058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2513075" y="4995863"/>
            <a:ext cx="939252" cy="518134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532022" y="1446362"/>
            <a:ext cx="1857388" cy="178837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BERTEMU ORANG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7942" y="4314668"/>
            <a:ext cx="1857388" cy="178837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TIDAK SENANG BERTEMU ORANG</a:t>
            </a:r>
          </a:p>
        </p:txBody>
      </p:sp>
      <p:sp>
        <p:nvSpPr>
          <p:cNvPr id="12" name="TextBox 11"/>
          <p:cNvSpPr txBox="1"/>
          <p:nvPr/>
        </p:nvSpPr>
        <p:spPr>
          <a:xfrm rot="19666244">
            <a:off x="34412" y="1080983"/>
            <a:ext cx="2217203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EXTROVERT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 rot="19666244">
            <a:off x="91276" y="3840111"/>
            <a:ext cx="2217203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INTROVERT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46274" y="2539143"/>
            <a:ext cx="849787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25%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58741" y="5681015"/>
            <a:ext cx="849787" cy="5232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75%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938100" y="1514457"/>
            <a:ext cx="849787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25%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938099" y="3859345"/>
            <a:ext cx="849787" cy="5232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55%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982010" y="6299815"/>
            <a:ext cx="84978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31096" y="466041"/>
            <a:ext cx="783996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31097" y="1323297"/>
            <a:ext cx="783995" cy="523220"/>
          </a:xfrm>
          <a:prstGeom prst="rect">
            <a:avLst/>
          </a:prstGeom>
          <a:solidFill>
            <a:srgbClr val="B2B2B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31095" y="2109115"/>
            <a:ext cx="803723" cy="52322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31095" y="3752189"/>
            <a:ext cx="80372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231095" y="4541398"/>
            <a:ext cx="80372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211370" y="5395263"/>
            <a:ext cx="803723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16%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211369" y="6181081"/>
            <a:ext cx="803723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231095" y="2962980"/>
            <a:ext cx="803723" cy="5232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35%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997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301" y="1446362"/>
            <a:ext cx="2857500" cy="28575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760967" y="0"/>
            <a:ext cx="5144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CONTOH PROSENTASE BAKAT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532022" y="1446362"/>
            <a:ext cx="1857388" cy="178837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BERTEMU ORANG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7942" y="4314668"/>
            <a:ext cx="1857388" cy="178837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TIDAK SENANG BERTEMU ORANG</a:t>
            </a:r>
          </a:p>
        </p:txBody>
      </p:sp>
      <p:sp>
        <p:nvSpPr>
          <p:cNvPr id="12" name="TextBox 11"/>
          <p:cNvSpPr txBox="1"/>
          <p:nvPr/>
        </p:nvSpPr>
        <p:spPr>
          <a:xfrm rot="19666244">
            <a:off x="34412" y="1080983"/>
            <a:ext cx="2217203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EXTROVERT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 rot="19666244">
            <a:off x="91276" y="3840111"/>
            <a:ext cx="2217203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INTROVERT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46274" y="2539143"/>
            <a:ext cx="849787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25%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58741" y="5681015"/>
            <a:ext cx="849787" cy="5232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75%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8" name="Picture 4" descr="Gambar terkai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107" y="3304199"/>
            <a:ext cx="2905125" cy="263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540991" y="1951630"/>
            <a:ext cx="21997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Aku</a:t>
            </a:r>
            <a:endParaRPr kumimoji="0" lang="en-ID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INTROVERT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9320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434300" y="727651"/>
            <a:ext cx="1857388" cy="7143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BERGAUL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4300" y="3085105"/>
            <a:ext cx="1857388" cy="7143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BERPIKIR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5738" y="5513997"/>
            <a:ext cx="1857388" cy="7143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SENANG BEKERJA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0967" y="0"/>
            <a:ext cx="5144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CONTOH PROSENTASE BAKAT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938100" y="1514457"/>
            <a:ext cx="849787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25%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938099" y="3859345"/>
            <a:ext cx="849787" cy="5232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55%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982010" y="6299815"/>
            <a:ext cx="84978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351" y="1487306"/>
            <a:ext cx="2857500" cy="2857500"/>
          </a:xfrm>
          <a:prstGeom prst="rect">
            <a:avLst/>
          </a:prstGeom>
        </p:spPr>
      </p:pic>
      <p:pic>
        <p:nvPicPr>
          <p:cNvPr id="56" name="Picture 4" descr="Gambar terkai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482" y="3290551"/>
            <a:ext cx="2905125" cy="263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6428101" y="1624082"/>
            <a:ext cx="2199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Aku</a:t>
            </a:r>
            <a:r>
              <a:rPr kumimoji="0" lang="en-ID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SENANG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BERPIKIR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03272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6291820" y="584775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MEMPENGARUHI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820" y="1442031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BEKERJASAMA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820" y="2227849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MELAYANI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820" y="3085105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ANALITIS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820" y="3870923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KRITIS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820" y="4656741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IMAJINATIF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0382" y="5513997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TEKNIS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0382" y="6299815"/>
            <a:ext cx="1857388" cy="2857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ADMINISTRATIF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0967" y="0"/>
            <a:ext cx="5144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CONTOH PROSENTASE BAKAT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31096" y="466041"/>
            <a:ext cx="783996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31097" y="1323297"/>
            <a:ext cx="783995" cy="523220"/>
          </a:xfrm>
          <a:prstGeom prst="rect">
            <a:avLst/>
          </a:prstGeom>
          <a:solidFill>
            <a:srgbClr val="B2B2B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31095" y="2109115"/>
            <a:ext cx="803723" cy="52322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31095" y="3752189"/>
            <a:ext cx="80372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231095" y="4541398"/>
            <a:ext cx="80372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211370" y="5395263"/>
            <a:ext cx="803723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16%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211369" y="6181081"/>
            <a:ext cx="803723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231095" y="2962980"/>
            <a:ext cx="803723" cy="5232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35%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6" name="Picture 4" descr="Gambar terkai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34" y="1917892"/>
            <a:ext cx="2200881" cy="199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646695" y="1132558"/>
            <a:ext cx="367125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Urutan</a:t>
            </a:r>
            <a:r>
              <a:rPr kumimoji="0" lang="en-ID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ID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bakatku</a:t>
            </a:r>
            <a:r>
              <a:rPr kumimoji="0" lang="en-ID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D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ANALITIS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D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MELAYANI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D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TEKNIS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D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IMAJINATIF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D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KRITIS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D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BEKERJA SAMA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D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ADMINISTRASI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D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MEMPENGARUHI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8561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DE93C-AA98-4EF1-B4F6-2ECD848D3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02024"/>
            <a:ext cx="8229600" cy="1143000"/>
          </a:xfrm>
        </p:spPr>
        <p:txBody>
          <a:bodyPr/>
          <a:lstStyle/>
          <a:p>
            <a:r>
              <a:rPr lang="en-US" dirty="0"/>
              <a:t>Lembar </a:t>
            </a:r>
            <a:r>
              <a:rPr lang="en-US" dirty="0" err="1"/>
              <a:t>Pemetaan</a:t>
            </a:r>
            <a:r>
              <a:rPr lang="en-US" dirty="0"/>
              <a:t> </a:t>
            </a:r>
            <a:r>
              <a:rPr lang="en-US" dirty="0" err="1"/>
              <a:t>Bakat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574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2D93CEF-42D2-44DB-883C-58CBE9254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A54807-4995-4364-AA92-3ED6255B025D}"/>
              </a:ext>
            </a:extLst>
          </p:cNvPr>
          <p:cNvSpPr txBox="1"/>
          <p:nvPr/>
        </p:nvSpPr>
        <p:spPr>
          <a:xfrm>
            <a:off x="8468816" y="1772816"/>
            <a:ext cx="8640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wis721 Cn BT" panose="020B0506020202030204" pitchFamily="34" charset="0"/>
                <a:ea typeface="+mn-ea"/>
                <a:cs typeface="+mn-cs"/>
              </a:rPr>
              <a:t>√</a:t>
            </a:r>
            <a:endParaRPr kumimoji="0" lang="en-ID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B6725E-FAB4-4012-A6FE-C782E3766302}"/>
              </a:ext>
            </a:extLst>
          </p:cNvPr>
          <p:cNvSpPr txBox="1"/>
          <p:nvPr/>
        </p:nvSpPr>
        <p:spPr>
          <a:xfrm>
            <a:off x="7380312" y="3134578"/>
            <a:ext cx="8640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wis721 Cn BT" panose="020B0506020202030204" pitchFamily="34" charset="0"/>
                <a:ea typeface="+mn-ea"/>
                <a:cs typeface="+mn-cs"/>
              </a:rPr>
              <a:t>√</a:t>
            </a:r>
            <a:endParaRPr kumimoji="0" lang="en-ID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50">
            <a:extLst>
              <a:ext uri="{FF2B5EF4-FFF2-40B4-BE49-F238E27FC236}">
                <a16:creationId xmlns:a16="http://schemas.microsoft.com/office/drawing/2014/main" id="{B5ACC3AA-4906-4506-A7F1-C1BB116514D9}"/>
              </a:ext>
            </a:extLst>
          </p:cNvPr>
          <p:cNvSpPr/>
          <p:nvPr/>
        </p:nvSpPr>
        <p:spPr>
          <a:xfrm>
            <a:off x="8707726" y="1784560"/>
            <a:ext cx="400778" cy="4740784"/>
          </a:xfrm>
          <a:prstGeom prst="roundRect">
            <a:avLst/>
          </a:prstGeom>
          <a:solidFill>
            <a:srgbClr val="FF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KEKUATAN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50">
            <a:extLst>
              <a:ext uri="{FF2B5EF4-FFF2-40B4-BE49-F238E27FC236}">
                <a16:creationId xmlns:a16="http://schemas.microsoft.com/office/drawing/2014/main" id="{6E1690AA-AB00-4FD4-ADCC-1B63CFC61FE7}"/>
              </a:ext>
            </a:extLst>
          </p:cNvPr>
          <p:cNvSpPr/>
          <p:nvPr/>
        </p:nvSpPr>
        <p:spPr>
          <a:xfrm>
            <a:off x="7679784" y="1784560"/>
            <a:ext cx="400778" cy="4740784"/>
          </a:xfrm>
          <a:prstGeom prst="roundRect">
            <a:avLst/>
          </a:prstGeom>
          <a:solidFill>
            <a:schemeClr val="tx1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KELEMAHAN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0D5465-BE02-45E5-B08E-5C76838EB543}"/>
              </a:ext>
            </a:extLst>
          </p:cNvPr>
          <p:cNvCxnSpPr>
            <a:cxnSpLocks/>
          </p:cNvCxnSpPr>
          <p:nvPr/>
        </p:nvCxnSpPr>
        <p:spPr>
          <a:xfrm>
            <a:off x="8110876" y="4077072"/>
            <a:ext cx="565580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8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mph" presetSubtype="0" repeatCount="indefinite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5" presetClass="emph" presetSubtype="0" repeatCount="indefinite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2" grpId="0"/>
      <p:bldP spid="12" grpId="1"/>
      <p:bldP spid="13" grpId="0" animBg="1"/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DCA8CC1-ABAE-49A7-993C-D789DBE3D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1628800"/>
            <a:ext cx="1296144" cy="1800200"/>
          </a:xfrm>
          <a:prstGeom prst="rect">
            <a:avLst/>
          </a:prstGeom>
          <a:solidFill>
            <a:srgbClr val="FFFF00">
              <a:alpha val="42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hlinkClick r:id="" action="ppaction://noaction"/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611560" y="3501008"/>
            <a:ext cx="5472608" cy="1872208"/>
          </a:xfrm>
          <a:prstGeom prst="wedgeRoundRectCallout">
            <a:avLst>
              <a:gd name="adj1" fmla="val 91178"/>
              <a:gd name="adj2" fmla="val -61207"/>
              <a:gd name="adj3" fmla="val 16667"/>
            </a:avLst>
          </a:prstGeom>
          <a:solidFill>
            <a:srgbClr val="FFFF0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Extrovert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Senang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bertemu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orang)</a:t>
            </a:r>
          </a:p>
        </p:txBody>
      </p:sp>
    </p:spTree>
    <p:extLst>
      <p:ext uri="{BB962C8B-B14F-4D97-AF65-F5344CB8AC3E}">
        <p14:creationId xmlns:p14="http://schemas.microsoft.com/office/powerpoint/2010/main" val="5489654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B31A91-10D2-4F3B-8180-99D505F8E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3429000"/>
            <a:ext cx="1296144" cy="3240360"/>
          </a:xfrm>
          <a:prstGeom prst="rect">
            <a:avLst/>
          </a:prstGeom>
          <a:solidFill>
            <a:srgbClr val="92D05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467544" y="1556792"/>
            <a:ext cx="6696744" cy="1872208"/>
          </a:xfrm>
          <a:prstGeom prst="wedgeRoundRectCallout">
            <a:avLst>
              <a:gd name="adj1" fmla="val 73118"/>
              <a:gd name="adj2" fmla="val 57446"/>
              <a:gd name="adj3" fmla="val 16667"/>
            </a:avLst>
          </a:prstGeom>
          <a:solidFill>
            <a:srgbClr val="92D05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Introvert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tidak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senang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bertemu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orang)</a:t>
            </a:r>
            <a:r>
              <a:rPr kumimoji="0" lang="id-ID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89209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DCA8CC1-ABAE-49A7-993C-D789DBE3D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1628800"/>
            <a:ext cx="1296144" cy="1800200"/>
          </a:xfrm>
          <a:prstGeom prst="rect">
            <a:avLst/>
          </a:prstGeom>
          <a:solidFill>
            <a:srgbClr val="FFFF00">
              <a:alpha val="42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hlinkClick r:id="" action="ppaction://noaction"/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467544" y="3573016"/>
            <a:ext cx="5904656" cy="1872208"/>
          </a:xfrm>
          <a:prstGeom prst="wedgeRoundRectCallout">
            <a:avLst>
              <a:gd name="adj1" fmla="val 80852"/>
              <a:gd name="adj2" fmla="val -66467"/>
              <a:gd name="adj3" fmla="val 16667"/>
            </a:avLst>
          </a:prstGeom>
          <a:solidFill>
            <a:srgbClr val="FFFF0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Cerdas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dalam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berperasaan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Emotional Quotient (EQ)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72598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B31A91-10D2-4F3B-8180-99D505F8E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3429000"/>
            <a:ext cx="1296144" cy="1872208"/>
          </a:xfrm>
          <a:prstGeom prst="rect">
            <a:avLst/>
          </a:prstGeom>
          <a:solidFill>
            <a:srgbClr val="92D05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467544" y="1700808"/>
            <a:ext cx="6336703" cy="1872208"/>
          </a:xfrm>
          <a:prstGeom prst="wedgeRoundRectCallout">
            <a:avLst>
              <a:gd name="adj1" fmla="val 70920"/>
              <a:gd name="adj2" fmla="val 65712"/>
              <a:gd name="adj3" fmla="val 16667"/>
            </a:avLst>
          </a:prstGeom>
          <a:solidFill>
            <a:srgbClr val="92D05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glow rad="127000">
                  <a:srgbClr val="FFFF00"/>
                </a:glow>
              </a:effectLst>
              <a:uLnTx/>
              <a:uFillTx/>
              <a:latin typeface="Calibri"/>
              <a:ea typeface="+mn-ea"/>
              <a:cs typeface="Traditional Arabic" pitchFamily="2" charset="-7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glow rad="127000">
                    <a:srgbClr val="FFFF00"/>
                  </a:glow>
                </a:effectLst>
                <a:uLnTx/>
                <a:uFillTx/>
                <a:latin typeface="Calibri"/>
                <a:ea typeface="+mn-ea"/>
                <a:cs typeface="Traditional Arabic" pitchFamily="2" charset="-78"/>
              </a:rPr>
              <a:t>Cerdas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glow rad="127000">
                    <a:srgbClr val="FFFF00"/>
                  </a:glow>
                </a:effectLst>
                <a:uLnTx/>
                <a:uFillTx/>
                <a:latin typeface="Calibri"/>
                <a:ea typeface="+mn-ea"/>
                <a:cs typeface="Traditional Arabic" pitchFamily="2" charset="-78"/>
              </a:rPr>
              <a:t>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glow rad="127000">
                    <a:srgbClr val="FFFF00"/>
                  </a:glow>
                </a:effectLst>
                <a:uLnTx/>
                <a:uFillTx/>
                <a:latin typeface="Calibri"/>
                <a:ea typeface="+mn-ea"/>
                <a:cs typeface="Traditional Arabic" pitchFamily="2" charset="-78"/>
              </a:rPr>
              <a:t>dalam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glow rad="127000">
                    <a:srgbClr val="FFFF00"/>
                  </a:glow>
                </a:effectLst>
                <a:uLnTx/>
                <a:uFillTx/>
                <a:latin typeface="Calibri"/>
                <a:ea typeface="+mn-ea"/>
                <a:cs typeface="Traditional Arabic" pitchFamily="2" charset="-78"/>
              </a:rPr>
              <a:t>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glow rad="127000">
                    <a:srgbClr val="FFFF00"/>
                  </a:glow>
                </a:effectLst>
                <a:uLnTx/>
                <a:uFillTx/>
                <a:latin typeface="Calibri"/>
                <a:ea typeface="+mn-ea"/>
                <a:cs typeface="Traditional Arabic" pitchFamily="2" charset="-78"/>
              </a:rPr>
              <a:t>berpikir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glow rad="127000">
                  <a:srgbClr val="FFFF00"/>
                </a:glow>
              </a:effectLst>
              <a:uLnTx/>
              <a:uFillTx/>
              <a:latin typeface="Calibri"/>
              <a:ea typeface="+mn-ea"/>
              <a:cs typeface="Traditional Arabic" pitchFamily="2" charset="-7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glow rad="127000">
                    <a:srgbClr val="FFFF00"/>
                  </a:glow>
                </a:effectLst>
                <a:uLnTx/>
                <a:uFillTx/>
                <a:latin typeface="Calibri"/>
                <a:ea typeface="+mn-ea"/>
                <a:cs typeface="Traditional Arabic" pitchFamily="2" charset="-78"/>
              </a:rPr>
              <a:t>Intelligence Quotient (IQ)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glow rad="127000">
                  <a:srgbClr val="FFFF00"/>
                </a:glow>
              </a:effectLst>
              <a:uLnTx/>
              <a:uFillTx/>
              <a:latin typeface="Calibri"/>
              <a:ea typeface="+mn-ea"/>
              <a:cs typeface="Traditional Arabic" pitchFamily="2" charset="-7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4699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7F44C1-5C52-4C70-BC27-64C364BF1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5301208"/>
            <a:ext cx="1296144" cy="1368152"/>
          </a:xfrm>
          <a:prstGeom prst="rect">
            <a:avLst/>
          </a:prstGeom>
          <a:solidFill>
            <a:srgbClr val="00B0F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755576" y="3284984"/>
            <a:ext cx="6480720" cy="2016224"/>
          </a:xfrm>
          <a:prstGeom prst="wedgeRoundRectCallout">
            <a:avLst>
              <a:gd name="adj1" fmla="val 65412"/>
              <a:gd name="adj2" fmla="val 64812"/>
              <a:gd name="adj3" fmla="val 16667"/>
            </a:avLst>
          </a:prstGeom>
          <a:solidFill>
            <a:srgbClr val="00B0F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srgbClr val="C00000"/>
                </a:glow>
              </a:effectLst>
              <a:uLnTx/>
              <a:uFillTx/>
              <a:latin typeface="Calibri"/>
              <a:ea typeface="+mn-ea"/>
              <a:cs typeface="Traditional Arabic" pitchFamily="2" charset="-7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127000">
                    <a:srgbClr val="C00000"/>
                  </a:glow>
                </a:effectLst>
                <a:uLnTx/>
                <a:uFillTx/>
                <a:latin typeface="Calibri"/>
                <a:ea typeface="+mn-ea"/>
                <a:cs typeface="Traditional Arabic" pitchFamily="2" charset="-78"/>
              </a:rPr>
              <a:t>Cerdas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srgbClr val="C00000"/>
                  </a:glow>
                </a:effectLst>
                <a:uLnTx/>
                <a:uFillTx/>
                <a:latin typeface="Calibri"/>
                <a:ea typeface="+mn-ea"/>
                <a:cs typeface="Traditional Arabic" pitchFamily="2" charset="-78"/>
              </a:rPr>
              <a:t>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127000">
                    <a:srgbClr val="C00000"/>
                  </a:glow>
                </a:effectLst>
                <a:uLnTx/>
                <a:uFillTx/>
                <a:latin typeface="Calibri"/>
                <a:ea typeface="+mn-ea"/>
                <a:cs typeface="Traditional Arabic" pitchFamily="2" charset="-78"/>
              </a:rPr>
              <a:t>dalam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srgbClr val="C00000"/>
                  </a:glow>
                </a:effectLst>
                <a:uLnTx/>
                <a:uFillTx/>
                <a:latin typeface="Calibri"/>
                <a:ea typeface="+mn-ea"/>
                <a:cs typeface="Traditional Arabic" pitchFamily="2" charset="-78"/>
              </a:rPr>
              <a:t>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127000">
                    <a:srgbClr val="C00000"/>
                  </a:glow>
                </a:effectLst>
                <a:uLnTx/>
                <a:uFillTx/>
                <a:latin typeface="Calibri"/>
                <a:ea typeface="+mn-ea"/>
                <a:cs typeface="Traditional Arabic" pitchFamily="2" charset="-78"/>
              </a:rPr>
              <a:t>bergerak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srgbClr val="C00000"/>
                </a:glow>
              </a:effectLst>
              <a:uLnTx/>
              <a:uFillTx/>
              <a:latin typeface="Calibri"/>
              <a:ea typeface="+mn-ea"/>
              <a:cs typeface="Traditional Arabic" pitchFamily="2" charset="-7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srgbClr val="C00000"/>
                  </a:glow>
                </a:effectLst>
                <a:uLnTx/>
                <a:uFillTx/>
                <a:latin typeface="Calibri"/>
                <a:ea typeface="+mn-ea"/>
                <a:cs typeface="Traditional Arabic" pitchFamily="2" charset="-78"/>
              </a:rPr>
              <a:t>Physical Quotient (PQ)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srgbClr val="C00000"/>
                </a:glow>
              </a:effectLst>
              <a:uLnTx/>
              <a:uFillTx/>
              <a:latin typeface="Calibri"/>
              <a:ea typeface="+mn-ea"/>
              <a:cs typeface="Traditional Arabic" pitchFamily="2" charset="-7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22775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DCA8CC1-ABAE-49A7-993C-D789DBE3D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1628800"/>
            <a:ext cx="1296144" cy="792088"/>
          </a:xfrm>
          <a:prstGeom prst="rect">
            <a:avLst/>
          </a:prstGeom>
          <a:solidFill>
            <a:srgbClr val="FFFF00">
              <a:alpha val="42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hlinkClick r:id="" action="ppaction://noaction"/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1547664" y="2492896"/>
            <a:ext cx="3672408" cy="1872208"/>
          </a:xfrm>
          <a:prstGeom prst="wedgeRoundRectCallout">
            <a:avLst>
              <a:gd name="adj1" fmla="val 116112"/>
              <a:gd name="adj2" fmla="val -52942"/>
              <a:gd name="adj3" fmla="val 16667"/>
            </a:avLst>
          </a:prstGeom>
          <a:solidFill>
            <a:srgbClr val="FFFF0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Mempengaruhi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8866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B31A91-10D2-4F3B-8180-99D505F8E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2420888"/>
            <a:ext cx="1296144" cy="720080"/>
          </a:xfrm>
          <a:prstGeom prst="rect">
            <a:avLst/>
          </a:prstGeom>
          <a:solidFill>
            <a:srgbClr val="92D05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1469063" y="3068960"/>
            <a:ext cx="4327073" cy="1872208"/>
          </a:xfrm>
          <a:prstGeom prst="wedgeRoundRectCallout">
            <a:avLst>
              <a:gd name="adj1" fmla="val 92789"/>
              <a:gd name="adj2" fmla="val -48501"/>
              <a:gd name="adj3" fmla="val 16667"/>
            </a:avLst>
          </a:prstGeom>
          <a:solidFill>
            <a:srgbClr val="92D05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Bekerjasama 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7299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7F44C1-5C52-4C70-BC27-64C364BF1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3140968"/>
            <a:ext cx="1296144" cy="288032"/>
          </a:xfrm>
          <a:prstGeom prst="rect">
            <a:avLst/>
          </a:prstGeom>
          <a:solidFill>
            <a:srgbClr val="00B0F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2123728" y="3429000"/>
            <a:ext cx="3672408" cy="1872208"/>
          </a:xfrm>
          <a:prstGeom prst="wedgeRoundRectCallout">
            <a:avLst>
              <a:gd name="adj1" fmla="val 102531"/>
              <a:gd name="adj2" fmla="val -55161"/>
              <a:gd name="adj3" fmla="val 16667"/>
            </a:avLst>
          </a:prstGeom>
          <a:solidFill>
            <a:srgbClr val="00B0F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Melayani</a:t>
            </a:r>
          </a:p>
        </p:txBody>
      </p:sp>
    </p:spTree>
    <p:extLst>
      <p:ext uri="{BB962C8B-B14F-4D97-AF65-F5344CB8AC3E}">
        <p14:creationId xmlns:p14="http://schemas.microsoft.com/office/powerpoint/2010/main" val="15686939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7703EB-93FC-4557-8AAD-19DA3CC73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3501007"/>
            <a:ext cx="1296144" cy="966217"/>
          </a:xfrm>
          <a:prstGeom prst="rect">
            <a:avLst/>
          </a:prstGeom>
          <a:solidFill>
            <a:srgbClr val="00B0F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2195736" y="2314065"/>
            <a:ext cx="3672408" cy="1872208"/>
          </a:xfrm>
          <a:prstGeom prst="wedgeRoundRectCallout">
            <a:avLst>
              <a:gd name="adj1" fmla="val 97249"/>
              <a:gd name="adj2" fmla="val 50660"/>
              <a:gd name="adj3" fmla="val 16667"/>
            </a:avLst>
          </a:prstGeom>
          <a:solidFill>
            <a:srgbClr val="00B0F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Imajinatif</a:t>
            </a:r>
            <a:endParaRPr kumimoji="0" lang="it-IT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39939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80469E6-9381-4FF0-B055-AC9A78B8C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4437112"/>
            <a:ext cx="1296144" cy="360040"/>
          </a:xfrm>
          <a:prstGeom prst="rect">
            <a:avLst/>
          </a:prstGeom>
          <a:solidFill>
            <a:srgbClr val="FFFF00">
              <a:alpha val="42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2015716" y="2348880"/>
            <a:ext cx="3672408" cy="1872208"/>
          </a:xfrm>
          <a:prstGeom prst="wedgeRoundRectCallout">
            <a:avLst>
              <a:gd name="adj1" fmla="val 117317"/>
              <a:gd name="adj2" fmla="val 62957"/>
              <a:gd name="adj3" fmla="val 16667"/>
            </a:avLst>
          </a:prstGeom>
          <a:solidFill>
            <a:srgbClr val="FFFF0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Analitis</a:t>
            </a:r>
          </a:p>
        </p:txBody>
      </p:sp>
    </p:spTree>
    <p:extLst>
      <p:ext uri="{BB962C8B-B14F-4D97-AF65-F5344CB8AC3E}">
        <p14:creationId xmlns:p14="http://schemas.microsoft.com/office/powerpoint/2010/main" val="19327995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1B7840F-0D2D-4109-AAA2-5C9F5AD64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4869160"/>
            <a:ext cx="1296144" cy="432048"/>
          </a:xfrm>
          <a:prstGeom prst="rect">
            <a:avLst/>
          </a:prstGeom>
          <a:solidFill>
            <a:srgbClr val="92D05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1763688" y="2420888"/>
            <a:ext cx="4032448" cy="1872208"/>
          </a:xfrm>
          <a:prstGeom prst="wedgeRoundRectCallout">
            <a:avLst>
              <a:gd name="adj1" fmla="val 109456"/>
              <a:gd name="adj2" fmla="val 79951"/>
              <a:gd name="adj3" fmla="val 16667"/>
            </a:avLst>
          </a:prstGeom>
          <a:solidFill>
            <a:srgbClr val="92D05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Kritis</a:t>
            </a:r>
          </a:p>
        </p:txBody>
      </p:sp>
    </p:spTree>
    <p:extLst>
      <p:ext uri="{BB962C8B-B14F-4D97-AF65-F5344CB8AC3E}">
        <p14:creationId xmlns:p14="http://schemas.microsoft.com/office/powerpoint/2010/main" val="3545200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730604E-ECE4-49B4-911B-E86D647A5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5373216"/>
            <a:ext cx="1296144" cy="792088"/>
          </a:xfrm>
          <a:prstGeom prst="rect">
            <a:avLst/>
          </a:prstGeom>
          <a:solidFill>
            <a:srgbClr val="FFFF00">
              <a:alpha val="42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2123728" y="3212976"/>
            <a:ext cx="3672408" cy="1872208"/>
          </a:xfrm>
          <a:prstGeom prst="wedgeRoundRectCallout">
            <a:avLst>
              <a:gd name="adj1" fmla="val 99890"/>
              <a:gd name="adj2" fmla="val 55840"/>
              <a:gd name="adj3" fmla="val 16667"/>
            </a:avLst>
          </a:prstGeom>
          <a:solidFill>
            <a:srgbClr val="FFFF0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Teknis</a:t>
            </a:r>
          </a:p>
        </p:txBody>
      </p:sp>
    </p:spTree>
    <p:extLst>
      <p:ext uri="{BB962C8B-B14F-4D97-AF65-F5344CB8AC3E}">
        <p14:creationId xmlns:p14="http://schemas.microsoft.com/office/powerpoint/2010/main" val="19151152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9B9C5F2-62C3-4915-B564-CF35CE38E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6165304"/>
            <a:ext cx="1296144" cy="504056"/>
          </a:xfrm>
          <a:prstGeom prst="rect">
            <a:avLst/>
          </a:prstGeom>
          <a:solidFill>
            <a:srgbClr val="92D05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2574690" y="4119558"/>
            <a:ext cx="3672408" cy="1872208"/>
          </a:xfrm>
          <a:prstGeom prst="wedgeRoundRectCallout">
            <a:avLst>
              <a:gd name="adj1" fmla="val 86686"/>
              <a:gd name="adj2" fmla="val 51400"/>
              <a:gd name="adj3" fmla="val 16667"/>
            </a:avLst>
          </a:prstGeom>
          <a:solidFill>
            <a:srgbClr val="92D05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Administratif</a:t>
            </a:r>
          </a:p>
        </p:txBody>
      </p:sp>
    </p:spTree>
    <p:extLst>
      <p:ext uri="{BB962C8B-B14F-4D97-AF65-F5344CB8AC3E}">
        <p14:creationId xmlns:p14="http://schemas.microsoft.com/office/powerpoint/2010/main" val="24108568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23624C-E3A5-4755-8056-23385F91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1556792"/>
            <a:ext cx="1296144" cy="2880320"/>
          </a:xfrm>
          <a:prstGeom prst="rect">
            <a:avLst/>
          </a:prstGeom>
          <a:solidFill>
            <a:srgbClr val="FFFF00">
              <a:alpha val="42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1547664" y="2492896"/>
            <a:ext cx="3672408" cy="1872208"/>
          </a:xfrm>
          <a:prstGeom prst="wedgeRoundRectCallout">
            <a:avLst>
              <a:gd name="adj1" fmla="val 116112"/>
              <a:gd name="adj2" fmla="val -52942"/>
              <a:gd name="adj3" fmla="val 16667"/>
            </a:avLst>
          </a:prstGeom>
          <a:solidFill>
            <a:srgbClr val="FFFF0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Otak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Kanan</a:t>
            </a: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0869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B00E32-8B16-41DC-943F-DC8F3DD6E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4509120"/>
            <a:ext cx="1296144" cy="2160240"/>
          </a:xfrm>
          <a:prstGeom prst="rect">
            <a:avLst/>
          </a:prstGeom>
          <a:solidFill>
            <a:srgbClr val="92D05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2123728" y="3068960"/>
            <a:ext cx="3672408" cy="1872208"/>
          </a:xfrm>
          <a:prstGeom prst="wedgeRoundRectCallout">
            <a:avLst>
              <a:gd name="adj1" fmla="val 97598"/>
              <a:gd name="adj2" fmla="val 80750"/>
              <a:gd name="adj3" fmla="val 16667"/>
            </a:avLst>
          </a:prstGeom>
          <a:solidFill>
            <a:srgbClr val="92D05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Otak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kiri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16211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23624C-E3A5-4755-8056-23385F91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1556792"/>
            <a:ext cx="1296144" cy="936104"/>
          </a:xfrm>
          <a:prstGeom prst="rect">
            <a:avLst/>
          </a:prstGeom>
          <a:solidFill>
            <a:srgbClr val="FFFF00">
              <a:alpha val="42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1547664" y="2492896"/>
            <a:ext cx="3672408" cy="1872208"/>
          </a:xfrm>
          <a:prstGeom prst="wedgeRoundRectCallout">
            <a:avLst>
              <a:gd name="adj1" fmla="val 116112"/>
              <a:gd name="adj2" fmla="val -52942"/>
              <a:gd name="adj3" fmla="val 16667"/>
            </a:avLst>
          </a:prstGeom>
          <a:solidFill>
            <a:srgbClr val="FFFF0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Murid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PEMBERANI</a:t>
            </a: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3299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B00E32-8B16-41DC-943F-DC8F3DD6E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596336" y="2420888"/>
            <a:ext cx="1296144" cy="1008112"/>
          </a:xfrm>
          <a:prstGeom prst="rect">
            <a:avLst/>
          </a:prstGeom>
          <a:solidFill>
            <a:srgbClr val="92D05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2339752" y="2924944"/>
            <a:ext cx="3672408" cy="1872208"/>
          </a:xfrm>
          <a:prstGeom prst="wedgeRoundRectCallout">
            <a:avLst>
              <a:gd name="adj1" fmla="val 92618"/>
              <a:gd name="adj2" fmla="val -48490"/>
              <a:gd name="adj3" fmla="val 16667"/>
            </a:avLst>
          </a:prstGeom>
          <a:solidFill>
            <a:srgbClr val="92D05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Murid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CERIA</a:t>
            </a:r>
          </a:p>
        </p:txBody>
      </p:sp>
    </p:spTree>
    <p:extLst>
      <p:ext uri="{BB962C8B-B14F-4D97-AF65-F5344CB8AC3E}">
        <p14:creationId xmlns:p14="http://schemas.microsoft.com/office/powerpoint/2010/main" val="14590918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479FBA-CC50-4272-B1C9-1FD43ED70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3429000"/>
            <a:ext cx="1296144" cy="1872208"/>
          </a:xfrm>
          <a:prstGeom prst="rect">
            <a:avLst/>
          </a:prstGeom>
          <a:solidFill>
            <a:srgbClr val="00B0F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2123728" y="3429000"/>
            <a:ext cx="3672408" cy="1872208"/>
          </a:xfrm>
          <a:prstGeom prst="wedgeRoundRectCallout">
            <a:avLst>
              <a:gd name="adj1" fmla="val 98317"/>
              <a:gd name="adj2" fmla="val -10829"/>
              <a:gd name="adj3" fmla="val 16667"/>
            </a:avLst>
          </a:prstGeom>
          <a:solidFill>
            <a:srgbClr val="00B0F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Murid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CERDAS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37665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23624C-E3A5-4755-8056-23385F91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5301208"/>
            <a:ext cx="1296144" cy="1368152"/>
          </a:xfrm>
          <a:prstGeom prst="rect">
            <a:avLst/>
          </a:prstGeom>
          <a:solidFill>
            <a:srgbClr val="FFFF00">
              <a:alpha val="42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1547664" y="2492896"/>
            <a:ext cx="3672408" cy="1872208"/>
          </a:xfrm>
          <a:prstGeom prst="wedgeRoundRectCallout">
            <a:avLst>
              <a:gd name="adj1" fmla="val 114197"/>
              <a:gd name="adj2" fmla="val 127393"/>
              <a:gd name="adj3" fmla="val 16667"/>
            </a:avLst>
          </a:prstGeom>
          <a:solidFill>
            <a:srgbClr val="FFFF0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Murid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PELAKSANA</a:t>
            </a: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68112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23624C-E3A5-4755-8056-23385F91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1628800"/>
            <a:ext cx="1296144" cy="792088"/>
          </a:xfrm>
          <a:prstGeom prst="rect">
            <a:avLst/>
          </a:prstGeom>
          <a:solidFill>
            <a:srgbClr val="FFFF00">
              <a:alpha val="42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1547664" y="2492896"/>
            <a:ext cx="3672408" cy="1872208"/>
          </a:xfrm>
          <a:prstGeom prst="wedgeRoundRectCallout">
            <a:avLst>
              <a:gd name="adj1" fmla="val 116112"/>
              <a:gd name="adj2" fmla="val -52942"/>
              <a:gd name="adj3" fmla="val 16667"/>
            </a:avLst>
          </a:prstGeom>
          <a:solidFill>
            <a:srgbClr val="FFFF0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Manajemen, HRD,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kepemimpinan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5811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B00E32-8B16-41DC-943F-DC8F3DD6E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2492896"/>
            <a:ext cx="1296144" cy="648072"/>
          </a:xfrm>
          <a:prstGeom prst="rect">
            <a:avLst/>
          </a:prstGeom>
          <a:solidFill>
            <a:srgbClr val="92D05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2123728" y="3068960"/>
            <a:ext cx="3672408" cy="1872208"/>
          </a:xfrm>
          <a:prstGeom prst="wedgeRoundRectCallout">
            <a:avLst>
              <a:gd name="adj1" fmla="val 99513"/>
              <a:gd name="adj2" fmla="val -49241"/>
              <a:gd name="adj3" fmla="val 16667"/>
            </a:avLst>
          </a:prstGeom>
          <a:solidFill>
            <a:srgbClr val="92D05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Marketing, keguruan, sosiologi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70919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479FBA-CC50-4272-B1C9-1FD43ED70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3140968"/>
            <a:ext cx="1296144" cy="288032"/>
          </a:xfrm>
          <a:prstGeom prst="rect">
            <a:avLst/>
          </a:prstGeom>
          <a:solidFill>
            <a:srgbClr val="00B0F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2123728" y="3429000"/>
            <a:ext cx="3672408" cy="1872208"/>
          </a:xfrm>
          <a:prstGeom prst="wedgeRoundRectCallout">
            <a:avLst>
              <a:gd name="adj1" fmla="val 102531"/>
              <a:gd name="adj2" fmla="val -55161"/>
              <a:gd name="adj3" fmla="val 16667"/>
            </a:avLst>
          </a:prstGeom>
          <a:solidFill>
            <a:srgbClr val="00B0F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Keperawatan, petugas sosial, psikologi, PGTK</a:t>
            </a:r>
          </a:p>
        </p:txBody>
      </p:sp>
    </p:spTree>
    <p:extLst>
      <p:ext uri="{BB962C8B-B14F-4D97-AF65-F5344CB8AC3E}">
        <p14:creationId xmlns:p14="http://schemas.microsoft.com/office/powerpoint/2010/main" val="40778984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ED5167-FAD1-4E27-8BD8-7DD20ED48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3501008"/>
            <a:ext cx="1296144" cy="1008112"/>
          </a:xfrm>
          <a:prstGeom prst="rect">
            <a:avLst/>
          </a:prstGeom>
          <a:solidFill>
            <a:srgbClr val="00B0F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2195736" y="2314065"/>
            <a:ext cx="3672408" cy="1872208"/>
          </a:xfrm>
          <a:prstGeom prst="wedgeRoundRectCallout">
            <a:avLst>
              <a:gd name="adj1" fmla="val 97249"/>
              <a:gd name="adj2" fmla="val 50660"/>
              <a:gd name="adj3" fmla="val 16667"/>
            </a:avLst>
          </a:prstGeom>
          <a:solidFill>
            <a:srgbClr val="00B0F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Seni, design, animasi,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multi Media, IT</a:t>
            </a:r>
          </a:p>
        </p:txBody>
      </p:sp>
    </p:spTree>
    <p:extLst>
      <p:ext uri="{BB962C8B-B14F-4D97-AF65-F5344CB8AC3E}">
        <p14:creationId xmlns:p14="http://schemas.microsoft.com/office/powerpoint/2010/main" val="32963520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00153D-76EA-422C-901B-DD3FC0B90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4437112"/>
            <a:ext cx="1296144" cy="360040"/>
          </a:xfrm>
          <a:prstGeom prst="rect">
            <a:avLst/>
          </a:prstGeom>
          <a:solidFill>
            <a:srgbClr val="FFFF00">
              <a:alpha val="42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2018184" y="3745010"/>
            <a:ext cx="3672408" cy="1872208"/>
          </a:xfrm>
          <a:prstGeom prst="wedgeRoundRectCallout">
            <a:avLst>
              <a:gd name="adj1" fmla="val 103144"/>
              <a:gd name="adj2" fmla="val -3870"/>
              <a:gd name="adj3" fmla="val 16667"/>
            </a:avLst>
          </a:prstGeom>
          <a:solidFill>
            <a:srgbClr val="FFFF0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Matematika, fisika kimia, akuntansi</a:t>
            </a:r>
          </a:p>
        </p:txBody>
      </p:sp>
    </p:spTree>
    <p:extLst>
      <p:ext uri="{BB962C8B-B14F-4D97-AF65-F5344CB8AC3E}">
        <p14:creationId xmlns:p14="http://schemas.microsoft.com/office/powerpoint/2010/main" val="38358835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33FA94-E32C-4C51-A023-A4C9324FD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4869160"/>
            <a:ext cx="1296144" cy="432048"/>
          </a:xfrm>
          <a:prstGeom prst="rect">
            <a:avLst/>
          </a:prstGeom>
          <a:solidFill>
            <a:srgbClr val="92D05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1763688" y="4293096"/>
            <a:ext cx="4032448" cy="1872208"/>
          </a:xfrm>
          <a:prstGeom prst="wedgeRoundRectCallout">
            <a:avLst>
              <a:gd name="adj1" fmla="val 94299"/>
              <a:gd name="adj2" fmla="val -10483"/>
              <a:gd name="adj3" fmla="val 16667"/>
            </a:avLst>
          </a:prstGeom>
          <a:solidFill>
            <a:srgbClr val="92D05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 Auditor, evaluator, kearsipan, sejarah</a:t>
            </a:r>
          </a:p>
        </p:txBody>
      </p:sp>
    </p:spTree>
    <p:extLst>
      <p:ext uri="{BB962C8B-B14F-4D97-AF65-F5344CB8AC3E}">
        <p14:creationId xmlns:p14="http://schemas.microsoft.com/office/powerpoint/2010/main" val="1129509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673284-D077-453E-A1D0-3A4C3DEA5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5373216"/>
            <a:ext cx="1296144" cy="792088"/>
          </a:xfrm>
          <a:prstGeom prst="rect">
            <a:avLst/>
          </a:prstGeom>
          <a:solidFill>
            <a:srgbClr val="FFFF00">
              <a:alpha val="42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2123728" y="3212976"/>
            <a:ext cx="3672408" cy="1872208"/>
          </a:xfrm>
          <a:prstGeom prst="wedgeRoundRectCallout">
            <a:avLst>
              <a:gd name="adj1" fmla="val 99890"/>
              <a:gd name="adj2" fmla="val 55840"/>
              <a:gd name="adj3" fmla="val 16667"/>
            </a:avLst>
          </a:prstGeom>
          <a:solidFill>
            <a:srgbClr val="FFFF0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Teknik mesin, elektro, bangunan</a:t>
            </a:r>
          </a:p>
        </p:txBody>
      </p:sp>
    </p:spTree>
    <p:extLst>
      <p:ext uri="{BB962C8B-B14F-4D97-AF65-F5344CB8AC3E}">
        <p14:creationId xmlns:p14="http://schemas.microsoft.com/office/powerpoint/2010/main" val="38862849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C23AC8-8184-41C0-88E6-0F09AAA7E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6165304"/>
            <a:ext cx="1296144" cy="504056"/>
          </a:xfrm>
          <a:prstGeom prst="rect">
            <a:avLst/>
          </a:prstGeom>
          <a:solidFill>
            <a:srgbClr val="92D05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2574690" y="4119558"/>
            <a:ext cx="3672408" cy="1872208"/>
          </a:xfrm>
          <a:prstGeom prst="wedgeRoundRectCallout">
            <a:avLst>
              <a:gd name="adj1" fmla="val 87464"/>
              <a:gd name="adj2" fmla="val 68189"/>
              <a:gd name="adj3" fmla="val 16667"/>
            </a:avLst>
          </a:prstGeom>
          <a:solidFill>
            <a:srgbClr val="92D05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Administrasi,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bahasa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27000">
                  <a:prstClr val="black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0937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23624C-E3A5-4755-8056-23385F91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1556792"/>
            <a:ext cx="1296144" cy="2880320"/>
          </a:xfrm>
          <a:prstGeom prst="rect">
            <a:avLst/>
          </a:prstGeom>
          <a:solidFill>
            <a:srgbClr val="FFFF00">
              <a:alpha val="42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1547664" y="2492896"/>
            <a:ext cx="3672408" cy="1872208"/>
          </a:xfrm>
          <a:prstGeom prst="wedgeRoundRectCallout">
            <a:avLst>
              <a:gd name="adj1" fmla="val 116112"/>
              <a:gd name="adj2" fmla="val -52942"/>
              <a:gd name="adj3" fmla="val 16667"/>
            </a:avLst>
          </a:prstGeom>
          <a:solidFill>
            <a:srgbClr val="FFFF0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Soft Skill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FF3456-C9E8-4C15-B7AE-435F113797E7}"/>
              </a:ext>
            </a:extLst>
          </p:cNvPr>
          <p:cNvSpPr txBox="1"/>
          <p:nvPr/>
        </p:nvSpPr>
        <p:spPr>
          <a:xfrm>
            <a:off x="467544" y="4870901"/>
            <a:ext cx="81369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srgbClr val="002060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(tidak dapat digantikan oleh mesin atau komputer)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74398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B00E32-8B16-41DC-943F-DC8F3DD6E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8928992" cy="610462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5B5D65-9C76-4CD7-A81C-BC762D8F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4001"/>
            <a:ext cx="7886700" cy="543594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/>
              <a:t>Lembar pemetaan bakat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64A9B-5C05-4489-80D1-A26D435CC0F9}"/>
              </a:ext>
            </a:extLst>
          </p:cNvPr>
          <p:cNvSpPr/>
          <p:nvPr/>
        </p:nvSpPr>
        <p:spPr>
          <a:xfrm>
            <a:off x="7668344" y="4509120"/>
            <a:ext cx="1296144" cy="2160240"/>
          </a:xfrm>
          <a:prstGeom prst="rect">
            <a:avLst/>
          </a:prstGeom>
          <a:solidFill>
            <a:srgbClr val="92D050">
              <a:alpha val="48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BC9DEFB-40E2-44C7-AB44-FFB4EA6B5917}"/>
              </a:ext>
            </a:extLst>
          </p:cNvPr>
          <p:cNvSpPr/>
          <p:nvPr/>
        </p:nvSpPr>
        <p:spPr>
          <a:xfrm>
            <a:off x="2123728" y="3068960"/>
            <a:ext cx="3672408" cy="1872208"/>
          </a:xfrm>
          <a:prstGeom prst="wedgeRoundRectCallout">
            <a:avLst>
              <a:gd name="adj1" fmla="val 97598"/>
              <a:gd name="adj2" fmla="val 80750"/>
              <a:gd name="adj3" fmla="val 16667"/>
            </a:avLst>
          </a:prstGeom>
          <a:solidFill>
            <a:srgbClr val="92D050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prstClr val="black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Hard Skill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D0E341-F4C1-4049-9007-717969DD29D8}"/>
              </a:ext>
            </a:extLst>
          </p:cNvPr>
          <p:cNvSpPr txBox="1"/>
          <p:nvPr/>
        </p:nvSpPr>
        <p:spPr>
          <a:xfrm>
            <a:off x="908720" y="2457061"/>
            <a:ext cx="74455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27000">
                    <a:srgbClr val="C00000"/>
                  </a:glow>
                </a:effectLst>
                <a:uLnTx/>
                <a:uFillTx/>
                <a:latin typeface="Calibri"/>
                <a:ea typeface="+mn-ea"/>
                <a:cs typeface="+mn-cs"/>
              </a:rPr>
              <a:t>(dapat digantikan oleh mesin atau komputer)</a:t>
            </a:r>
            <a:endParaRPr kumimoji="0" lang="en-ID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glow rad="127000">
                  <a:srgbClr val="C00000"/>
                </a:glo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88245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217E-22EC-4A58-B372-B7F8110D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900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Setiap</a:t>
            </a:r>
            <a:r>
              <a:rPr lang="en-US" dirty="0"/>
              <a:t> orang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kekuatan</a:t>
            </a:r>
            <a:r>
              <a:rPr lang="en-US" dirty="0"/>
              <a:t>, </a:t>
            </a:r>
            <a:r>
              <a:rPr lang="en-US" dirty="0" err="1"/>
              <a:t>sekaligus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kelemahan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188997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>
            <a:spLocks noChangeArrowheads="1"/>
          </p:cNvSpPr>
          <p:nvPr/>
        </p:nvSpPr>
        <p:spPr bwMode="auto">
          <a:xfrm>
            <a:off x="533400" y="1287836"/>
            <a:ext cx="3352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ANALITIS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MELAYANI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TEKNIS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7"/>
          <p:cNvSpPr txBox="1">
            <a:spLocks noChangeArrowheads="1"/>
          </p:cNvSpPr>
          <p:nvPr/>
        </p:nvSpPr>
        <p:spPr bwMode="auto">
          <a:xfrm>
            <a:off x="5269176" y="539750"/>
            <a:ext cx="37338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6. KRITIS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7. ADMINISTRATIF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8. MEMPENGARUHI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356" name="Rounded Rectangle 4"/>
          <p:cNvSpPr>
            <a:spLocks/>
          </p:cNvSpPr>
          <p:nvPr/>
        </p:nvSpPr>
        <p:spPr bwMode="auto">
          <a:xfrm>
            <a:off x="762000" y="381000"/>
            <a:ext cx="2971800" cy="6096000"/>
          </a:xfrm>
          <a:custGeom>
            <a:avLst/>
            <a:gdLst>
              <a:gd name="T0" fmla="*/ 1485900 w 2971800"/>
              <a:gd name="T1" fmla="*/ 0 h 6096003"/>
              <a:gd name="T2" fmla="*/ 2971800 w 2971800"/>
              <a:gd name="T3" fmla="*/ 3048002 h 6096003"/>
              <a:gd name="T4" fmla="*/ 1485900 w 2971800"/>
              <a:gd name="T5" fmla="*/ 6096000 h 6096003"/>
              <a:gd name="T6" fmla="*/ 0 w 2971800"/>
              <a:gd name="T7" fmla="*/ 3048002 h 6096003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145073 w 2971800"/>
              <a:gd name="T13" fmla="*/ 145073 h 6096003"/>
              <a:gd name="T14" fmla="*/ 2826726 w 2971800"/>
              <a:gd name="T15" fmla="*/ 5950931 h 609600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71800" h="6096003">
                <a:moveTo>
                  <a:pt x="495300" y="0"/>
                </a:moveTo>
                <a:lnTo>
                  <a:pt x="495299" y="0"/>
                </a:lnTo>
                <a:cubicBezTo>
                  <a:pt x="495299" y="0"/>
                  <a:pt x="495299" y="0"/>
                  <a:pt x="495299" y="0"/>
                </a:cubicBezTo>
                <a:cubicBezTo>
                  <a:pt x="221752" y="0"/>
                  <a:pt x="-1" y="221753"/>
                  <a:pt x="-1" y="495300"/>
                </a:cubicBezTo>
                <a:lnTo>
                  <a:pt x="0" y="5600703"/>
                </a:lnTo>
                <a:cubicBezTo>
                  <a:pt x="0" y="5600703"/>
                  <a:pt x="0" y="5600703"/>
                  <a:pt x="0" y="5600703"/>
                </a:cubicBezTo>
                <a:cubicBezTo>
                  <a:pt x="0" y="5874250"/>
                  <a:pt x="221753" y="6096004"/>
                  <a:pt x="495300" y="6096004"/>
                </a:cubicBezTo>
                <a:lnTo>
                  <a:pt x="2476500" y="6096003"/>
                </a:lnTo>
                <a:cubicBezTo>
                  <a:pt x="2750046" y="6096002"/>
                  <a:pt x="2971800" y="5874249"/>
                  <a:pt x="2971800" y="5600703"/>
                </a:cubicBezTo>
                <a:lnTo>
                  <a:pt x="2971800" y="495300"/>
                </a:lnTo>
                <a:cubicBezTo>
                  <a:pt x="2971800" y="221753"/>
                  <a:pt x="2750046" y="0"/>
                  <a:pt x="2476500" y="0"/>
                </a:cubicBezTo>
                <a:close/>
              </a:path>
            </a:pathLst>
          </a:custGeom>
          <a:noFill/>
          <a:ln w="76196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anchor="ctr" anchorCtr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357" name="Rounded Rectangle 5"/>
          <p:cNvSpPr>
            <a:spLocks/>
          </p:cNvSpPr>
          <p:nvPr/>
        </p:nvSpPr>
        <p:spPr bwMode="auto">
          <a:xfrm>
            <a:off x="5562600" y="381000"/>
            <a:ext cx="2971800" cy="6019800"/>
          </a:xfrm>
          <a:custGeom>
            <a:avLst/>
            <a:gdLst>
              <a:gd name="T0" fmla="*/ 1485900 w 2971800"/>
              <a:gd name="T1" fmla="*/ 0 h 6019796"/>
              <a:gd name="T2" fmla="*/ 2971800 w 2971800"/>
              <a:gd name="T3" fmla="*/ 3009900 h 6019796"/>
              <a:gd name="T4" fmla="*/ 1485900 w 2971800"/>
              <a:gd name="T5" fmla="*/ 6019800 h 6019796"/>
              <a:gd name="T6" fmla="*/ 0 w 2971800"/>
              <a:gd name="T7" fmla="*/ 3009900 h 6019796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145073 w 2971800"/>
              <a:gd name="T13" fmla="*/ 145073 h 6019796"/>
              <a:gd name="T14" fmla="*/ 2826726 w 2971800"/>
              <a:gd name="T15" fmla="*/ 5874720 h 60197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71800" h="6019796">
                <a:moveTo>
                  <a:pt x="495300" y="0"/>
                </a:moveTo>
                <a:lnTo>
                  <a:pt x="495299" y="0"/>
                </a:lnTo>
                <a:cubicBezTo>
                  <a:pt x="495299" y="0"/>
                  <a:pt x="495299" y="0"/>
                  <a:pt x="495299" y="0"/>
                </a:cubicBezTo>
                <a:cubicBezTo>
                  <a:pt x="221752" y="0"/>
                  <a:pt x="-1" y="221753"/>
                  <a:pt x="-1" y="495300"/>
                </a:cubicBezTo>
                <a:lnTo>
                  <a:pt x="0" y="5524496"/>
                </a:lnTo>
                <a:cubicBezTo>
                  <a:pt x="0" y="5524496"/>
                  <a:pt x="0" y="5524496"/>
                  <a:pt x="0" y="5524496"/>
                </a:cubicBezTo>
                <a:cubicBezTo>
                  <a:pt x="0" y="5798043"/>
                  <a:pt x="221753" y="6019797"/>
                  <a:pt x="495300" y="6019797"/>
                </a:cubicBezTo>
                <a:lnTo>
                  <a:pt x="2476500" y="6019796"/>
                </a:lnTo>
                <a:cubicBezTo>
                  <a:pt x="2750046" y="6019795"/>
                  <a:pt x="2971800" y="5798042"/>
                  <a:pt x="2971800" y="5524496"/>
                </a:cubicBezTo>
                <a:lnTo>
                  <a:pt x="2971800" y="495300"/>
                </a:lnTo>
                <a:cubicBezTo>
                  <a:pt x="2971800" y="221753"/>
                  <a:pt x="2750046" y="0"/>
                  <a:pt x="2476500" y="0"/>
                </a:cubicBezTo>
                <a:close/>
              </a:path>
            </a:pathLst>
          </a:custGeom>
          <a:noFill/>
          <a:ln w="76196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anchor="ctr" anchorCtr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3"/>
          <p:cNvSpPr>
            <a:spLocks noChangeArrowheads="1"/>
          </p:cNvSpPr>
          <p:nvPr/>
        </p:nvSpPr>
        <p:spPr bwMode="auto">
          <a:xfrm>
            <a:off x="714348" y="357166"/>
            <a:ext cx="3000396" cy="2928958"/>
          </a:xfrm>
          <a:prstGeom prst="ellipse">
            <a:avLst/>
          </a:prstGeom>
          <a:noFill/>
          <a:ln w="9525">
            <a:solidFill>
              <a:srgbClr val="0066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5439706" y="3214686"/>
            <a:ext cx="3167082" cy="3214694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5" descr="AX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4207430">
            <a:off x="2702610" y="2316809"/>
            <a:ext cx="2762250" cy="297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AutoShape 4"/>
          <p:cNvSpPr>
            <a:spLocks noChangeArrowheads="1"/>
          </p:cNvSpPr>
          <p:nvPr/>
        </p:nvSpPr>
        <p:spPr bwMode="auto">
          <a:xfrm>
            <a:off x="3786182" y="357166"/>
            <a:ext cx="1981200" cy="685800"/>
          </a:xfrm>
          <a:prstGeom prst="wedgeRoundRectCallout">
            <a:avLst>
              <a:gd name="adj1" fmla="val -50560"/>
              <a:gd name="adj2" fmla="val 94213"/>
              <a:gd name="adj3" fmla="val 16667"/>
            </a:avLst>
          </a:prstGeom>
          <a:solidFill>
            <a:srgbClr val="FFFFCC"/>
          </a:soli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KEKUATAN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6500826" y="1857364"/>
            <a:ext cx="1981200" cy="685800"/>
          </a:xfrm>
          <a:prstGeom prst="wedgeRoundRectCallout">
            <a:avLst>
              <a:gd name="adj1" fmla="val -20634"/>
              <a:gd name="adj2" fmla="val 133102"/>
              <a:gd name="adj3" fmla="val 16667"/>
            </a:avLst>
          </a:prstGeom>
          <a:solidFill>
            <a:srgbClr val="FFFFCC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KELEMAHAN</a:t>
            </a:r>
          </a:p>
        </p:txBody>
      </p:sp>
      <p:sp>
        <p:nvSpPr>
          <p:cNvPr id="13" name="AutoShape 4"/>
          <p:cNvSpPr>
            <a:spLocks noChangeArrowheads="1"/>
          </p:cNvSpPr>
          <p:nvPr/>
        </p:nvSpPr>
        <p:spPr bwMode="auto">
          <a:xfrm>
            <a:off x="1714480" y="3714752"/>
            <a:ext cx="1981200" cy="685800"/>
          </a:xfrm>
          <a:prstGeom prst="wedgeRoundRectCallout">
            <a:avLst>
              <a:gd name="adj1" fmla="val 56304"/>
              <a:gd name="adj2" fmla="val -157033"/>
              <a:gd name="adj3" fmla="val 16667"/>
            </a:avLst>
          </a:prstGeom>
          <a:solidFill>
            <a:srgbClr val="FFFFCC"/>
          </a:soli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SISI TAJAM</a:t>
            </a:r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3286116" y="5572140"/>
            <a:ext cx="2357454" cy="685800"/>
          </a:xfrm>
          <a:prstGeom prst="wedgeRoundRectCallout">
            <a:avLst>
              <a:gd name="adj1" fmla="val 29617"/>
              <a:gd name="adj2" fmla="val -296593"/>
              <a:gd name="adj3" fmla="val 16667"/>
            </a:avLst>
          </a:prstGeom>
          <a:solidFill>
            <a:srgbClr val="FFFFCC"/>
          </a:soli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SISI TUMPUL</a:t>
            </a:r>
          </a:p>
        </p:txBody>
      </p:sp>
    </p:spTree>
    <p:extLst>
      <p:ext uri="{BB962C8B-B14F-4D97-AF65-F5344CB8AC3E}">
        <p14:creationId xmlns:p14="http://schemas.microsoft.com/office/powerpoint/2010/main" val="24895640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217E-22EC-4A58-B372-B7F8110D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900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id-ID" dirty="0"/>
              <a:t>Bagaimana menyikapi bakat yang dimiliki anak?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876671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AX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5400000">
            <a:off x="2097727" y="1616993"/>
            <a:ext cx="4384328" cy="4722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 rot="18565066">
            <a:off x="1799962" y="3116587"/>
            <a:ext cx="3770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FOKUS PADA KEKUATAN</a:t>
            </a:r>
          </a:p>
        </p:txBody>
      </p:sp>
      <p:sp>
        <p:nvSpPr>
          <p:cNvPr id="5" name="TextBox 4"/>
          <p:cNvSpPr txBox="1"/>
          <p:nvPr/>
        </p:nvSpPr>
        <p:spPr>
          <a:xfrm rot="18529295">
            <a:off x="4829317" y="3716481"/>
            <a:ext cx="4357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SIASATI KELEMAHAN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48" y="285728"/>
            <a:ext cx="84296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FOKUS PADA KEKUATAN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mengasah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potensi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SIASATI KELEMAHAN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bekerja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sama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dengan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orang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lain</a:t>
            </a:r>
          </a:p>
        </p:txBody>
      </p:sp>
    </p:spTree>
    <p:extLst>
      <p:ext uri="{BB962C8B-B14F-4D97-AF65-F5344CB8AC3E}">
        <p14:creationId xmlns:p14="http://schemas.microsoft.com/office/powerpoint/2010/main" val="122202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59259E-6 L 0.11285 -0.1650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00" y="-83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3512</TotalTime>
  <Words>1540</Words>
  <Application>Microsoft Office PowerPoint</Application>
  <PresentationFormat>On-screen Show (4:3)</PresentationFormat>
  <Paragraphs>432</Paragraphs>
  <Slides>68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68</vt:i4>
      </vt:variant>
    </vt:vector>
  </HeadingPairs>
  <TitlesOfParts>
    <vt:vector size="93" baseType="lpstr">
      <vt:lpstr>Adobe Caslon Pro</vt:lpstr>
      <vt:lpstr>Arial</vt:lpstr>
      <vt:lpstr>Arial Narrow</vt:lpstr>
      <vt:lpstr>Arial Rounded MT Bold</vt:lpstr>
      <vt:lpstr>Arial Unicode MS</vt:lpstr>
      <vt:lpstr>Arno Pro Caption</vt:lpstr>
      <vt:lpstr>Bauhaus 93</vt:lpstr>
      <vt:lpstr>Bernard MT Condensed</vt:lpstr>
      <vt:lpstr>Bradley Hand ITC</vt:lpstr>
      <vt:lpstr>Calibri</vt:lpstr>
      <vt:lpstr>Calibri Light</vt:lpstr>
      <vt:lpstr>Candara</vt:lpstr>
      <vt:lpstr>Comic Sans MS</vt:lpstr>
      <vt:lpstr>Courier New</vt:lpstr>
      <vt:lpstr>Monotype Corsiva</vt:lpstr>
      <vt:lpstr>Stencil</vt:lpstr>
      <vt:lpstr>Swis721 Cn BT</vt:lpstr>
      <vt:lpstr>Tahoma</vt:lpstr>
      <vt:lpstr>Traditional Arabic</vt:lpstr>
      <vt:lpstr>Wingdings</vt:lpstr>
      <vt:lpstr>Office Theme</vt:lpstr>
      <vt:lpstr>1_Office Theme</vt:lpstr>
      <vt:lpstr>2_Office Theme</vt:lpstr>
      <vt:lpstr>4_Office Theme</vt:lpstr>
      <vt:lpstr>7_Office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TANDA PUBER (BALIGH / BALIGHAH)</vt:lpstr>
      <vt:lpstr>PowerPoint Presentation</vt:lpstr>
      <vt:lpstr>PowerPoint Presentation</vt:lpstr>
      <vt:lpstr>PowerPoint Presentation</vt:lpstr>
      <vt:lpstr>PowerPoint Presentation</vt:lpstr>
      <vt:lpstr>REMAJA</vt:lpstr>
      <vt:lpstr>PowerPoint Presentation</vt:lpstr>
      <vt:lpstr>REMAJA</vt:lpstr>
      <vt:lpstr>PowerPoint Presentation</vt:lpstr>
      <vt:lpstr>Solusi bagi remaja </vt:lpstr>
      <vt:lpstr>Ingin jadi apa kamu?</vt:lpstr>
      <vt:lpstr>PowerPoint Presentation</vt:lpstr>
      <vt:lpstr>PowerPoint Presentation</vt:lpstr>
      <vt:lpstr>Apa itu bakat?</vt:lpstr>
      <vt:lpstr>PowerPoint Presentation</vt:lpstr>
      <vt:lpstr>Bagaimana cara mengetahui bahwa sebuah aktifitas adalah bakat?</vt:lpstr>
      <vt:lpstr>PowerPoint Presentation</vt:lpstr>
      <vt:lpstr>Bagaimana cara menggali bakat?</vt:lpstr>
      <vt:lpstr>PowerPoint Presentation</vt:lpstr>
      <vt:lpstr>PowerPoint Presentation</vt:lpstr>
      <vt:lpstr>Bakat itu apa saja?</vt:lpstr>
      <vt:lpstr>PowerPoint Presentation</vt:lpstr>
      <vt:lpstr>PowerPoint Presentation</vt:lpstr>
      <vt:lpstr>Bagaimana cara pemetaan bakat?</vt:lpstr>
      <vt:lpstr>PowerPoint Presentation</vt:lpstr>
      <vt:lpstr>PowerPoint Presentation</vt:lpstr>
      <vt:lpstr>PowerPoint Presentation</vt:lpstr>
      <vt:lpstr>PowerPoint Presentation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Lembar pemetaan bakat</vt:lpstr>
      <vt:lpstr>Setiap orang memiliki kekuatan, sekaligus memiliki kelemahan</vt:lpstr>
      <vt:lpstr>PowerPoint Presentation</vt:lpstr>
      <vt:lpstr>Bagaimana menyikapi bakat yang dimiliki anak?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Administrator</cp:lastModifiedBy>
  <cp:revision>272</cp:revision>
  <dcterms:created xsi:type="dcterms:W3CDTF">2018-12-18T14:32:21Z</dcterms:created>
  <dcterms:modified xsi:type="dcterms:W3CDTF">2022-03-03T02:24:15Z</dcterms:modified>
</cp:coreProperties>
</file>